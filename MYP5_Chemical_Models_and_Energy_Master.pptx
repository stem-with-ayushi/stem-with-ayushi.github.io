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a:t>
            </a:r>
          </a:p>
          <a:p>
            <a:r>
              <a:t>• Purpose: Welcome students to Sub-Unit 1. Set the intellectual tone for MYP 5 (Grade 10).</a:t>
            </a:r>
          </a:p>
          <a:p>
            <a:r>
              <a:t>• Key Message: Emphasize that chemistry explains energy transformations in biology (digestion) and environment (acid rain).</a:t>
            </a:r>
          </a:p>
          <a:p>
            <a:r>
              <a:t>• Timing: 3-5 minutes introductory framing.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2):</a:t>
            </a:r>
          </a:p>
          <a:p>
            <a:r>
              <a:t>• Walk students through the 6 standards. Highlight how these standards progress logically from valence electrons to thermochemical calorimetry.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3):</a:t>
            </a:r>
          </a:p>
          <a:p>
            <a:r>
              <a:t>• Statement of Inquiry: Ask students to identify how digestive antacids and industrial limestone scrubbers connect to 'Energy, Models,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4):</a:t>
            </a:r>
          </a:p>
          <a:p>
            <a:r>
              <a:t>• Pre-Lab Instructions: All 3 buttons at the bottom are clickable and launch the virtual labs directly in Chrome.</a:t>
            </a:r>
          </a:p>
          <a:p>
            <a:r>
              <a:t>• Ensure students test PhET Acid-Base Solutions before Lesson 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5):</a:t>
            </a:r>
          </a:p>
          <a:p>
            <a:r>
              <a:t>• Protocol: Give students 2 minutes of silent writing for 'SEE'. Cold-call 3 students. Ensure they do NOT explain yet.</a:t>
            </a:r>
          </a:p>
          <a:p>
            <a:r>
              <a:t>• Move to 'THINK' (3 mins pair talk): push toward ionic equations.</a:t>
            </a:r>
          </a:p>
          <a:p>
            <a:r>
              <a:t>• Move to 'WONDER': collect questions for Criterion 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6):</a:t>
            </a:r>
          </a:p>
          <a:p>
            <a:r>
              <a:t>• Direct Instruction: Point to the embedded diagram showing the two opposing gradient arrows.</a:t>
            </a:r>
          </a:p>
          <a:p>
            <a:r>
              <a:t>• Ask: 'Why does metallic character increase towards the bottom-left (Fr/Cs) while non-metallic character increases towards the top-right (F)?'</a:t>
            </a:r>
          </a:p>
          <a:p>
            <a:r>
              <a:t>• Emphasize that ionization energy measures the energy needed to REMOVE an electron.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7):</a:t>
            </a:r>
          </a:p>
          <a:p>
            <a:r>
              <a:t>• Jigsaw Logistics: 10 mins expert study, 15 mins peer teaching. Call on a student from Group 4 to explain Group 1's trend!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8):</a:t>
            </a:r>
          </a:p>
          <a:p>
            <a:r>
              <a:t>• Hinge Protocol: 30s think time, 3-2-1 show fingers. If &gt;80% show '2', proceed; if not, re-teach oxidation/reduction half-equations.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9):</a:t>
            </a:r>
          </a:p>
          <a:p>
            <a:r>
              <a:t>• Visual Bridge: The bottom diagram visually outlines the 3 required qualitative gas tests (H2 pop test, CO2 limewater cloudiness, NH3 damp red litmus).</a:t>
            </a:r>
          </a:p>
          <a:p>
            <a:r>
              <a:t>• Have students sketch these 3 gas tests in their practical books.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10):</a:t>
            </a:r>
          </a:p>
          <a:p>
            <a:r>
              <a:t>• Live Microscale Demo: Heat 0.5g of ammonium chloride with 1 mL of 1M NaOH. Hold damp red litmus over it.</a:t>
            </a:r>
          </a:p>
          <a:p>
            <a:r>
              <a:t>• Emphasize why dry litmus will fail.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11):</a:t>
            </a:r>
          </a:p>
          <a:p>
            <a:r>
              <a:t>• Safety: Goggles mandatory. Ensure water baths for Station C and good ventilation for Station 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12):</a:t>
            </a:r>
          </a:p>
          <a:p>
            <a:r>
              <a:t>• Visual Inspection: Point out the real-world benchmarks on the embedded pH diagram (battery acid to drain cleaner).</a:t>
            </a:r>
          </a:p>
          <a:p>
            <a:r>
              <a:t>• Ask: 'Why is blood pH (7.4) slightly alkaline, and why does a drop to 7.2 cause medical acidosis?'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13):</a:t>
            </a:r>
          </a:p>
          <a:p>
            <a:r>
              <a:t>• Apparatus Diagram: Walk through each labeled part of the titration rig (burette, stopcock, conical flask, white tile).</a:t>
            </a:r>
          </a:p>
          <a:p>
            <a:r>
              <a:t>• Direct students to click the ChemCollective virtual lab button for interactive pre-lab homework.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14):</a:t>
            </a:r>
          </a:p>
          <a:p>
            <a:r>
              <a:t>• 4-Step Protocol: Have students copy this as an algorithm into their revision notes. Common error is forgetting to divide volume by 1000.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15):</a:t>
            </a:r>
          </a:p>
          <a:p>
            <a:r>
              <a:t>• Live Demo: Zero a balance with HCl and marble chips in an un-tipped test tube inside. Tip flask to mix, watch mass decrease live as CO2 escapes.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16):</a:t>
            </a:r>
          </a:p>
          <a:p>
            <a:r>
              <a:t>• Diagram Analysis: Point out the activation energy hump Ea (bond breaking) and the downward arrow showing net exothermic energy release (Delta H = -57.1 kJ/mol).</a:t>
            </a:r>
          </a:p>
          <a:p>
            <a:r>
              <a:t>• Students can launch the PhET simulation to visualize kinetic energy transfer.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17):</a:t>
            </a:r>
          </a:p>
          <a:p>
            <a:r>
              <a:t>• Criterion B Task Brief: Supervised planning conditions. Differentiation: provide scaffolded planning matrices for Levels 1-4.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18):</a:t>
            </a:r>
          </a:p>
          <a:p>
            <a:r>
              <a:t>• Highlight how the embedded calorimeter diagram matches the required labeled apparatus diagram for Criterion B Strand iv.</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19):</a:t>
            </a:r>
          </a:p>
          <a:p>
            <a:r>
              <a:t>• Anomaly Management: Teach students that outliers must be explicitly flagged and justified, not quietly deleted.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20):</a:t>
            </a:r>
          </a:p>
          <a:p>
            <a:r>
              <a:t>• Criterion C Evaluation: Green light improvements must directly address Red light systematic errors.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21):</a:t>
            </a:r>
          </a:p>
          <a:p>
            <a:r>
              <a:t>• Highly diagnostic question: proves whether students understand the formula Delta T = q / (m*c).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22):</a:t>
            </a:r>
          </a:p>
          <a:p>
            <a:r>
              <a:t>• End-of-unit Butcher Paper synthesis: 15 minutes paired mapping.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23):</a:t>
            </a:r>
          </a:p>
          <a:p>
            <a:r>
              <a:t>• Exit slip: Collect slips to see if small-group intervention is needed on DS.2 or DS.5.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FACILITATION NOTES (SLIDE 24):</a:t>
            </a:r>
          </a:p>
          <a:p>
            <a:r>
              <a:t>• Vocabulary Flashcard review before summative assessment.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het.colorado.edu/en/simulations/acid-base-solutions" TargetMode="External"/><Relationship Id="rId3" Type="http://schemas.openxmlformats.org/officeDocument/2006/relationships/hyperlink" Target="https://phet.colorado.edu/en/simulations/energy-forms-and-changes" TargetMode="External"/><Relationship Id="rId4" Type="http://schemas.openxmlformats.org/officeDocument/2006/relationships/hyperlink" Target="https://chemcollective.org/activities/vlab/1" TargetMode="Externa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phet.colorado.edu/en/simulations/build-an-atom"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chemcollective.org/activities/vlab/1"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phet.colorado.edu/en/simulations/energy-forms-and-changes"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365760"/>
          </a:xfrm>
          <a:prstGeom prst="rect">
            <a:avLst/>
          </a:prstGeom>
          <a:noFill/>
        </p:spPr>
        <p:txBody>
          <a:bodyPr wrap="none">
            <a:spAutoFit/>
          </a:bodyPr>
          <a:lstStyle/>
          <a:p>
            <a:pPr>
              <a:defRPr sz="1300" b="1">
                <a:solidFill>
                  <a:srgbClr val="60A5FA"/>
                </a:solidFill>
              </a:defRPr>
            </a:pPr>
            <a:r>
              <a:t>GRADE 10 · IB MYP YEAR 5 INTEGRATED SCIENCES · UNIT 1</a:t>
            </a:r>
          </a:p>
        </p:txBody>
      </p:sp>
      <p:sp>
        <p:nvSpPr>
          <p:cNvPr id="4" name="TextBox 3"/>
          <p:cNvSpPr txBox="1"/>
          <p:nvPr/>
        </p:nvSpPr>
        <p:spPr>
          <a:xfrm>
            <a:off x="914400" y="1554480"/>
            <a:ext cx="10058400" cy="1463040"/>
          </a:xfrm>
          <a:prstGeom prst="rect">
            <a:avLst/>
          </a:prstGeom>
          <a:noFill/>
        </p:spPr>
        <p:txBody>
          <a:bodyPr wrap="none">
            <a:spAutoFit/>
          </a:bodyPr>
          <a:lstStyle/>
          <a:p>
            <a:pPr>
              <a:defRPr sz="3600" b="1">
                <a:solidFill>
                  <a:srgbClr val="FFFFFF"/>
                </a:solidFill>
              </a:defRPr>
            </a:pPr>
            <a:r>
              <a:t>Chemical Models &amp; Energy in Reactions</a:t>
            </a:r>
          </a:p>
        </p:txBody>
      </p:sp>
      <p:sp>
        <p:nvSpPr>
          <p:cNvPr id="5" name="TextBox 4"/>
          <p:cNvSpPr txBox="1"/>
          <p:nvPr/>
        </p:nvSpPr>
        <p:spPr>
          <a:xfrm>
            <a:off x="914400" y="3017520"/>
            <a:ext cx="10058400" cy="914400"/>
          </a:xfrm>
          <a:prstGeom prst="rect">
            <a:avLst/>
          </a:prstGeom>
          <a:noFill/>
        </p:spPr>
        <p:txBody>
          <a:bodyPr wrap="none">
            <a:spAutoFit/>
          </a:bodyPr>
          <a:lstStyle/>
          <a:p>
            <a:pPr>
              <a:defRPr sz="1600">
                <a:solidFill>
                  <a:srgbClr val="FBBF24"/>
                </a:solidFill>
              </a:defRPr>
            </a:pPr>
            <a:r>
              <a:t>Sub-unit 1 · Periodic Table, Electron States &amp; Bond Energy as the Foundation for Biological &amp; Environmental Chemistry</a:t>
            </a:r>
          </a:p>
        </p:txBody>
      </p:sp>
      <p:sp>
        <p:nvSpPr>
          <p:cNvPr id="6" name="Rounded Rectangle 5"/>
          <p:cNvSpPr/>
          <p:nvPr/>
        </p:nvSpPr>
        <p:spPr>
          <a:xfrm>
            <a:off x="914400" y="4114800"/>
            <a:ext cx="7772400" cy="68580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 Summative Assessment Alignment: Criterion B (Inquiring &amp; Designing) &amp; Criterion C (Processing &amp; Evaluating)</a:t>
            </a:r>
          </a:p>
        </p:txBody>
      </p:sp>
      <p:sp>
        <p:nvSpPr>
          <p:cNvPr id="7" name="TextBox 6"/>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UNIT OVERVIEW</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Curriculum Scope &amp; Target Learning Outcomes</a:t>
            </a:r>
          </a:p>
        </p:txBody>
      </p:sp>
      <p:sp>
        <p:nvSpPr>
          <p:cNvPr id="4" name="Rounded Rectangle 3"/>
          <p:cNvSpPr/>
          <p:nvPr/>
        </p:nvSpPr>
        <p:spPr>
          <a:xfrm>
            <a:off x="548640" y="1645920"/>
            <a:ext cx="5303520" cy="4480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55648"/>
            <a:ext cx="4937760" cy="4261104"/>
          </a:xfrm>
          <a:prstGeom prst="rect">
            <a:avLst/>
          </a:prstGeom>
          <a:noFill/>
        </p:spPr>
        <p:txBody>
          <a:bodyPr wrap="square">
            <a:spAutoFit/>
          </a:bodyPr>
          <a:lstStyle/>
          <a:p>
            <a:pPr>
              <a:spcAft>
                <a:spcPts val="400"/>
              </a:spcAft>
              <a:defRPr sz="1300" b="1">
                <a:solidFill>
                  <a:srgbClr val="0F172A"/>
                </a:solidFill>
              </a:defRPr>
            </a:pPr>
            <a:r>
              <a:t>Target Academic Standards (OIS I.SCI)</a:t>
            </a:r>
          </a:p>
          <a:p>
            <a:pPr>
              <a:spcAft>
                <a:spcPts val="300"/>
              </a:spcAft>
              <a:defRPr sz="1000">
                <a:solidFill>
                  <a:srgbClr val="0F172A"/>
                </a:solidFill>
              </a:defRPr>
            </a:pPr>
            <a:r>
              <a:t>📌 10.ABC-DS.1: Outermost Electron States &amp; Trends</a:t>
            </a:r>
          </a:p>
          <a:p>
            <a:pPr>
              <a:spcAft>
                <a:spcPts val="300"/>
              </a:spcAft>
              <a:defRPr sz="1000">
                <a:solidFill>
                  <a:srgbClr val="0F172A"/>
                </a:solidFill>
              </a:defRPr>
            </a:pPr>
            <a:r>
              <a:t>  Construct &amp; revise explanations for acid-base and displacement outcomes based on valence electrons and periodic trends.</a:t>
            </a:r>
          </a:p>
          <a:p>
            <a:pPr>
              <a:spcAft>
                <a:spcPts val="300"/>
              </a:spcAft>
              <a:defRPr sz="1000">
                <a:solidFill>
                  <a:srgbClr val="0F172A"/>
                </a:solidFill>
              </a:defRPr>
            </a:pPr>
          </a:p>
          <a:p>
            <a:pPr>
              <a:spcAft>
                <a:spcPts val="300"/>
              </a:spcAft>
              <a:defRPr sz="1000">
                <a:solidFill>
                  <a:srgbClr val="0F172A"/>
                </a:solidFill>
              </a:defRPr>
            </a:pPr>
            <a:r>
              <a:t>📌 10.ABC-DS.2: Neutralization &amp; Bond Energy Models</a:t>
            </a:r>
          </a:p>
          <a:p>
            <a:pPr>
              <a:spcAft>
                <a:spcPts val="300"/>
              </a:spcAft>
              <a:defRPr sz="1000">
                <a:solidFill>
                  <a:srgbClr val="0F172A"/>
                </a:solidFill>
              </a:defRPr>
            </a:pPr>
            <a:r>
              <a:t>  Model how H+ and OH- neutralization breaks/forms bonds, releasing net energy (ΔH = ΣBonds_broken - ΣBonds_formed).</a:t>
            </a:r>
          </a:p>
          <a:p>
            <a:pPr>
              <a:spcAft>
                <a:spcPts val="300"/>
              </a:spcAft>
              <a:defRPr sz="1000">
                <a:solidFill>
                  <a:srgbClr val="0F172A"/>
                </a:solidFill>
              </a:defRPr>
            </a:pPr>
          </a:p>
          <a:p>
            <a:pPr>
              <a:spcAft>
                <a:spcPts val="300"/>
              </a:spcAft>
              <a:defRPr sz="1000">
                <a:solidFill>
                  <a:srgbClr val="0F172A"/>
                </a:solidFill>
              </a:defRPr>
            </a:pPr>
            <a:r>
              <a:t>📌 10.ABC-DS.3: Characteristic Reactions of Acids &amp; Bases</a:t>
            </a:r>
          </a:p>
          <a:p>
            <a:pPr>
              <a:spcAft>
                <a:spcPts val="300"/>
              </a:spcAft>
              <a:defRPr sz="1000">
                <a:solidFill>
                  <a:srgbClr val="0F172A"/>
                </a:solidFill>
              </a:defRPr>
            </a:pPr>
            <a:r>
              <a:t>  Predict products of acids with metals, bases, and carbonates, plus bases with ammonium salts (NH3 gas).</a:t>
            </a:r>
          </a:p>
          <a:p>
            <a:pPr>
              <a:spcAft>
                <a:spcPts val="300"/>
              </a:spcAft>
              <a:defRPr sz="1000">
                <a:solidFill>
                  <a:srgbClr val="0F172A"/>
                </a:solidFill>
              </a:defRPr>
            </a:pPr>
          </a:p>
          <a:p>
            <a:pPr>
              <a:spcAft>
                <a:spcPts val="300"/>
              </a:spcAft>
              <a:defRPr sz="1000">
                <a:solidFill>
                  <a:srgbClr val="0F172A"/>
                </a:solidFill>
              </a:defRPr>
            </a:pPr>
            <a:r>
              <a:t>📌 10.ABC-DS.4: Indicators, pH Scale &amp; [H+] Ions</a:t>
            </a:r>
          </a:p>
          <a:p>
            <a:pPr>
              <a:spcAft>
                <a:spcPts val="300"/>
              </a:spcAft>
              <a:defRPr sz="1000">
                <a:solidFill>
                  <a:srgbClr val="0F172A"/>
                </a:solidFill>
              </a:defRPr>
            </a:pPr>
            <a:r>
              <a:t>  Compare [H+] concentrations using litmus, phenolphthalein, methyl orange, universal indicator, and digital probes.</a:t>
            </a:r>
          </a:p>
          <a:p>
            <a:pPr>
              <a:spcAft>
                <a:spcPts val="300"/>
              </a:spcAft>
              <a:defRPr sz="1000">
                <a:solidFill>
                  <a:srgbClr val="0F172A"/>
                </a:solidFill>
              </a:defRPr>
            </a:pPr>
          </a:p>
          <a:p>
            <a:pPr>
              <a:spcAft>
                <a:spcPts val="300"/>
              </a:spcAft>
              <a:defRPr sz="1000">
                <a:solidFill>
                  <a:srgbClr val="0F172A"/>
                </a:solidFill>
              </a:defRPr>
            </a:pPr>
            <a:r>
              <a:t>📌 10.ABC-DS.5: Volumetric Titrations &amp; Stoichiometry</a:t>
            </a:r>
          </a:p>
          <a:p>
            <a:pPr>
              <a:spcAft>
                <a:spcPts val="300"/>
              </a:spcAft>
              <a:defRPr sz="1000">
                <a:solidFill>
                  <a:srgbClr val="0F172A"/>
                </a:solidFill>
              </a:defRPr>
            </a:pPr>
            <a:r>
              <a:t>  Perform precision titrations using burettes and pipettes; calculate unknown solution concentrations.</a:t>
            </a:r>
          </a:p>
          <a:p>
            <a:pPr>
              <a:spcAft>
                <a:spcPts val="300"/>
              </a:spcAft>
              <a:defRPr sz="1000">
                <a:solidFill>
                  <a:srgbClr val="0F172A"/>
                </a:solidFill>
              </a:defRPr>
            </a:pPr>
          </a:p>
          <a:p>
            <a:pPr>
              <a:spcAft>
                <a:spcPts val="300"/>
              </a:spcAft>
              <a:defRPr sz="1000">
                <a:solidFill>
                  <a:srgbClr val="0F172A"/>
                </a:solidFill>
              </a:defRPr>
            </a:pPr>
            <a:r>
              <a:t>📌 10.ABC-DS.6: Conservation of Mass in Reactions</a:t>
            </a:r>
          </a:p>
          <a:p>
            <a:pPr>
              <a:spcAft>
                <a:spcPts val="300"/>
              </a:spcAft>
              <a:defRPr sz="1000">
                <a:solidFill>
                  <a:srgbClr val="0F172A"/>
                </a:solidFill>
              </a:defRPr>
            </a:pPr>
            <a:r>
              <a:t>  Use balanced equations &amp; molar mass to prove mass conservation during acid-carbonate gas evolution.</a:t>
            </a:r>
          </a:p>
        </p:txBody>
      </p:sp>
      <p:sp>
        <p:nvSpPr>
          <p:cNvPr id="6" name="Rounded Rectangle 5"/>
          <p:cNvSpPr/>
          <p:nvPr/>
        </p:nvSpPr>
        <p:spPr>
          <a:xfrm>
            <a:off x="6217920" y="1645920"/>
            <a:ext cx="5303520" cy="4480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55648"/>
            <a:ext cx="4937760" cy="4261104"/>
          </a:xfrm>
          <a:prstGeom prst="rect">
            <a:avLst/>
          </a:prstGeom>
          <a:noFill/>
        </p:spPr>
        <p:txBody>
          <a:bodyPr wrap="square">
            <a:spAutoFit/>
          </a:bodyPr>
          <a:lstStyle/>
          <a:p>
            <a:pPr>
              <a:spcAft>
                <a:spcPts val="400"/>
              </a:spcAft>
              <a:defRPr sz="1300" b="1">
                <a:solidFill>
                  <a:srgbClr val="0F172A"/>
                </a:solidFill>
              </a:defRPr>
            </a:pPr>
            <a:r>
              <a:t>Inquiry Pedagogy &amp; Assessment</a:t>
            </a:r>
          </a:p>
          <a:p>
            <a:pPr>
              <a:spcAft>
                <a:spcPts val="300"/>
              </a:spcAft>
              <a:defRPr sz="1000">
                <a:solidFill>
                  <a:srgbClr val="0F172A"/>
                </a:solidFill>
              </a:defRPr>
            </a:pPr>
            <a:r>
              <a:t>🧠 Visual Thinking Routines (Harvard Project Zero):</a:t>
            </a:r>
          </a:p>
          <a:p>
            <a:pPr>
              <a:spcAft>
                <a:spcPts val="300"/>
              </a:spcAft>
              <a:defRPr sz="1000">
                <a:solidFill>
                  <a:srgbClr val="0F172A"/>
                </a:solidFill>
              </a:defRPr>
            </a:pPr>
            <a:r>
              <a:t>  • See-Think-Wonder: Digestive pH &amp; chemical homeostasis.</a:t>
            </a:r>
          </a:p>
          <a:p>
            <a:pPr>
              <a:spcAft>
                <a:spcPts val="300"/>
              </a:spcAft>
              <a:defRPr sz="1000">
                <a:solidFill>
                  <a:srgbClr val="0F172A"/>
                </a:solidFill>
              </a:defRPr>
            </a:pPr>
            <a:r>
              <a:t>  • Claim – Support – Question: Acid reactivity and single displacement.</a:t>
            </a:r>
          </a:p>
          <a:p>
            <a:pPr>
              <a:spcAft>
                <a:spcPts val="300"/>
              </a:spcAft>
              <a:defRPr sz="1000">
                <a:solidFill>
                  <a:srgbClr val="0F172A"/>
                </a:solidFill>
              </a:defRPr>
            </a:pPr>
            <a:r>
              <a:t>  • Zoom In: Macroscopic neutralization → atomic valence shells.</a:t>
            </a:r>
          </a:p>
          <a:p>
            <a:pPr>
              <a:spcAft>
                <a:spcPts val="300"/>
              </a:spcAft>
              <a:defRPr sz="1000">
                <a:solidFill>
                  <a:srgbClr val="0F172A"/>
                </a:solidFill>
              </a:defRPr>
            </a:pPr>
            <a:r>
              <a:t>  • Red Light, Yellow Light, Green Light: Experimental error analysis.</a:t>
            </a:r>
          </a:p>
          <a:p>
            <a:pPr>
              <a:spcAft>
                <a:spcPts val="300"/>
              </a:spcAft>
              <a:defRPr sz="1000">
                <a:solidFill>
                  <a:srgbClr val="0F172A"/>
                </a:solidFill>
              </a:defRPr>
            </a:pPr>
            <a:r>
              <a:t>  • Generate – Sort – Connect – Elaborate: Master concept synthesis.</a:t>
            </a:r>
          </a:p>
          <a:p>
            <a:pPr>
              <a:spcAft>
                <a:spcPts val="300"/>
              </a:spcAft>
              <a:defRPr sz="1000">
                <a:solidFill>
                  <a:srgbClr val="0F172A"/>
                </a:solidFill>
              </a:defRPr>
            </a:pPr>
          </a:p>
          <a:p>
            <a:pPr>
              <a:spcAft>
                <a:spcPts val="300"/>
              </a:spcAft>
              <a:defRPr sz="1000">
                <a:solidFill>
                  <a:srgbClr val="0F172A"/>
                </a:solidFill>
              </a:defRPr>
            </a:pPr>
            <a:r>
              <a:t>🤝 Collaborative Jigsaw Activity:</a:t>
            </a:r>
          </a:p>
          <a:p>
            <a:pPr>
              <a:spcAft>
                <a:spcPts val="300"/>
              </a:spcAft>
              <a:defRPr sz="1000">
                <a:solidFill>
                  <a:srgbClr val="0F172A"/>
                </a:solidFill>
              </a:defRPr>
            </a:pPr>
            <a:r>
              <a:t>  • Peer expert groups investigating Group 1, Group 2, and Group 17 displacement kinetics.</a:t>
            </a:r>
          </a:p>
          <a:p>
            <a:pPr>
              <a:spcAft>
                <a:spcPts val="300"/>
              </a:spcAft>
              <a:defRPr sz="1000">
                <a:solidFill>
                  <a:srgbClr val="0F172A"/>
                </a:solidFill>
              </a:defRPr>
            </a:pPr>
          </a:p>
          <a:p>
            <a:pPr>
              <a:spcAft>
                <a:spcPts val="300"/>
              </a:spcAft>
              <a:defRPr sz="1000">
                <a:solidFill>
                  <a:srgbClr val="0F172A"/>
                </a:solidFill>
              </a:defRPr>
            </a:pPr>
            <a:r>
              <a:t>🎯 Final Summative Assessment:</a:t>
            </a:r>
          </a:p>
          <a:p>
            <a:pPr>
              <a:spcAft>
                <a:spcPts val="300"/>
              </a:spcAft>
              <a:defRPr sz="1000">
                <a:solidFill>
                  <a:srgbClr val="0F172A"/>
                </a:solidFill>
              </a:defRPr>
            </a:pPr>
            <a:r>
              <a:t>  • Criterion B: Designing an enthalpy of neutralization calorimeter experiment.</a:t>
            </a:r>
          </a:p>
          <a:p>
            <a:pPr>
              <a:spcAft>
                <a:spcPts val="300"/>
              </a:spcAft>
              <a:defRPr sz="1000">
                <a:solidFill>
                  <a:srgbClr val="0F172A"/>
                </a:solidFill>
              </a:defRPr>
            </a:pPr>
            <a:r>
              <a:t>  • Criterion C: Processing experimental thermochemical data, identifying deliberate anomalies, calculating ΔH_neut, and evaluating method limitations.</a:t>
            </a:r>
          </a:p>
        </p:txBody>
      </p:sp>
      <p:sp>
        <p:nvSpPr>
          <p:cNvPr id="8" name="TextBox 7"/>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MYP FRAMEWORK</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Statement of Inquiry &amp; Guiding Questions</a:t>
            </a:r>
          </a:p>
        </p:txBody>
      </p:sp>
      <p:sp>
        <p:nvSpPr>
          <p:cNvPr id="4" name="Rounded Rectangle 3"/>
          <p:cNvSpPr/>
          <p:nvPr/>
        </p:nvSpPr>
        <p:spPr>
          <a:xfrm>
            <a:off x="548640" y="1463040"/>
            <a:ext cx="10972800" cy="1005840"/>
          </a:xfrm>
          <a:prstGeom prst="roundRect">
            <a:avLst/>
          </a:prstGeom>
          <a:solidFill>
            <a:srgbClr val="0F172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i="1" b="1">
                <a:solidFill>
                  <a:srgbClr val="FFFFFF"/>
                </a:solidFill>
              </a:defRPr>
            </a:pPr>
            <a:r>
              <a:t>“Models of atomic electron configuration and chemical bond energy allow scientists to predict reaction dynamics and engineer solutions for environmental and biological energy transformations.”</a:t>
            </a:r>
          </a:p>
        </p:txBody>
      </p:sp>
      <p:sp>
        <p:nvSpPr>
          <p:cNvPr id="5" name="Rounded Rectangle 4"/>
          <p:cNvSpPr/>
          <p:nvPr/>
        </p:nvSpPr>
        <p:spPr>
          <a:xfrm>
            <a:off x="548640" y="2651760"/>
            <a:ext cx="3474720" cy="14630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651760"/>
            <a:ext cx="34747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KEY CONCEPT</a:t>
            </a:r>
          </a:p>
        </p:txBody>
      </p:sp>
      <p:sp>
        <p:nvSpPr>
          <p:cNvPr id="7" name="TextBox 6"/>
          <p:cNvSpPr txBox="1"/>
          <p:nvPr/>
        </p:nvSpPr>
        <p:spPr>
          <a:xfrm>
            <a:off x="731520" y="3182112"/>
            <a:ext cx="3108960" cy="841248"/>
          </a:xfrm>
          <a:prstGeom prst="rect">
            <a:avLst/>
          </a:prstGeom>
          <a:noFill/>
        </p:spPr>
        <p:txBody>
          <a:bodyPr wrap="square">
            <a:spAutoFit/>
          </a:bodyPr>
          <a:lstStyle/>
          <a:p>
            <a:pPr>
              <a:spcAft>
                <a:spcPts val="300"/>
              </a:spcAft>
              <a:defRPr sz="1000">
                <a:solidFill>
                  <a:srgbClr val="0F172A"/>
                </a:solidFill>
              </a:defRPr>
            </a:pPr>
            <a:r>
              <a:t>Change</a:t>
            </a:r>
          </a:p>
          <a:p>
            <a:pPr>
              <a:spcAft>
                <a:spcPts val="300"/>
              </a:spcAft>
              <a:defRPr sz="1000">
                <a:solidFill>
                  <a:srgbClr val="0F172A"/>
                </a:solidFill>
              </a:defRPr>
            </a:pPr>
            <a:r>
              <a:t>Chemical reactions represent fundamental reconfigurations of matter and electron transfer.</a:t>
            </a:r>
          </a:p>
        </p:txBody>
      </p:sp>
      <p:sp>
        <p:nvSpPr>
          <p:cNvPr id="8" name="Rounded Rectangle 7"/>
          <p:cNvSpPr/>
          <p:nvPr/>
        </p:nvSpPr>
        <p:spPr>
          <a:xfrm>
            <a:off x="4297680" y="2651760"/>
            <a:ext cx="3474720" cy="14630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2651760"/>
            <a:ext cx="3474720" cy="4572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RELATED CONCEPTS</a:t>
            </a:r>
          </a:p>
        </p:txBody>
      </p:sp>
      <p:sp>
        <p:nvSpPr>
          <p:cNvPr id="10" name="TextBox 9"/>
          <p:cNvSpPr txBox="1"/>
          <p:nvPr/>
        </p:nvSpPr>
        <p:spPr>
          <a:xfrm>
            <a:off x="4480560" y="3182112"/>
            <a:ext cx="3108960" cy="841248"/>
          </a:xfrm>
          <a:prstGeom prst="rect">
            <a:avLst/>
          </a:prstGeom>
          <a:noFill/>
        </p:spPr>
        <p:txBody>
          <a:bodyPr wrap="square">
            <a:spAutoFit/>
          </a:bodyPr>
          <a:lstStyle/>
          <a:p>
            <a:pPr>
              <a:spcAft>
                <a:spcPts val="300"/>
              </a:spcAft>
              <a:defRPr sz="1000">
                <a:solidFill>
                  <a:srgbClr val="0F172A"/>
                </a:solidFill>
              </a:defRPr>
            </a:pPr>
            <a:r>
              <a:t>Energy · Models · Evidence</a:t>
            </a:r>
          </a:p>
          <a:p>
            <a:pPr>
              <a:spcAft>
                <a:spcPts val="300"/>
              </a:spcAft>
              <a:defRPr sz="1000">
                <a:solidFill>
                  <a:srgbClr val="0F172A"/>
                </a:solidFill>
              </a:defRPr>
            </a:pPr>
            <a:r>
              <a:t>Quantifying enthalpy changes and using sub-microscopic bonding models backed by empirical data.</a:t>
            </a:r>
          </a:p>
        </p:txBody>
      </p:sp>
      <p:sp>
        <p:nvSpPr>
          <p:cNvPr id="11" name="Rounded Rectangle 10"/>
          <p:cNvSpPr/>
          <p:nvPr/>
        </p:nvSpPr>
        <p:spPr>
          <a:xfrm>
            <a:off x="8046720" y="2651760"/>
            <a:ext cx="3474720" cy="14630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2651760"/>
            <a:ext cx="3474720" cy="45720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GLOBAL CONTEXT</a:t>
            </a:r>
          </a:p>
        </p:txBody>
      </p:sp>
      <p:sp>
        <p:nvSpPr>
          <p:cNvPr id="13" name="TextBox 12"/>
          <p:cNvSpPr txBox="1"/>
          <p:nvPr/>
        </p:nvSpPr>
        <p:spPr>
          <a:xfrm>
            <a:off x="8229600" y="3182112"/>
            <a:ext cx="3108960" cy="841248"/>
          </a:xfrm>
          <a:prstGeom prst="rect">
            <a:avLst/>
          </a:prstGeom>
          <a:noFill/>
        </p:spPr>
        <p:txBody>
          <a:bodyPr wrap="square">
            <a:spAutoFit/>
          </a:bodyPr>
          <a:lstStyle/>
          <a:p>
            <a:pPr>
              <a:spcAft>
                <a:spcPts val="300"/>
              </a:spcAft>
              <a:defRPr sz="1000">
                <a:solidFill>
                  <a:srgbClr val="0F172A"/>
                </a:solidFill>
              </a:defRPr>
            </a:pPr>
            <a:r>
              <a:t>Scientific &amp; Technical Innovation</a:t>
            </a:r>
          </a:p>
          <a:p>
            <a:pPr>
              <a:spcAft>
                <a:spcPts val="300"/>
              </a:spcAft>
              <a:defRPr sz="1000">
                <a:solidFill>
                  <a:srgbClr val="0F172A"/>
                </a:solidFill>
              </a:defRPr>
            </a:pPr>
            <a:r>
              <a:t>How understanding acid-base neutralization drives medicine (antacids) and industrial green chemistry.</a:t>
            </a:r>
          </a:p>
        </p:txBody>
      </p:sp>
      <p:sp>
        <p:nvSpPr>
          <p:cNvPr id="14" name="Rectangle 13"/>
          <p:cNvSpPr/>
          <p:nvPr/>
        </p:nvSpPr>
        <p:spPr>
          <a:xfrm>
            <a:off x="548640" y="4297680"/>
            <a:ext cx="1828800" cy="54864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FACTUAL</a:t>
            </a:r>
          </a:p>
        </p:txBody>
      </p:sp>
      <p:sp>
        <p:nvSpPr>
          <p:cNvPr id="15" name="TextBox 14"/>
          <p:cNvSpPr txBox="1"/>
          <p:nvPr/>
        </p:nvSpPr>
        <p:spPr>
          <a:xfrm>
            <a:off x="2560320" y="4297680"/>
            <a:ext cx="8961120" cy="548640"/>
          </a:xfrm>
          <a:prstGeom prst="rect">
            <a:avLst/>
          </a:prstGeom>
          <a:noFill/>
        </p:spPr>
        <p:txBody>
          <a:bodyPr wrap="none">
            <a:spAutoFit/>
          </a:bodyPr>
          <a:lstStyle/>
          <a:p>
            <a:pPr>
              <a:defRPr sz="1150">
                <a:solidFill>
                  <a:srgbClr val="0F172A"/>
                </a:solidFill>
              </a:defRPr>
            </a:pPr>
            <a:r>
              <a:t>Which subatomic particles determine whether an element displaces another or donates a proton?</a:t>
            </a:r>
          </a:p>
        </p:txBody>
      </p:sp>
      <p:sp>
        <p:nvSpPr>
          <p:cNvPr id="16" name="Rectangle 15"/>
          <p:cNvSpPr/>
          <p:nvPr/>
        </p:nvSpPr>
        <p:spPr>
          <a:xfrm>
            <a:off x="548640" y="4983480"/>
            <a:ext cx="1828800" cy="54864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CONCEPTUAL</a:t>
            </a:r>
          </a:p>
        </p:txBody>
      </p:sp>
      <p:sp>
        <p:nvSpPr>
          <p:cNvPr id="17" name="TextBox 16"/>
          <p:cNvSpPr txBox="1"/>
          <p:nvPr/>
        </p:nvSpPr>
        <p:spPr>
          <a:xfrm>
            <a:off x="2560320" y="4983480"/>
            <a:ext cx="8961120" cy="548640"/>
          </a:xfrm>
          <a:prstGeom prst="rect">
            <a:avLst/>
          </a:prstGeom>
          <a:noFill/>
        </p:spPr>
        <p:txBody>
          <a:bodyPr wrap="none">
            <a:spAutoFit/>
          </a:bodyPr>
          <a:lstStyle/>
          <a:p>
            <a:pPr>
              <a:defRPr sz="1150">
                <a:solidFill>
                  <a:srgbClr val="0F172A"/>
                </a:solidFill>
              </a:defRPr>
            </a:pPr>
            <a:r>
              <a:t>How does the breaking and forming of chemical bonds govern whether an acid reaction releases or absorbs thermal energy?</a:t>
            </a:r>
          </a:p>
        </p:txBody>
      </p:sp>
      <p:sp>
        <p:nvSpPr>
          <p:cNvPr id="18" name="Rectangle 17"/>
          <p:cNvSpPr/>
          <p:nvPr/>
        </p:nvSpPr>
        <p:spPr>
          <a:xfrm>
            <a:off x="548640" y="5669280"/>
            <a:ext cx="1828800" cy="5486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DEBATABLE</a:t>
            </a:r>
          </a:p>
        </p:txBody>
      </p:sp>
      <p:sp>
        <p:nvSpPr>
          <p:cNvPr id="19" name="TextBox 18"/>
          <p:cNvSpPr txBox="1"/>
          <p:nvPr/>
        </p:nvSpPr>
        <p:spPr>
          <a:xfrm>
            <a:off x="2560320" y="5669280"/>
            <a:ext cx="8961120" cy="548640"/>
          </a:xfrm>
          <a:prstGeom prst="rect">
            <a:avLst/>
          </a:prstGeom>
          <a:noFill/>
        </p:spPr>
        <p:txBody>
          <a:bodyPr wrap="none">
            <a:spAutoFit/>
          </a:bodyPr>
          <a:lstStyle/>
          <a:p>
            <a:pPr>
              <a:defRPr sz="1150">
                <a:solidFill>
                  <a:srgbClr val="0F172A"/>
                </a:solidFill>
              </a:defRPr>
            </a:pPr>
            <a:r>
              <a:t>Can simple laboratory models adequately predict and mitigate complex environmental chemical crises like ocean acidification?</a:t>
            </a:r>
          </a:p>
        </p:txBody>
      </p:sp>
      <p:sp>
        <p:nvSpPr>
          <p:cNvPr id="20" name="TextBox 1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LEARNING EXPERIENCE</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Interactive Digital Simulations &amp; Video Library</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Click any button during lessons to launch interactive simulations and video models</a:t>
            </a:r>
          </a:p>
        </p:txBody>
      </p:sp>
      <p:sp>
        <p:nvSpPr>
          <p:cNvPr id="5" name="Rounded Rectangle 4"/>
          <p:cNvSpPr/>
          <p:nvPr/>
        </p:nvSpPr>
        <p:spPr>
          <a:xfrm>
            <a:off x="548640" y="1645920"/>
            <a:ext cx="5303520" cy="32918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303520" cy="4572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Interactive Simulations (PhET &amp; Virtual Chem)</a:t>
            </a:r>
          </a:p>
        </p:txBody>
      </p:sp>
      <p:sp>
        <p:nvSpPr>
          <p:cNvPr id="7" name="TextBox 6"/>
          <p:cNvSpPr txBox="1"/>
          <p:nvPr/>
        </p:nvSpPr>
        <p:spPr>
          <a:xfrm>
            <a:off x="731520" y="2176272"/>
            <a:ext cx="4937760" cy="2670048"/>
          </a:xfrm>
          <a:prstGeom prst="rect">
            <a:avLst/>
          </a:prstGeom>
          <a:noFill/>
        </p:spPr>
        <p:txBody>
          <a:bodyPr wrap="square">
            <a:spAutoFit/>
          </a:bodyPr>
          <a:lstStyle/>
          <a:p>
            <a:pPr>
              <a:spcAft>
                <a:spcPts val="300"/>
              </a:spcAft>
              <a:defRPr sz="1000">
                <a:solidFill>
                  <a:srgbClr val="0F172A"/>
                </a:solidFill>
              </a:defRPr>
            </a:pPr>
            <a:r>
              <a:t>🧪 PhET: Acid-Base Solutions (Standard 10.ABC-DS.4)</a:t>
            </a:r>
          </a:p>
          <a:p>
            <a:pPr>
              <a:spcAft>
                <a:spcPts val="300"/>
              </a:spcAft>
              <a:defRPr sz="1000">
                <a:solidFill>
                  <a:srgbClr val="0F172A"/>
                </a:solidFill>
              </a:defRPr>
            </a:pPr>
            <a:r>
              <a:t>  Investigate how strong vs weak acids dissociate. Compare [H3O+] vs [OH-] equilibrium concentrations.</a:t>
            </a:r>
          </a:p>
          <a:p>
            <a:pPr>
              <a:spcAft>
                <a:spcPts val="300"/>
              </a:spcAft>
              <a:defRPr sz="1000">
                <a:solidFill>
                  <a:srgbClr val="0F172A"/>
                </a:solidFill>
              </a:defRPr>
            </a:pPr>
          </a:p>
          <a:p>
            <a:pPr>
              <a:spcAft>
                <a:spcPts val="300"/>
              </a:spcAft>
              <a:defRPr sz="1000">
                <a:solidFill>
                  <a:srgbClr val="0F172A"/>
                </a:solidFill>
              </a:defRPr>
            </a:pPr>
            <a:r>
              <a:t>🔥 PhET: Energy Forms and Changes (Standard 10.ABC-DS.2)</a:t>
            </a:r>
          </a:p>
          <a:p>
            <a:pPr>
              <a:spcAft>
                <a:spcPts val="300"/>
              </a:spcAft>
              <a:defRPr sz="1000">
                <a:solidFill>
                  <a:srgbClr val="0F172A"/>
                </a:solidFill>
              </a:defRPr>
            </a:pPr>
            <a:r>
              <a:t>  Track thermal energy transfer into surrounding water during bond restructuring.</a:t>
            </a:r>
          </a:p>
          <a:p>
            <a:pPr>
              <a:spcAft>
                <a:spcPts val="300"/>
              </a:spcAft>
              <a:defRPr sz="1000">
                <a:solidFill>
                  <a:srgbClr val="0F172A"/>
                </a:solidFill>
              </a:defRPr>
            </a:pPr>
          </a:p>
          <a:p>
            <a:pPr>
              <a:spcAft>
                <a:spcPts val="300"/>
              </a:spcAft>
              <a:defRPr sz="1000">
                <a:solidFill>
                  <a:srgbClr val="0F172A"/>
                </a:solidFill>
              </a:defRPr>
            </a:pPr>
            <a:r>
              <a:t>⚖️ ChemCollective: Virtual Acid-Base Titration Lab (Standard 10.ABC-DS.5)</a:t>
            </a:r>
          </a:p>
          <a:p>
            <a:pPr>
              <a:spcAft>
                <a:spcPts val="300"/>
              </a:spcAft>
              <a:defRPr sz="1000">
                <a:solidFill>
                  <a:srgbClr val="0F172A"/>
                </a:solidFill>
              </a:defRPr>
            </a:pPr>
            <a:r>
              <a:t>  Standardize unknown HCl using 0.100 M NaOH with phenolphthalein indicator. Practice reading meniscus.</a:t>
            </a:r>
          </a:p>
          <a:p>
            <a:pPr>
              <a:spcAft>
                <a:spcPts val="300"/>
              </a:spcAft>
              <a:defRPr sz="1000">
                <a:solidFill>
                  <a:srgbClr val="0F172A"/>
                </a:solidFill>
              </a:defRPr>
            </a:pPr>
          </a:p>
          <a:p>
            <a:pPr>
              <a:spcAft>
                <a:spcPts val="300"/>
              </a:spcAft>
              <a:defRPr sz="1000">
                <a:solidFill>
                  <a:srgbClr val="0F172A"/>
                </a:solidFill>
              </a:defRPr>
            </a:pPr>
            <a:r>
              <a:t>⚛️ PhET: Reactants, Products &amp; Leftovers (Standard 10.ABC-DS.6)</a:t>
            </a:r>
          </a:p>
          <a:p>
            <a:pPr>
              <a:spcAft>
                <a:spcPts val="300"/>
              </a:spcAft>
              <a:defRPr sz="1000">
                <a:solidFill>
                  <a:srgbClr val="0F172A"/>
                </a:solidFill>
              </a:defRPr>
            </a:pPr>
            <a:r>
              <a:t>  Simulate limiting reagents and mass conservation during gas evolution.</a:t>
            </a:r>
          </a:p>
        </p:txBody>
      </p:sp>
      <p:sp>
        <p:nvSpPr>
          <p:cNvPr id="8" name="Rounded Rectangle 7"/>
          <p:cNvSpPr/>
          <p:nvPr/>
        </p:nvSpPr>
        <p:spPr>
          <a:xfrm>
            <a:off x="6217920" y="1645920"/>
            <a:ext cx="5303520" cy="32918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3035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Video Demonstrations &amp; Pre-Lab Briefings</a:t>
            </a:r>
          </a:p>
        </p:txBody>
      </p:sp>
      <p:sp>
        <p:nvSpPr>
          <p:cNvPr id="10" name="TextBox 9"/>
          <p:cNvSpPr txBox="1"/>
          <p:nvPr/>
        </p:nvSpPr>
        <p:spPr>
          <a:xfrm>
            <a:off x="6400800" y="2176272"/>
            <a:ext cx="4937760" cy="2670048"/>
          </a:xfrm>
          <a:prstGeom prst="rect">
            <a:avLst/>
          </a:prstGeom>
          <a:noFill/>
        </p:spPr>
        <p:txBody>
          <a:bodyPr wrap="square">
            <a:spAutoFit/>
          </a:bodyPr>
          <a:lstStyle/>
          <a:p>
            <a:pPr>
              <a:spcAft>
                <a:spcPts val="300"/>
              </a:spcAft>
              <a:defRPr sz="1000">
                <a:solidFill>
                  <a:srgbClr val="0F172A"/>
                </a:solidFill>
              </a:defRPr>
            </a:pPr>
            <a:r>
              <a:t>🎥 Video 1: Single Displacement &amp; The Activity Series (L2)</a:t>
            </a:r>
          </a:p>
          <a:p>
            <a:pPr>
              <a:spcAft>
                <a:spcPts val="300"/>
              </a:spcAft>
              <a:defRPr sz="1000">
                <a:solidFill>
                  <a:srgbClr val="0F172A"/>
                </a:solidFill>
              </a:defRPr>
            </a:pPr>
            <a:r>
              <a:t>  Observe electron transfer between zinc/magnesium and copper(II) sulfate solutions under high magnification.</a:t>
            </a:r>
          </a:p>
          <a:p>
            <a:pPr>
              <a:spcAft>
                <a:spcPts val="300"/>
              </a:spcAft>
              <a:defRPr sz="1000">
                <a:solidFill>
                  <a:srgbClr val="0F172A"/>
                </a:solidFill>
              </a:defRPr>
            </a:pPr>
          </a:p>
          <a:p>
            <a:pPr>
              <a:spcAft>
                <a:spcPts val="300"/>
              </a:spcAft>
              <a:defRPr sz="1000">
                <a:solidFill>
                  <a:srgbClr val="0F172A"/>
                </a:solidFill>
              </a:defRPr>
            </a:pPr>
            <a:r>
              <a:t>🎥 Video 2: Characteristic Acid Gas Tests (L3–L4)</a:t>
            </a:r>
          </a:p>
          <a:p>
            <a:pPr>
              <a:spcAft>
                <a:spcPts val="300"/>
              </a:spcAft>
              <a:defRPr sz="1000">
                <a:solidFill>
                  <a:srgbClr val="0F172A"/>
                </a:solidFill>
              </a:defRPr>
            </a:pPr>
            <a:r>
              <a:t>  The 'Squeaky Pop' test for H2, Limewater effervescence for CO2, and damp red litmus for NH3 gas.</a:t>
            </a:r>
          </a:p>
          <a:p>
            <a:pPr>
              <a:spcAft>
                <a:spcPts val="300"/>
              </a:spcAft>
              <a:defRPr sz="1000">
                <a:solidFill>
                  <a:srgbClr val="0F172A"/>
                </a:solidFill>
              </a:defRPr>
            </a:pPr>
          </a:p>
          <a:p>
            <a:pPr>
              <a:spcAft>
                <a:spcPts val="300"/>
              </a:spcAft>
              <a:defRPr sz="1000">
                <a:solidFill>
                  <a:srgbClr val="0F172A"/>
                </a:solidFill>
              </a:defRPr>
            </a:pPr>
            <a:r>
              <a:t>🎥 Video 3: Analytical Titration Technique &amp; Error Avoidance (L7)</a:t>
            </a:r>
          </a:p>
          <a:p>
            <a:pPr>
              <a:spcAft>
                <a:spcPts val="300"/>
              </a:spcAft>
              <a:defRPr sz="1000">
                <a:solidFill>
                  <a:srgbClr val="0F172A"/>
                </a:solidFill>
              </a:defRPr>
            </a:pPr>
            <a:r>
              <a:t>  Step-by-step masterclass: rinsing burettes, removing air bubbles, detecting faint pink endpoint.</a:t>
            </a:r>
          </a:p>
          <a:p>
            <a:pPr>
              <a:spcAft>
                <a:spcPts val="300"/>
              </a:spcAft>
              <a:defRPr sz="1000">
                <a:solidFill>
                  <a:srgbClr val="0F172A"/>
                </a:solidFill>
              </a:defRPr>
            </a:pPr>
          </a:p>
          <a:p>
            <a:pPr>
              <a:spcAft>
                <a:spcPts val="300"/>
              </a:spcAft>
              <a:defRPr sz="1000">
                <a:solidFill>
                  <a:srgbClr val="0F172A"/>
                </a:solidFill>
              </a:defRPr>
            </a:pPr>
            <a:r>
              <a:t>🎥 Video 4: Coffee-Cup Calorimetry of Neutralization (L11–L12)</a:t>
            </a:r>
          </a:p>
          <a:p>
            <a:pPr>
              <a:spcAft>
                <a:spcPts val="300"/>
              </a:spcAft>
              <a:defRPr sz="1000">
                <a:solidFill>
                  <a:srgbClr val="0F172A"/>
                </a:solidFill>
              </a:defRPr>
            </a:pPr>
            <a:r>
              <a:t>  Measuring temperature evolution ΔT to calculate molar enthalpy ΔH_neut.</a:t>
            </a:r>
          </a:p>
        </p:txBody>
      </p:sp>
      <p:sp>
        <p:nvSpPr>
          <p:cNvPr id="11" name="Rounded Rectangle 10"/>
          <p:cNvSpPr/>
          <p:nvPr/>
        </p:nvSpPr>
        <p:spPr>
          <a:xfrm>
            <a:off x="548640" y="5212080"/>
            <a:ext cx="3474720" cy="822960"/>
          </a:xfrm>
          <a:prstGeom prst="round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hlinkClick r:id="rId2"/>
              </a:rPr>
              <a:t>🧪 LAUNCH  PhET: Acid-Base Solutions</a:t>
            </a:r>
          </a:p>
        </p:txBody>
      </p:sp>
      <p:sp>
        <p:nvSpPr>
          <p:cNvPr id="12" name="Rounded Rectangle 11"/>
          <p:cNvSpPr/>
          <p:nvPr/>
        </p:nvSpPr>
        <p:spPr>
          <a:xfrm>
            <a:off x="4297680" y="5212080"/>
            <a:ext cx="3474720" cy="82296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hlinkClick r:id="rId3"/>
              </a:rPr>
              <a:t>🔥 LAUNCH  PhET: Energy Forms &amp; Bonds</a:t>
            </a:r>
          </a:p>
        </p:txBody>
      </p:sp>
      <p:sp>
        <p:nvSpPr>
          <p:cNvPr id="13" name="Rounded Rectangle 12"/>
          <p:cNvSpPr/>
          <p:nvPr/>
        </p:nvSpPr>
        <p:spPr>
          <a:xfrm>
            <a:off x="8046720" y="5212080"/>
            <a:ext cx="3474720" cy="82296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hlinkClick r:id="rId4"/>
              </a:rPr>
              <a:t>⚖️ LAUNCH  ChemCollective Titration</a:t>
            </a:r>
          </a:p>
        </p:txBody>
      </p:sp>
      <p:sp>
        <p:nvSpPr>
          <p:cNvPr id="14" name="TextBox 13"/>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VISUAL THINKING ROUTINE</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See – Think – Wonder: Digestive Chemistry &amp; Acid Homeostasis</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Routine: Observe the phenomenon, make inferences, and generate testable questions</a:t>
            </a:r>
          </a:p>
        </p:txBody>
      </p:sp>
      <p:sp>
        <p:nvSpPr>
          <p:cNvPr id="5" name="Rounded Rectangle 4"/>
          <p:cNvSpPr/>
          <p:nvPr/>
        </p:nvSpPr>
        <p:spPr>
          <a:xfrm>
            <a:off x="548640" y="1645920"/>
            <a:ext cx="5486400" cy="38404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48640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Inquiry Prompts &amp; Observations</a:t>
            </a:r>
          </a:p>
        </p:txBody>
      </p:sp>
      <p:sp>
        <p:nvSpPr>
          <p:cNvPr id="7" name="TextBox 6"/>
          <p:cNvSpPr txBox="1"/>
          <p:nvPr/>
        </p:nvSpPr>
        <p:spPr>
          <a:xfrm>
            <a:off x="731520" y="2176272"/>
            <a:ext cx="5120640" cy="3218688"/>
          </a:xfrm>
          <a:prstGeom prst="rect">
            <a:avLst/>
          </a:prstGeom>
          <a:noFill/>
        </p:spPr>
        <p:txBody>
          <a:bodyPr wrap="square">
            <a:spAutoFit/>
          </a:bodyPr>
          <a:lstStyle/>
          <a:p>
            <a:pPr>
              <a:spcAft>
                <a:spcPts val="300"/>
              </a:spcAft>
              <a:defRPr sz="1000">
                <a:solidFill>
                  <a:srgbClr val="0F172A"/>
                </a:solidFill>
              </a:defRPr>
            </a:pPr>
            <a:r>
              <a:t>👁️ What do you SEE?</a:t>
            </a:r>
          </a:p>
          <a:p>
            <a:pPr>
              <a:spcAft>
                <a:spcPts val="300"/>
              </a:spcAft>
              <a:defRPr sz="1000">
                <a:solidFill>
                  <a:srgbClr val="0F172A"/>
                </a:solidFill>
              </a:defRPr>
            </a:pPr>
            <a:r>
              <a:t>• Gastric juice has pH 1.5 – 2.0 (concentrated HCl).</a:t>
            </a:r>
          </a:p>
          <a:p>
            <a:pPr>
              <a:spcAft>
                <a:spcPts val="300"/>
              </a:spcAft>
              <a:defRPr sz="1000">
                <a:solidFill>
                  <a:srgbClr val="0F172A"/>
                </a:solidFill>
              </a:defRPr>
            </a:pPr>
            <a:r>
              <a:t>• Pancreatic juice rapidly raises pH to 7.8 – 8.0 in the duodenum.</a:t>
            </a:r>
          </a:p>
          <a:p>
            <a:pPr>
              <a:spcAft>
                <a:spcPts val="300"/>
              </a:spcAft>
              <a:defRPr sz="1000">
                <a:solidFill>
                  <a:srgbClr val="0F172A"/>
                </a:solidFill>
              </a:defRPr>
            </a:pPr>
          </a:p>
          <a:p>
            <a:pPr>
              <a:spcAft>
                <a:spcPts val="300"/>
              </a:spcAft>
              <a:defRPr sz="1000">
                <a:solidFill>
                  <a:srgbClr val="0F172A"/>
                </a:solidFill>
              </a:defRPr>
            </a:pPr>
            <a:r>
              <a:t>💭 What do you THINK is happening?</a:t>
            </a:r>
          </a:p>
          <a:p>
            <a:pPr>
              <a:spcAft>
                <a:spcPts val="300"/>
              </a:spcAft>
              <a:defRPr sz="1000">
                <a:solidFill>
                  <a:srgbClr val="0F172A"/>
                </a:solidFill>
              </a:defRPr>
            </a:pPr>
            <a:r>
              <a:t>• Pancreas secretes bicarbonate (NaHCO₃) to neutralize acid:</a:t>
            </a:r>
          </a:p>
          <a:p>
            <a:pPr>
              <a:spcAft>
                <a:spcPts val="300"/>
              </a:spcAft>
              <a:defRPr sz="1000">
                <a:solidFill>
                  <a:srgbClr val="0F172A"/>
                </a:solidFill>
              </a:defRPr>
            </a:pPr>
            <a:r>
              <a:t>  HCl(aq) + NaHCO₃(aq) → NaCl(aq) + H₂O(l) + CO₂(g)</a:t>
            </a:r>
          </a:p>
          <a:p>
            <a:pPr>
              <a:spcAft>
                <a:spcPts val="300"/>
              </a:spcAft>
              <a:defRPr sz="1000">
                <a:solidFill>
                  <a:srgbClr val="0F172A"/>
                </a:solidFill>
              </a:defRPr>
            </a:pPr>
            <a:r>
              <a:t>• Protects intestinal enzymes (trypsin, lipase) from denaturing.</a:t>
            </a:r>
          </a:p>
          <a:p>
            <a:pPr>
              <a:spcAft>
                <a:spcPts val="300"/>
              </a:spcAft>
              <a:defRPr sz="1000">
                <a:solidFill>
                  <a:srgbClr val="0F172A"/>
                </a:solidFill>
              </a:defRPr>
            </a:pPr>
          </a:p>
          <a:p>
            <a:pPr>
              <a:spcAft>
                <a:spcPts val="300"/>
              </a:spcAft>
              <a:defRPr sz="1000">
                <a:solidFill>
                  <a:srgbClr val="0F172A"/>
                </a:solidFill>
              </a:defRPr>
            </a:pPr>
            <a:r>
              <a:t>❓ What does it make you WONDER?</a:t>
            </a:r>
          </a:p>
          <a:p>
            <a:pPr>
              <a:spcAft>
                <a:spcPts val="300"/>
              </a:spcAft>
              <a:defRPr sz="1000">
                <a:solidFill>
                  <a:srgbClr val="0F172A"/>
                </a:solidFill>
              </a:defRPr>
            </a:pPr>
            <a:r>
              <a:t>• How do commercial antacids chemically mimic this system?</a:t>
            </a:r>
          </a:p>
          <a:p>
            <a:pPr>
              <a:spcAft>
                <a:spcPts val="300"/>
              </a:spcAft>
              <a:defRPr sz="1000">
                <a:solidFill>
                  <a:srgbClr val="0F172A"/>
                </a:solidFill>
              </a:defRPr>
            </a:pPr>
            <a:r>
              <a:t>• Does neutralizing stomach acid release thermal energy inside us?</a:t>
            </a:r>
          </a:p>
        </p:txBody>
      </p:sp>
      <p:pic>
        <p:nvPicPr>
          <p:cNvPr id="8" name="Picture 7" descr="visual_digestive_homeostasis.png"/>
          <p:cNvPicPr>
            <a:picLocks noChangeAspect="1"/>
          </p:cNvPicPr>
          <p:nvPr/>
        </p:nvPicPr>
        <p:blipFill>
          <a:blip r:embed="rId2"/>
          <a:stretch>
            <a:fillRect/>
          </a:stretch>
        </p:blipFill>
        <p:spPr>
          <a:xfrm>
            <a:off x="6217920" y="1645920"/>
            <a:ext cx="5303520" cy="3840480"/>
          </a:xfrm>
          <a:prstGeom prst="rect">
            <a:avLst/>
          </a:prstGeom>
        </p:spPr>
      </p:pic>
      <p:sp>
        <p:nvSpPr>
          <p:cNvPr id="9" name="Rectangle 8"/>
          <p:cNvSpPr/>
          <p:nvPr/>
        </p:nvSpPr>
        <p:spPr>
          <a:xfrm>
            <a:off x="548640" y="5577840"/>
            <a:ext cx="10972800" cy="777240"/>
          </a:xfrm>
          <a:prstGeom prst="rect">
            <a:avLst/>
          </a:prstGeom>
          <a:solidFill>
            <a:srgbClr val="F0FDF4"/>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166534"/>
                </a:solidFill>
              </a:defRPr>
            </a:pPr>
            <a:r>
              <a:t>Model Scientific Thinking: The stomach secretes HCl to denature proteins and kill pathogens. In the duodenum, sodium bicarbonate (NaHCO₃) neutralizes the acid: HCl + NaHCO₃ → NaCl + H₂O + CO₂. This chemical system maintains precise pH boundaries essential for enzyme kinetics.</a:t>
            </a:r>
          </a:p>
        </p:txBody>
      </p:sp>
      <p:sp>
        <p:nvSpPr>
          <p:cNvPr id="10" name="TextBox 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LESSON 1 · STANDARD 10.ABC-DS.1</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Valence Electron States &amp; Periodic Reactivity Trends</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Inquiry: How do outermost electron configurations govern single displacement and acid reactivity?</a:t>
            </a:r>
          </a:p>
        </p:txBody>
      </p:sp>
      <p:sp>
        <p:nvSpPr>
          <p:cNvPr id="5" name="Rounded Rectangle 4"/>
          <p:cNvSpPr/>
          <p:nvPr/>
        </p:nvSpPr>
        <p:spPr>
          <a:xfrm>
            <a:off x="548640" y="1645920"/>
            <a:ext cx="5303520" cy="4480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3035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Atomic Models &amp; Electron Transfer Rules</a:t>
            </a:r>
          </a:p>
        </p:txBody>
      </p:sp>
      <p:sp>
        <p:nvSpPr>
          <p:cNvPr id="7" name="TextBox 6"/>
          <p:cNvSpPr txBox="1"/>
          <p:nvPr/>
        </p:nvSpPr>
        <p:spPr>
          <a:xfrm>
            <a:off x="731520" y="2176272"/>
            <a:ext cx="4937760" cy="3858768"/>
          </a:xfrm>
          <a:prstGeom prst="rect">
            <a:avLst/>
          </a:prstGeom>
          <a:noFill/>
        </p:spPr>
        <p:txBody>
          <a:bodyPr wrap="square">
            <a:spAutoFit/>
          </a:bodyPr>
          <a:lstStyle/>
          <a:p>
            <a:pPr>
              <a:spcAft>
                <a:spcPts val="300"/>
              </a:spcAft>
              <a:defRPr sz="1000">
                <a:solidFill>
                  <a:srgbClr val="0F172A"/>
                </a:solidFill>
              </a:defRPr>
            </a:pPr>
            <a:r>
              <a:t>🔑 Outermost Electrons Rule Reactivity:</a:t>
            </a:r>
          </a:p>
          <a:p>
            <a:pPr>
              <a:spcAft>
                <a:spcPts val="300"/>
              </a:spcAft>
              <a:defRPr sz="1000">
                <a:solidFill>
                  <a:srgbClr val="0F172A"/>
                </a:solidFill>
              </a:defRPr>
            </a:pPr>
            <a:r>
              <a:t>• Chemical reactivity is determined by valence electrons (electrons in the highest energy level).</a:t>
            </a:r>
          </a:p>
          <a:p>
            <a:pPr>
              <a:spcAft>
                <a:spcPts val="300"/>
              </a:spcAft>
              <a:defRPr sz="1000">
                <a:solidFill>
                  <a:srgbClr val="0F172A"/>
                </a:solidFill>
              </a:defRPr>
            </a:pPr>
            <a:r>
              <a:t>• Atoms react to achieve stable, low-energy noble gas configurations (full octet).</a:t>
            </a:r>
          </a:p>
          <a:p>
            <a:pPr>
              <a:spcAft>
                <a:spcPts val="300"/>
              </a:spcAft>
              <a:defRPr sz="1000">
                <a:solidFill>
                  <a:srgbClr val="0F172A"/>
                </a:solidFill>
              </a:defRPr>
            </a:pPr>
          </a:p>
          <a:p>
            <a:pPr>
              <a:spcAft>
                <a:spcPts val="300"/>
              </a:spcAft>
              <a:defRPr sz="1000">
                <a:solidFill>
                  <a:srgbClr val="0F172A"/>
                </a:solidFill>
              </a:defRPr>
            </a:pPr>
            <a:r>
              <a:t>⚡ Metals (Cation Formers):</a:t>
            </a:r>
          </a:p>
          <a:p>
            <a:pPr>
              <a:spcAft>
                <a:spcPts val="300"/>
              </a:spcAft>
              <a:defRPr sz="1000">
                <a:solidFill>
                  <a:srgbClr val="0F172A"/>
                </a:solidFill>
              </a:defRPr>
            </a:pPr>
            <a:r>
              <a:t>• Have 1, 2, or 3 valence electrons.</a:t>
            </a:r>
          </a:p>
          <a:p>
            <a:pPr>
              <a:spcAft>
                <a:spcPts val="300"/>
              </a:spcAft>
              <a:defRPr sz="1000">
                <a:solidFill>
                  <a:srgbClr val="0F172A"/>
                </a:solidFill>
              </a:defRPr>
            </a:pPr>
            <a:r>
              <a:t>• React by losing electrons (oxidation): M(s) -&gt; M^n+(aq) + n e-</a:t>
            </a:r>
          </a:p>
          <a:p>
            <a:pPr>
              <a:spcAft>
                <a:spcPts val="300"/>
              </a:spcAft>
              <a:defRPr sz="1000">
                <a:solidFill>
                  <a:srgbClr val="0F172A"/>
                </a:solidFill>
              </a:defRPr>
            </a:pPr>
            <a:r>
              <a:t>• Low electronegativity and low first ionization energy.</a:t>
            </a:r>
          </a:p>
          <a:p>
            <a:pPr>
              <a:spcAft>
                <a:spcPts val="300"/>
              </a:spcAft>
              <a:defRPr sz="1000">
                <a:solidFill>
                  <a:srgbClr val="0F172A"/>
                </a:solidFill>
              </a:defRPr>
            </a:pPr>
          </a:p>
          <a:p>
            <a:pPr>
              <a:spcAft>
                <a:spcPts val="300"/>
              </a:spcAft>
              <a:defRPr sz="1000">
                <a:solidFill>
                  <a:srgbClr val="0F172A"/>
                </a:solidFill>
              </a:defRPr>
            </a:pPr>
            <a:r>
              <a:t>⬇️ Down Group 1 &amp; 2: Metallic Reactivity INCREASES</a:t>
            </a:r>
          </a:p>
          <a:p>
            <a:pPr>
              <a:spcAft>
                <a:spcPts val="300"/>
              </a:spcAft>
              <a:defRPr sz="1000">
                <a:solidFill>
                  <a:srgbClr val="0F172A"/>
                </a:solidFill>
              </a:defRPr>
            </a:pPr>
            <a:r>
              <a:t>• Atomic radius increases; outer electrons occupy shells further from nucleus.</a:t>
            </a:r>
          </a:p>
          <a:p>
            <a:pPr>
              <a:spcAft>
                <a:spcPts val="300"/>
              </a:spcAft>
              <a:defRPr sz="1000">
                <a:solidFill>
                  <a:srgbClr val="0F172A"/>
                </a:solidFill>
              </a:defRPr>
            </a:pPr>
            <a:r>
              <a:t>• Increased electron shielding weakens nuclear electrostatic pull.</a:t>
            </a:r>
          </a:p>
          <a:p>
            <a:pPr>
              <a:spcAft>
                <a:spcPts val="300"/>
              </a:spcAft>
              <a:defRPr sz="1000">
                <a:solidFill>
                  <a:srgbClr val="0F172A"/>
                </a:solidFill>
              </a:defRPr>
            </a:pPr>
            <a:r>
              <a:t>• Valence electrons are lost far more easily (e.g. K &gt; Na &gt; Li).</a:t>
            </a:r>
          </a:p>
          <a:p>
            <a:pPr>
              <a:spcAft>
                <a:spcPts val="300"/>
              </a:spcAft>
              <a:defRPr sz="1000">
                <a:solidFill>
                  <a:srgbClr val="0F172A"/>
                </a:solidFill>
              </a:defRPr>
            </a:pPr>
          </a:p>
          <a:p>
            <a:pPr>
              <a:spcAft>
                <a:spcPts val="300"/>
              </a:spcAft>
              <a:defRPr sz="1000">
                <a:solidFill>
                  <a:srgbClr val="0F172A"/>
                </a:solidFill>
              </a:defRPr>
            </a:pPr>
            <a:r>
              <a:t>➡️ Across a Period (Left to Right): Metallic Reactivity DECREASES</a:t>
            </a:r>
          </a:p>
          <a:p>
            <a:pPr>
              <a:spcAft>
                <a:spcPts val="300"/>
              </a:spcAft>
              <a:defRPr sz="1000">
                <a:solidFill>
                  <a:srgbClr val="0F172A"/>
                </a:solidFill>
              </a:defRPr>
            </a:pPr>
            <a:r>
              <a:t>• Nuclear charge (protons) increases while shielding remains constant.</a:t>
            </a:r>
          </a:p>
          <a:p>
            <a:pPr>
              <a:spcAft>
                <a:spcPts val="300"/>
              </a:spcAft>
              <a:defRPr sz="1000">
                <a:solidFill>
                  <a:srgbClr val="0F172A"/>
                </a:solidFill>
              </a:defRPr>
            </a:pPr>
            <a:r>
              <a:t>• Stronger electrostatic attraction pulls valence electrons closer, binding them tightly.</a:t>
            </a:r>
          </a:p>
        </p:txBody>
      </p:sp>
      <p:pic>
        <p:nvPicPr>
          <p:cNvPr id="8" name="Picture 7" descr="diagram_periodic_trends.png"/>
          <p:cNvPicPr>
            <a:picLocks noChangeAspect="1"/>
          </p:cNvPicPr>
          <p:nvPr/>
        </p:nvPicPr>
        <p:blipFill>
          <a:blip r:embed="rId2"/>
          <a:stretch>
            <a:fillRect/>
          </a:stretch>
        </p:blipFill>
        <p:spPr>
          <a:xfrm>
            <a:off x="6217920" y="1645920"/>
            <a:ext cx="5303520" cy="2926080"/>
          </a:xfrm>
          <a:prstGeom prst="rect">
            <a:avLst/>
          </a:prstGeom>
        </p:spPr>
      </p:pic>
      <p:sp>
        <p:nvSpPr>
          <p:cNvPr id="9" name="Rounded Rectangle 8"/>
          <p:cNvSpPr/>
          <p:nvPr/>
        </p:nvSpPr>
        <p:spPr>
          <a:xfrm>
            <a:off x="6217920" y="4754880"/>
            <a:ext cx="5303520" cy="640080"/>
          </a:xfrm>
          <a:prstGeom prst="round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hlinkClick r:id="rId3"/>
              </a:rPr>
              <a:t>🧪 INTERACTIVE SIMULATION  PhET: Build an Atom &amp; Periodic Trends</a:t>
            </a:r>
          </a:p>
        </p:txBody>
      </p:sp>
      <p:sp>
        <p:nvSpPr>
          <p:cNvPr id="10" name="Rectangle 9"/>
          <p:cNvSpPr/>
          <p:nvPr/>
        </p:nvSpPr>
        <p:spPr>
          <a:xfrm>
            <a:off x="6217920" y="5486400"/>
            <a:ext cx="5303520" cy="731520"/>
          </a:xfrm>
          <a:prstGeom prst="rect">
            <a:avLst/>
          </a:prstGeom>
          <a:solidFill>
            <a:srgbClr val="FEF3C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2400E"/>
                </a:solidFill>
              </a:defRPr>
            </a:pPr>
            <a:r>
              <a:t>Activity Series Rule: Zn(s) + 2HCl(aq) -&gt; ZnCl2(aq) + H2(g) [REACTION]</a:t>
            </a:r>
            <a:br/>
            <a:r>
              <a:t>Cu(s) + HCl(aq) -&gt; NO REACTION (Cu has higher ionization energy than H!)</a:t>
            </a:r>
          </a:p>
        </p:txBody>
      </p:sp>
      <p:sp>
        <p:nvSpPr>
          <p:cNvPr id="11" name="TextBox 10"/>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COLLABORATIVE LEARNING</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Jigsaw Activity: The Great Electron &amp; Reactivity Showdown</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Format: 10 mins in Expert Groups -&gt; 15 mins in Home Jigsaw Groups to synthesize</a:t>
            </a:r>
          </a:p>
        </p:txBody>
      </p:sp>
      <p:sp>
        <p:nvSpPr>
          <p:cNvPr id="5" name="Rounded Rectangle 4"/>
          <p:cNvSpPr/>
          <p:nvPr/>
        </p:nvSpPr>
        <p:spPr>
          <a:xfrm>
            <a:off x="548640" y="1645920"/>
            <a:ext cx="25603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560320" cy="45720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Group 1: Alkali Metals (Gp 1)</a:t>
            </a:r>
          </a:p>
        </p:txBody>
      </p:sp>
      <p:sp>
        <p:nvSpPr>
          <p:cNvPr id="7" name="TextBox 6"/>
          <p:cNvSpPr txBox="1"/>
          <p:nvPr/>
        </p:nvSpPr>
        <p:spPr>
          <a:xfrm>
            <a:off x="731520" y="2176272"/>
            <a:ext cx="2194560" cy="3767328"/>
          </a:xfrm>
          <a:prstGeom prst="rect">
            <a:avLst/>
          </a:prstGeom>
          <a:noFill/>
        </p:spPr>
        <p:txBody>
          <a:bodyPr wrap="square">
            <a:spAutoFit/>
          </a:bodyPr>
          <a:lstStyle/>
          <a:p>
            <a:pPr>
              <a:spcAft>
                <a:spcPts val="300"/>
              </a:spcAft>
              <a:defRPr sz="1000">
                <a:solidFill>
                  <a:srgbClr val="0F172A"/>
                </a:solidFill>
              </a:defRPr>
            </a:pPr>
            <a:r>
              <a:t>👥 Expert Focus: Li vs Na vs K</a:t>
            </a:r>
          </a:p>
          <a:p>
            <a:pPr>
              <a:spcAft>
                <a:spcPts val="300"/>
              </a:spcAft>
              <a:defRPr sz="1000">
                <a:solidFill>
                  <a:srgbClr val="0F172A"/>
                </a:solidFill>
              </a:defRPr>
            </a:pPr>
          </a:p>
          <a:p>
            <a:pPr>
              <a:spcAft>
                <a:spcPts val="300"/>
              </a:spcAft>
              <a:defRPr sz="1000">
                <a:solidFill>
                  <a:srgbClr val="0F172A"/>
                </a:solidFill>
              </a:defRPr>
            </a:pPr>
            <a:r>
              <a:t>• Electron config: [He]2s1, [Ne]3s1, [Ar]4s1.</a:t>
            </a:r>
          </a:p>
          <a:p>
            <a:pPr>
              <a:spcAft>
                <a:spcPts val="300"/>
              </a:spcAft>
              <a:defRPr sz="1000">
                <a:solidFill>
                  <a:srgbClr val="0F172A"/>
                </a:solidFill>
              </a:defRPr>
            </a:pPr>
            <a:r>
              <a:t>• Analyze reaction vigor with water/acid.</a:t>
            </a:r>
          </a:p>
          <a:p>
            <a:pPr>
              <a:spcAft>
                <a:spcPts val="300"/>
              </a:spcAft>
              <a:defRPr sz="1000">
                <a:solidFill>
                  <a:srgbClr val="0F172A"/>
                </a:solidFill>
              </a:defRPr>
            </a:pPr>
            <a:r>
              <a:t>• Explain why K reacts explosively while Li reacts steadily using atomic radius and shielding.</a:t>
            </a:r>
          </a:p>
          <a:p>
            <a:pPr>
              <a:spcAft>
                <a:spcPts val="300"/>
              </a:spcAft>
              <a:defRPr sz="1000">
                <a:solidFill>
                  <a:srgbClr val="0F172A"/>
                </a:solidFill>
              </a:defRPr>
            </a:pPr>
            <a:r>
              <a:t>• Write ionic half-equations for electron loss: K -&gt; K+ + e-.</a:t>
            </a:r>
          </a:p>
        </p:txBody>
      </p:sp>
      <p:sp>
        <p:nvSpPr>
          <p:cNvPr id="8" name="Rounded Rectangle 7"/>
          <p:cNvSpPr/>
          <p:nvPr/>
        </p:nvSpPr>
        <p:spPr>
          <a:xfrm>
            <a:off x="3291840" y="1645920"/>
            <a:ext cx="25603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91840" y="1645920"/>
            <a:ext cx="2560320" cy="4572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Group 2: Alk. Earth (Gp 2)</a:t>
            </a:r>
          </a:p>
        </p:txBody>
      </p:sp>
      <p:sp>
        <p:nvSpPr>
          <p:cNvPr id="10" name="TextBox 9"/>
          <p:cNvSpPr txBox="1"/>
          <p:nvPr/>
        </p:nvSpPr>
        <p:spPr>
          <a:xfrm>
            <a:off x="3474720" y="2176272"/>
            <a:ext cx="2194560" cy="3767328"/>
          </a:xfrm>
          <a:prstGeom prst="rect">
            <a:avLst/>
          </a:prstGeom>
          <a:noFill/>
        </p:spPr>
        <p:txBody>
          <a:bodyPr wrap="square">
            <a:spAutoFit/>
          </a:bodyPr>
          <a:lstStyle/>
          <a:p>
            <a:pPr>
              <a:spcAft>
                <a:spcPts val="300"/>
              </a:spcAft>
              <a:defRPr sz="1000">
                <a:solidFill>
                  <a:srgbClr val="0F172A"/>
                </a:solidFill>
              </a:defRPr>
            </a:pPr>
            <a:r>
              <a:t>👥 Expert Focus: Mg vs Ca</a:t>
            </a:r>
          </a:p>
          <a:p>
            <a:pPr>
              <a:spcAft>
                <a:spcPts val="300"/>
              </a:spcAft>
              <a:defRPr sz="1000">
                <a:solidFill>
                  <a:srgbClr val="0F172A"/>
                </a:solidFill>
              </a:defRPr>
            </a:pPr>
          </a:p>
          <a:p>
            <a:pPr>
              <a:spcAft>
                <a:spcPts val="300"/>
              </a:spcAft>
              <a:defRPr sz="1000">
                <a:solidFill>
                  <a:srgbClr val="0F172A"/>
                </a:solidFill>
              </a:defRPr>
            </a:pPr>
            <a:r>
              <a:t>• Electron config: 2 valence electrons.</a:t>
            </a:r>
          </a:p>
          <a:p>
            <a:pPr>
              <a:spcAft>
                <a:spcPts val="300"/>
              </a:spcAft>
              <a:defRPr sz="1000">
                <a:solidFill>
                  <a:srgbClr val="0F172A"/>
                </a:solidFill>
              </a:defRPr>
            </a:pPr>
            <a:r>
              <a:t>• Compare first + second ionization energies.</a:t>
            </a:r>
          </a:p>
          <a:p>
            <a:pPr>
              <a:spcAft>
                <a:spcPts val="300"/>
              </a:spcAft>
              <a:defRPr sz="1000">
                <a:solidFill>
                  <a:srgbClr val="0F172A"/>
                </a:solidFill>
              </a:defRPr>
            </a:pPr>
            <a:r>
              <a:t>• Why does calcium displace H+ from cold water, but magnesium requires warm water or acid?</a:t>
            </a:r>
          </a:p>
          <a:p>
            <a:pPr>
              <a:spcAft>
                <a:spcPts val="300"/>
              </a:spcAft>
              <a:defRPr sz="1000">
                <a:solidFill>
                  <a:srgbClr val="0F172A"/>
                </a:solidFill>
              </a:defRPr>
            </a:pPr>
            <a:r>
              <a:t>• Model electron transfer to form M2+ cations.</a:t>
            </a:r>
          </a:p>
        </p:txBody>
      </p:sp>
      <p:sp>
        <p:nvSpPr>
          <p:cNvPr id="11" name="Rounded Rectangle 10"/>
          <p:cNvSpPr/>
          <p:nvPr/>
        </p:nvSpPr>
        <p:spPr>
          <a:xfrm>
            <a:off x="6035040" y="1645920"/>
            <a:ext cx="25603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35040" y="1645920"/>
            <a:ext cx="2560320" cy="4572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Group 3: Halogens (Gp 17)</a:t>
            </a:r>
          </a:p>
        </p:txBody>
      </p:sp>
      <p:sp>
        <p:nvSpPr>
          <p:cNvPr id="13" name="TextBox 12"/>
          <p:cNvSpPr txBox="1"/>
          <p:nvPr/>
        </p:nvSpPr>
        <p:spPr>
          <a:xfrm>
            <a:off x="6217920" y="2176272"/>
            <a:ext cx="2194560" cy="3767328"/>
          </a:xfrm>
          <a:prstGeom prst="rect">
            <a:avLst/>
          </a:prstGeom>
          <a:noFill/>
        </p:spPr>
        <p:txBody>
          <a:bodyPr wrap="square">
            <a:spAutoFit/>
          </a:bodyPr>
          <a:lstStyle/>
          <a:p>
            <a:pPr>
              <a:spcAft>
                <a:spcPts val="300"/>
              </a:spcAft>
              <a:defRPr sz="1000">
                <a:solidFill>
                  <a:srgbClr val="0F172A"/>
                </a:solidFill>
              </a:defRPr>
            </a:pPr>
            <a:r>
              <a:t>👥 Expert Focus: Cl2 vs Br2 vs I2</a:t>
            </a:r>
          </a:p>
          <a:p>
            <a:pPr>
              <a:spcAft>
                <a:spcPts val="300"/>
              </a:spcAft>
              <a:defRPr sz="1000">
                <a:solidFill>
                  <a:srgbClr val="0F172A"/>
                </a:solidFill>
              </a:defRPr>
            </a:pPr>
          </a:p>
          <a:p>
            <a:pPr>
              <a:spcAft>
                <a:spcPts val="300"/>
              </a:spcAft>
              <a:defRPr sz="1000">
                <a:solidFill>
                  <a:srgbClr val="0F172A"/>
                </a:solidFill>
              </a:defRPr>
            </a:pPr>
            <a:r>
              <a:t>• Electron config: 7 valence electrons.</a:t>
            </a:r>
          </a:p>
          <a:p>
            <a:pPr>
              <a:spcAft>
                <a:spcPts val="300"/>
              </a:spcAft>
              <a:defRPr sz="1000">
                <a:solidFill>
                  <a:srgbClr val="0F172A"/>
                </a:solidFill>
              </a:defRPr>
            </a:pPr>
            <a:r>
              <a:t>• Why does non-metal reactivity DECREASE down the group? (Opposite of metals!)</a:t>
            </a:r>
          </a:p>
          <a:p>
            <a:pPr>
              <a:spcAft>
                <a:spcPts val="300"/>
              </a:spcAft>
              <a:defRPr sz="1000">
                <a:solidFill>
                  <a:srgbClr val="0F172A"/>
                </a:solidFill>
              </a:defRPr>
            </a:pPr>
            <a:r>
              <a:t>• Model halogen displacement:</a:t>
            </a:r>
          </a:p>
          <a:p>
            <a:pPr>
              <a:spcAft>
                <a:spcPts val="300"/>
              </a:spcAft>
              <a:defRPr sz="1000">
                <a:solidFill>
                  <a:srgbClr val="0F172A"/>
                </a:solidFill>
              </a:defRPr>
            </a:pPr>
            <a:r>
              <a:t>  Cl2(aq) + 2 KBr(aq) -&gt; 2 KCl(aq) + Br2(aq)</a:t>
            </a:r>
          </a:p>
          <a:p>
            <a:pPr>
              <a:spcAft>
                <a:spcPts val="300"/>
              </a:spcAft>
              <a:defRPr sz="1000">
                <a:solidFill>
                  <a:srgbClr val="0F172A"/>
                </a:solidFill>
              </a:defRPr>
            </a:pPr>
            <a:r>
              <a:t>• Which species is reduced?</a:t>
            </a:r>
          </a:p>
        </p:txBody>
      </p:sp>
      <p:sp>
        <p:nvSpPr>
          <p:cNvPr id="14" name="Rounded Rectangle 13"/>
          <p:cNvSpPr/>
          <p:nvPr/>
        </p:nvSpPr>
        <p:spPr>
          <a:xfrm>
            <a:off x="8778240" y="1645920"/>
            <a:ext cx="25603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78240" y="1645920"/>
            <a:ext cx="25603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Group 4: Transition Metals</a:t>
            </a:r>
          </a:p>
        </p:txBody>
      </p:sp>
      <p:sp>
        <p:nvSpPr>
          <p:cNvPr id="16" name="TextBox 15"/>
          <p:cNvSpPr txBox="1"/>
          <p:nvPr/>
        </p:nvSpPr>
        <p:spPr>
          <a:xfrm>
            <a:off x="8961120" y="2176272"/>
            <a:ext cx="2194560" cy="3767328"/>
          </a:xfrm>
          <a:prstGeom prst="rect">
            <a:avLst/>
          </a:prstGeom>
          <a:noFill/>
        </p:spPr>
        <p:txBody>
          <a:bodyPr wrap="square">
            <a:spAutoFit/>
          </a:bodyPr>
          <a:lstStyle/>
          <a:p>
            <a:pPr>
              <a:spcAft>
                <a:spcPts val="300"/>
              </a:spcAft>
              <a:defRPr sz="1000">
                <a:solidFill>
                  <a:srgbClr val="0F172A"/>
                </a:solidFill>
              </a:defRPr>
            </a:pPr>
            <a:r>
              <a:t>👥 Expert Focus: Zn vs Fe vs Cu</a:t>
            </a:r>
          </a:p>
          <a:p>
            <a:pPr>
              <a:spcAft>
                <a:spcPts val="300"/>
              </a:spcAft>
              <a:defRPr sz="1000">
                <a:solidFill>
                  <a:srgbClr val="0F172A"/>
                </a:solidFill>
              </a:defRPr>
            </a:pPr>
          </a:p>
          <a:p>
            <a:pPr>
              <a:spcAft>
                <a:spcPts val="300"/>
              </a:spcAft>
              <a:defRPr sz="1000">
                <a:solidFill>
                  <a:srgbClr val="0F172A"/>
                </a:solidFill>
              </a:defRPr>
            </a:pPr>
            <a:r>
              <a:t>• Variable valency and reactivity plateau.</a:t>
            </a:r>
          </a:p>
          <a:p>
            <a:pPr>
              <a:spcAft>
                <a:spcPts val="300"/>
              </a:spcAft>
              <a:defRPr sz="1000">
                <a:solidFill>
                  <a:srgbClr val="0F172A"/>
                </a:solidFill>
              </a:defRPr>
            </a:pPr>
            <a:r>
              <a:t>• Investigate displacement of Cu2+ ions by Zinc granules (blue color fades, copper deposits).</a:t>
            </a:r>
          </a:p>
          <a:p>
            <a:pPr>
              <a:spcAft>
                <a:spcPts val="300"/>
              </a:spcAft>
              <a:defRPr sz="1000">
                <a:solidFill>
                  <a:srgbClr val="0F172A"/>
                </a:solidFill>
              </a:defRPr>
            </a:pPr>
            <a:r>
              <a:t>• Explain why copper pipes are used for household plumbing instead of iron or zinc.</a:t>
            </a:r>
          </a:p>
        </p:txBody>
      </p:sp>
      <p:sp>
        <p:nvSpPr>
          <p:cNvPr id="17" name="TextBox 16"/>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wipe dir="l"/>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CHECK FOR UNDERSTANDING</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Hinge Question 1: Predicting Single Displacement</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Show me: 1–4 fingers on 3-2-1</a:t>
            </a:r>
          </a:p>
        </p:txBody>
      </p:sp>
      <p:sp>
        <p:nvSpPr>
          <p:cNvPr id="5" name="TextBox 4"/>
          <p:cNvSpPr txBox="1"/>
          <p:nvPr/>
        </p:nvSpPr>
        <p:spPr>
          <a:xfrm>
            <a:off x="548640" y="1645920"/>
            <a:ext cx="10972800" cy="640080"/>
          </a:xfrm>
          <a:prstGeom prst="rect">
            <a:avLst/>
          </a:prstGeom>
          <a:noFill/>
        </p:spPr>
        <p:txBody>
          <a:bodyPr wrap="none">
            <a:spAutoFit/>
          </a:bodyPr>
          <a:lstStyle/>
          <a:p>
            <a:pPr>
              <a:defRPr sz="1200" b="1">
                <a:solidFill>
                  <a:srgbClr val="0F172A"/>
                </a:solidFill>
              </a:defRPr>
            </a:pPr>
            <a:r>
              <a:t>A strip of solid Nickel (Ni) is placed into Copper(II) sulfate (CuSO₄). Nickel is above copper on the activity series. What is observed and what is the electron transfer?</a:t>
            </a:r>
          </a:p>
        </p:txBody>
      </p:sp>
      <p:sp>
        <p:nvSpPr>
          <p:cNvPr id="6" name="Rounded Rectangle 5"/>
          <p:cNvSpPr/>
          <p:nvPr/>
        </p:nvSpPr>
        <p:spPr>
          <a:xfrm>
            <a:off x="548640" y="2377440"/>
            <a:ext cx="5486400" cy="621792"/>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248716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1</a:t>
            </a:r>
          </a:p>
        </p:txBody>
      </p:sp>
      <p:sp>
        <p:nvSpPr>
          <p:cNvPr id="8" name="TextBox 7"/>
          <p:cNvSpPr txBox="1"/>
          <p:nvPr/>
        </p:nvSpPr>
        <p:spPr>
          <a:xfrm>
            <a:off x="1188720" y="2450592"/>
            <a:ext cx="4663440" cy="457200"/>
          </a:xfrm>
          <a:prstGeom prst="rect">
            <a:avLst/>
          </a:prstGeom>
          <a:noFill/>
        </p:spPr>
        <p:txBody>
          <a:bodyPr wrap="square">
            <a:spAutoFit/>
          </a:bodyPr>
          <a:lstStyle/>
          <a:p>
            <a:pPr>
              <a:defRPr sz="1000">
                <a:solidFill>
                  <a:srgbClr val="0F172A"/>
                </a:solidFill>
              </a:defRPr>
            </a:pPr>
            <a:r>
              <a:t>No reaction occurs (copper is more electronegative).</a:t>
            </a:r>
          </a:p>
        </p:txBody>
      </p:sp>
      <p:sp>
        <p:nvSpPr>
          <p:cNvPr id="9" name="Rounded Rectangle 8"/>
          <p:cNvSpPr/>
          <p:nvPr/>
        </p:nvSpPr>
        <p:spPr>
          <a:xfrm>
            <a:off x="548640" y="3063240"/>
            <a:ext cx="5486400" cy="621792"/>
          </a:xfrm>
          <a:prstGeom prst="roundRect">
            <a:avLst/>
          </a:prstGeom>
          <a:solidFill>
            <a:srgbClr val="F0FDF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5800" y="317296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2</a:t>
            </a:r>
          </a:p>
        </p:txBody>
      </p:sp>
      <p:sp>
        <p:nvSpPr>
          <p:cNvPr id="11" name="TextBox 10"/>
          <p:cNvSpPr txBox="1"/>
          <p:nvPr/>
        </p:nvSpPr>
        <p:spPr>
          <a:xfrm>
            <a:off x="1188720" y="3136392"/>
            <a:ext cx="4663440" cy="457200"/>
          </a:xfrm>
          <a:prstGeom prst="rect">
            <a:avLst/>
          </a:prstGeom>
          <a:noFill/>
        </p:spPr>
        <p:txBody>
          <a:bodyPr wrap="square">
            <a:spAutoFit/>
          </a:bodyPr>
          <a:lstStyle/>
          <a:p>
            <a:pPr>
              <a:defRPr sz="1000">
                <a:solidFill>
                  <a:srgbClr val="0F172A"/>
                </a:solidFill>
              </a:defRPr>
            </a:pPr>
            <a:r>
              <a:t>Brown Cu solid deposits; Ni loses 2e⁻ to Cu²⁺ ions.</a:t>
            </a:r>
          </a:p>
        </p:txBody>
      </p:sp>
      <p:sp>
        <p:nvSpPr>
          <p:cNvPr id="12" name="Rounded Rectangle 11"/>
          <p:cNvSpPr/>
          <p:nvPr/>
        </p:nvSpPr>
        <p:spPr>
          <a:xfrm>
            <a:off x="548640" y="3749039"/>
            <a:ext cx="5486400" cy="621792"/>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5800" y="3858767"/>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3</a:t>
            </a:r>
          </a:p>
        </p:txBody>
      </p:sp>
      <p:sp>
        <p:nvSpPr>
          <p:cNvPr id="14" name="TextBox 13"/>
          <p:cNvSpPr txBox="1"/>
          <p:nvPr/>
        </p:nvSpPr>
        <p:spPr>
          <a:xfrm>
            <a:off x="1188720" y="3822191"/>
            <a:ext cx="4663440" cy="457200"/>
          </a:xfrm>
          <a:prstGeom prst="rect">
            <a:avLst/>
          </a:prstGeom>
          <a:noFill/>
        </p:spPr>
        <p:txBody>
          <a:bodyPr wrap="square">
            <a:spAutoFit/>
          </a:bodyPr>
          <a:lstStyle/>
          <a:p>
            <a:pPr>
              <a:defRPr sz="1000">
                <a:solidFill>
                  <a:srgbClr val="0F172A"/>
                </a:solidFill>
              </a:defRPr>
            </a:pPr>
            <a:r>
              <a:t>Nickel gains electrons, forming Ni²⁻ anions.</a:t>
            </a:r>
          </a:p>
        </p:txBody>
      </p:sp>
      <p:sp>
        <p:nvSpPr>
          <p:cNvPr id="15" name="Rounded Rectangle 14"/>
          <p:cNvSpPr/>
          <p:nvPr/>
        </p:nvSpPr>
        <p:spPr>
          <a:xfrm>
            <a:off x="548640" y="4434840"/>
            <a:ext cx="5486400" cy="621792"/>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454456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4</a:t>
            </a:r>
          </a:p>
        </p:txBody>
      </p:sp>
      <p:sp>
        <p:nvSpPr>
          <p:cNvPr id="17" name="TextBox 16"/>
          <p:cNvSpPr txBox="1"/>
          <p:nvPr/>
        </p:nvSpPr>
        <p:spPr>
          <a:xfrm>
            <a:off x="1188720" y="4507992"/>
            <a:ext cx="4663440" cy="457200"/>
          </a:xfrm>
          <a:prstGeom prst="rect">
            <a:avLst/>
          </a:prstGeom>
          <a:noFill/>
        </p:spPr>
        <p:txBody>
          <a:bodyPr wrap="square">
            <a:spAutoFit/>
          </a:bodyPr>
          <a:lstStyle/>
          <a:p>
            <a:pPr>
              <a:defRPr sz="1000">
                <a:solidFill>
                  <a:srgbClr val="0F172A"/>
                </a:solidFill>
              </a:defRPr>
            </a:pPr>
            <a:r>
              <a:t>Sulfate ions transfer electrons directly to Nickel.</a:t>
            </a:r>
          </a:p>
        </p:txBody>
      </p:sp>
      <p:pic>
        <p:nvPicPr>
          <p:cNvPr id="18" name="Picture 17" descr="visual_electron_leap.png"/>
          <p:cNvPicPr>
            <a:picLocks noChangeAspect="1"/>
          </p:cNvPicPr>
          <p:nvPr/>
        </p:nvPicPr>
        <p:blipFill>
          <a:blip r:embed="rId2"/>
          <a:stretch>
            <a:fillRect/>
          </a:stretch>
        </p:blipFill>
        <p:spPr>
          <a:xfrm>
            <a:off x="6217920" y="2377440"/>
            <a:ext cx="5303520" cy="2743200"/>
          </a:xfrm>
          <a:prstGeom prst="rect">
            <a:avLst/>
          </a:prstGeom>
        </p:spPr>
      </p:pic>
      <p:sp>
        <p:nvSpPr>
          <p:cNvPr id="19" name="Rectangle 18"/>
          <p:cNvSpPr/>
          <p:nvPr/>
        </p:nvSpPr>
        <p:spPr>
          <a:xfrm>
            <a:off x="548640" y="5303520"/>
            <a:ext cx="10972800" cy="914400"/>
          </a:xfrm>
          <a:prstGeom prst="rect">
            <a:avLst/>
          </a:prstGeom>
          <a:solidFill>
            <a:srgbClr val="DCFCE7"/>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166534"/>
                </a:solidFill>
              </a:defRPr>
            </a:pPr>
            <a:r>
              <a:t>✔ Correct Answer: 2 (Brown copper solid forms; Ni loses 2e⁻ to Cu²⁺).</a:t>
            </a:r>
          </a:p>
          <a:p>
            <a:pPr>
              <a:defRPr sz="950">
                <a:solidFill>
                  <a:srgbClr val="0F172A"/>
                </a:solidFill>
              </a:defRPr>
            </a:pPr>
            <a:r>
              <a:t>Diagnostic Rationale: Nickel has lower ionization energy and oxidizes: Ni(s) → Ni²⁺(aq) + 2e⁻. Dissolved Cu²⁺ ions accept these electrons and reduce: Cu²⁺(aq) + 2e⁻ → Cu(s). Spectator sulfate ions remain unchanged.</a:t>
            </a:r>
          </a:p>
        </p:txBody>
      </p:sp>
      <p:sp>
        <p:nvSpPr>
          <p:cNvPr id="20" name="TextBox 1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split orient="horz"/>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LESSON 2 · STANDARD 10.ABC-DS.3</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Characteristic Reactions of Acids &amp; Confirmation Gas Tests</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Inquiry: How do acids behave predictably with metals, bases, and carbonates?</a:t>
            </a:r>
          </a:p>
        </p:txBody>
      </p:sp>
      <p:sp>
        <p:nvSpPr>
          <p:cNvPr id="5" name="Rounded Rectangle 4"/>
          <p:cNvSpPr/>
          <p:nvPr/>
        </p:nvSpPr>
        <p:spPr>
          <a:xfrm>
            <a:off x="548640" y="1645920"/>
            <a:ext cx="3474720" cy="2103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4747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1. Acid + Metal</a:t>
            </a:r>
          </a:p>
        </p:txBody>
      </p:sp>
      <p:sp>
        <p:nvSpPr>
          <p:cNvPr id="7" name="TextBox 6"/>
          <p:cNvSpPr txBox="1"/>
          <p:nvPr/>
        </p:nvSpPr>
        <p:spPr>
          <a:xfrm>
            <a:off x="731520" y="2176272"/>
            <a:ext cx="3108960" cy="1481328"/>
          </a:xfrm>
          <a:prstGeom prst="rect">
            <a:avLst/>
          </a:prstGeom>
          <a:noFill/>
        </p:spPr>
        <p:txBody>
          <a:bodyPr wrap="square">
            <a:spAutoFit/>
          </a:bodyPr>
          <a:lstStyle/>
          <a:p>
            <a:pPr>
              <a:spcAft>
                <a:spcPts val="300"/>
              </a:spcAft>
              <a:defRPr sz="1000">
                <a:solidFill>
                  <a:srgbClr val="0F172A"/>
                </a:solidFill>
              </a:defRPr>
            </a:pPr>
            <a:r>
              <a:t>Acid + Metal -&gt; Salt + H2(g)</a:t>
            </a:r>
          </a:p>
          <a:p>
            <a:pPr>
              <a:spcAft>
                <a:spcPts val="300"/>
              </a:spcAft>
              <a:defRPr sz="1000">
                <a:solidFill>
                  <a:srgbClr val="0F172A"/>
                </a:solidFill>
              </a:defRPr>
            </a:pPr>
            <a:r>
              <a:t>2 HCl(aq) + Zn(s) -&gt; ZnCl2(aq) + H2(g)</a:t>
            </a:r>
          </a:p>
          <a:p>
            <a:pPr>
              <a:spcAft>
                <a:spcPts val="300"/>
              </a:spcAft>
              <a:defRPr sz="1000">
                <a:solidFill>
                  <a:srgbClr val="0F172A"/>
                </a:solidFill>
              </a:defRPr>
            </a:pPr>
            <a:r>
              <a:t>Ionic: 2H+ + Zn -&gt; Zn2+ + H2</a:t>
            </a:r>
          </a:p>
        </p:txBody>
      </p:sp>
      <p:sp>
        <p:nvSpPr>
          <p:cNvPr id="8" name="Rounded Rectangle 7"/>
          <p:cNvSpPr/>
          <p:nvPr/>
        </p:nvSpPr>
        <p:spPr>
          <a:xfrm>
            <a:off x="4297680" y="1645920"/>
            <a:ext cx="3474720" cy="2103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645920"/>
            <a:ext cx="3474720" cy="4572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2. Acid + Base</a:t>
            </a:r>
          </a:p>
        </p:txBody>
      </p:sp>
      <p:sp>
        <p:nvSpPr>
          <p:cNvPr id="10" name="TextBox 9"/>
          <p:cNvSpPr txBox="1"/>
          <p:nvPr/>
        </p:nvSpPr>
        <p:spPr>
          <a:xfrm>
            <a:off x="4480560" y="2176272"/>
            <a:ext cx="3108960" cy="1481328"/>
          </a:xfrm>
          <a:prstGeom prst="rect">
            <a:avLst/>
          </a:prstGeom>
          <a:noFill/>
        </p:spPr>
        <p:txBody>
          <a:bodyPr wrap="square">
            <a:spAutoFit/>
          </a:bodyPr>
          <a:lstStyle/>
          <a:p>
            <a:pPr>
              <a:spcAft>
                <a:spcPts val="300"/>
              </a:spcAft>
              <a:defRPr sz="1000">
                <a:solidFill>
                  <a:srgbClr val="0F172A"/>
                </a:solidFill>
              </a:defRPr>
            </a:pPr>
            <a:r>
              <a:t>Acid + Base -&gt; Salt + H2O(l)</a:t>
            </a:r>
          </a:p>
          <a:p>
            <a:pPr>
              <a:spcAft>
                <a:spcPts val="300"/>
              </a:spcAft>
              <a:defRPr sz="1000">
                <a:solidFill>
                  <a:srgbClr val="0F172A"/>
                </a:solidFill>
              </a:defRPr>
            </a:pPr>
            <a:r>
              <a:t>HCl(aq) + NaOH(aq) -&gt; NaCl(aq) + H2O(l)</a:t>
            </a:r>
          </a:p>
          <a:p>
            <a:pPr>
              <a:spcAft>
                <a:spcPts val="300"/>
              </a:spcAft>
              <a:defRPr sz="1000">
                <a:solidFill>
                  <a:srgbClr val="0F172A"/>
                </a:solidFill>
              </a:defRPr>
            </a:pPr>
            <a:r>
              <a:t>Net Ionic: H+(aq) + OH-(aq) -&gt; H2O(l)</a:t>
            </a:r>
          </a:p>
        </p:txBody>
      </p:sp>
      <p:sp>
        <p:nvSpPr>
          <p:cNvPr id="11" name="Rounded Rectangle 10"/>
          <p:cNvSpPr/>
          <p:nvPr/>
        </p:nvSpPr>
        <p:spPr>
          <a:xfrm>
            <a:off x="8046720" y="1645920"/>
            <a:ext cx="3474720" cy="2103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474720" cy="45720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3. Acid + Carbonate</a:t>
            </a:r>
          </a:p>
        </p:txBody>
      </p:sp>
      <p:sp>
        <p:nvSpPr>
          <p:cNvPr id="13" name="TextBox 12"/>
          <p:cNvSpPr txBox="1"/>
          <p:nvPr/>
        </p:nvSpPr>
        <p:spPr>
          <a:xfrm>
            <a:off x="8229600" y="2176272"/>
            <a:ext cx="3108960" cy="1481328"/>
          </a:xfrm>
          <a:prstGeom prst="rect">
            <a:avLst/>
          </a:prstGeom>
          <a:noFill/>
        </p:spPr>
        <p:txBody>
          <a:bodyPr wrap="square">
            <a:spAutoFit/>
          </a:bodyPr>
          <a:lstStyle/>
          <a:p>
            <a:pPr>
              <a:spcAft>
                <a:spcPts val="300"/>
              </a:spcAft>
              <a:defRPr sz="1000">
                <a:solidFill>
                  <a:srgbClr val="0F172A"/>
                </a:solidFill>
              </a:defRPr>
            </a:pPr>
            <a:r>
              <a:t>Acid + Carbonate -&gt; Salt + H2O + CO2(g)</a:t>
            </a:r>
          </a:p>
          <a:p>
            <a:pPr>
              <a:spcAft>
                <a:spcPts val="300"/>
              </a:spcAft>
              <a:defRPr sz="1000">
                <a:solidFill>
                  <a:srgbClr val="0F172A"/>
                </a:solidFill>
              </a:defRPr>
            </a:pPr>
            <a:r>
              <a:t>2 HNO3 + CaCO3 -&gt; Ca(NO3)2 + H2O + CO2</a:t>
            </a:r>
          </a:p>
          <a:p>
            <a:pPr>
              <a:spcAft>
                <a:spcPts val="300"/>
              </a:spcAft>
              <a:defRPr sz="1000">
                <a:solidFill>
                  <a:srgbClr val="0F172A"/>
                </a:solidFill>
              </a:defRPr>
            </a:pPr>
            <a:r>
              <a:t>Effervescent gas evolution</a:t>
            </a:r>
          </a:p>
        </p:txBody>
      </p:sp>
      <p:pic>
        <p:nvPicPr>
          <p:cNvPr id="14" name="Picture 13" descr="diagram_gas_tests.png"/>
          <p:cNvPicPr>
            <a:picLocks noChangeAspect="1"/>
          </p:cNvPicPr>
          <p:nvPr/>
        </p:nvPicPr>
        <p:blipFill>
          <a:blip r:embed="rId2"/>
          <a:stretch>
            <a:fillRect/>
          </a:stretch>
        </p:blipFill>
        <p:spPr>
          <a:xfrm>
            <a:off x="548640" y="3886200"/>
            <a:ext cx="11094415" cy="2514600"/>
          </a:xfrm>
          <a:prstGeom prst="rect">
            <a:avLst/>
          </a:prstGeom>
        </p:spPr>
      </p:pic>
      <p:sp>
        <p:nvSpPr>
          <p:cNvPr id="15" name="TextBox 14"/>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LESSON 2 (CONT) · STANDARD 10.ABC-DS.3</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Reactions of Bases with Ammonium Salts</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Inquiry: What happens when an alkali reacts with an ammonium salt?</a:t>
            </a:r>
          </a:p>
        </p:txBody>
      </p:sp>
      <p:sp>
        <p:nvSpPr>
          <p:cNvPr id="5" name="Rounded Rectangle 4"/>
          <p:cNvSpPr/>
          <p:nvPr/>
        </p:nvSpPr>
        <p:spPr>
          <a:xfrm>
            <a:off x="548640" y="1645920"/>
            <a:ext cx="53035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303520" cy="4572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The Base-Ammonium Salt Reaction</a:t>
            </a:r>
          </a:p>
        </p:txBody>
      </p:sp>
      <p:sp>
        <p:nvSpPr>
          <p:cNvPr id="7" name="TextBox 6"/>
          <p:cNvSpPr txBox="1"/>
          <p:nvPr/>
        </p:nvSpPr>
        <p:spPr>
          <a:xfrm>
            <a:off x="731520" y="2176272"/>
            <a:ext cx="4937760" cy="3767328"/>
          </a:xfrm>
          <a:prstGeom prst="rect">
            <a:avLst/>
          </a:prstGeom>
          <a:noFill/>
        </p:spPr>
        <p:txBody>
          <a:bodyPr wrap="square">
            <a:spAutoFit/>
          </a:bodyPr>
          <a:lstStyle/>
          <a:p>
            <a:pPr>
              <a:spcAft>
                <a:spcPts val="300"/>
              </a:spcAft>
              <a:defRPr sz="1000">
                <a:solidFill>
                  <a:srgbClr val="0F172A"/>
                </a:solidFill>
              </a:defRPr>
            </a:pPr>
            <a:r>
              <a:t>🧪 General Equation:</a:t>
            </a:r>
          </a:p>
          <a:p>
            <a:pPr>
              <a:spcAft>
                <a:spcPts val="300"/>
              </a:spcAft>
              <a:defRPr sz="1000">
                <a:solidFill>
                  <a:srgbClr val="0F172A"/>
                </a:solidFill>
              </a:defRPr>
            </a:pPr>
            <a:r>
              <a:t>Base (Alkali) + Ammonium Salt -&gt; Salt + Water + Ammonia Gas (NH3)</a:t>
            </a:r>
          </a:p>
          <a:p>
            <a:pPr>
              <a:spcAft>
                <a:spcPts val="300"/>
              </a:spcAft>
              <a:defRPr sz="1000">
                <a:solidFill>
                  <a:srgbClr val="0F172A"/>
                </a:solidFill>
              </a:defRPr>
            </a:pPr>
          </a:p>
          <a:p>
            <a:pPr>
              <a:spcAft>
                <a:spcPts val="300"/>
              </a:spcAft>
              <a:defRPr sz="1000">
                <a:solidFill>
                  <a:srgbClr val="0F172A"/>
                </a:solidFill>
              </a:defRPr>
            </a:pPr>
            <a:r>
              <a:t>Chemical Mechanism:</a:t>
            </a:r>
          </a:p>
          <a:p>
            <a:pPr>
              <a:spcAft>
                <a:spcPts val="300"/>
              </a:spcAft>
              <a:defRPr sz="1000">
                <a:solidFill>
                  <a:srgbClr val="0F172A"/>
                </a:solidFill>
              </a:defRPr>
            </a:pPr>
            <a:r>
              <a:t>• Ammonium ion (NH4+) is a weak conjugate acid.</a:t>
            </a:r>
          </a:p>
          <a:p>
            <a:pPr>
              <a:spcAft>
                <a:spcPts val="300"/>
              </a:spcAft>
              <a:defRPr sz="1000">
                <a:solidFill>
                  <a:srgbClr val="0F172A"/>
                </a:solidFill>
              </a:defRPr>
            </a:pPr>
            <a:r>
              <a:t>• Hydroxide ions (OH-) from strong bases strip a proton (H+) from NH4+:</a:t>
            </a:r>
          </a:p>
          <a:p>
            <a:pPr>
              <a:spcAft>
                <a:spcPts val="300"/>
              </a:spcAft>
              <a:defRPr sz="1000">
                <a:solidFill>
                  <a:srgbClr val="0F172A"/>
                </a:solidFill>
              </a:defRPr>
            </a:pPr>
            <a:r>
              <a:t>  NH4+(aq) + OH-(aq) -&gt; NH3(g) + H2O(l)</a:t>
            </a:r>
          </a:p>
          <a:p>
            <a:pPr>
              <a:spcAft>
                <a:spcPts val="300"/>
              </a:spcAft>
              <a:defRPr sz="1000">
                <a:solidFill>
                  <a:srgbClr val="0F172A"/>
                </a:solidFill>
              </a:defRPr>
            </a:pPr>
          </a:p>
          <a:p>
            <a:pPr>
              <a:spcAft>
                <a:spcPts val="300"/>
              </a:spcAft>
              <a:defRPr sz="1000">
                <a:solidFill>
                  <a:srgbClr val="0F172A"/>
                </a:solidFill>
              </a:defRPr>
            </a:pPr>
            <a:r>
              <a:t>Key Example:</a:t>
            </a:r>
          </a:p>
          <a:p>
            <a:pPr>
              <a:spcAft>
                <a:spcPts val="300"/>
              </a:spcAft>
              <a:defRPr sz="1000">
                <a:solidFill>
                  <a:srgbClr val="0F172A"/>
                </a:solidFill>
              </a:defRPr>
            </a:pPr>
            <a:r>
              <a:t>  NaOH(aq) + NH4Cl(aq) --(heat)--&gt; NaCl(aq) + H2O(l) + NH3(g)</a:t>
            </a:r>
          </a:p>
          <a:p>
            <a:pPr>
              <a:spcAft>
                <a:spcPts val="300"/>
              </a:spcAft>
              <a:defRPr sz="1000">
                <a:solidFill>
                  <a:srgbClr val="0F172A"/>
                </a:solidFill>
              </a:defRPr>
            </a:pPr>
          </a:p>
          <a:p>
            <a:pPr>
              <a:spcAft>
                <a:spcPts val="300"/>
              </a:spcAft>
              <a:defRPr sz="1000">
                <a:solidFill>
                  <a:srgbClr val="0F172A"/>
                </a:solidFill>
              </a:defRPr>
            </a:pPr>
            <a:r>
              <a:t>Agricultural &amp; Environmental Context:</a:t>
            </a:r>
          </a:p>
          <a:p>
            <a:pPr>
              <a:spcAft>
                <a:spcPts val="300"/>
              </a:spcAft>
              <a:defRPr sz="1000">
                <a:solidFill>
                  <a:srgbClr val="0F172A"/>
                </a:solidFill>
              </a:defRPr>
            </a:pPr>
            <a:r>
              <a:t>• Why farmers must NEVER mix ammonium nitrate fertilizers with slaked lime (Ca(OH)2)—it releases nitrogen as volatile ammonia gas into the air, wasting expensive fertilizer!</a:t>
            </a:r>
          </a:p>
        </p:txBody>
      </p:sp>
      <p:sp>
        <p:nvSpPr>
          <p:cNvPr id="8" name="Rounded Rectangle 7"/>
          <p:cNvSpPr/>
          <p:nvPr/>
        </p:nvSpPr>
        <p:spPr>
          <a:xfrm>
            <a:off x="6217920" y="1645920"/>
            <a:ext cx="53035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303520" cy="4572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Confirmation &amp; Testing for Ammonia (NH3)</a:t>
            </a:r>
          </a:p>
        </p:txBody>
      </p:sp>
      <p:sp>
        <p:nvSpPr>
          <p:cNvPr id="10" name="TextBox 9"/>
          <p:cNvSpPr txBox="1"/>
          <p:nvPr/>
        </p:nvSpPr>
        <p:spPr>
          <a:xfrm>
            <a:off x="6400800" y="2176272"/>
            <a:ext cx="4937760" cy="3767328"/>
          </a:xfrm>
          <a:prstGeom prst="rect">
            <a:avLst/>
          </a:prstGeom>
          <a:noFill/>
        </p:spPr>
        <p:txBody>
          <a:bodyPr wrap="square">
            <a:spAutoFit/>
          </a:bodyPr>
          <a:lstStyle/>
          <a:p>
            <a:pPr>
              <a:spcAft>
                <a:spcPts val="300"/>
              </a:spcAft>
              <a:defRPr sz="1000">
                <a:solidFill>
                  <a:srgbClr val="0F172A"/>
                </a:solidFill>
              </a:defRPr>
            </a:pPr>
            <a:r>
              <a:t>🔬 Gas Confirmation Test:</a:t>
            </a:r>
          </a:p>
          <a:p>
            <a:pPr>
              <a:spcAft>
                <a:spcPts val="300"/>
              </a:spcAft>
              <a:defRPr sz="1000">
                <a:solidFill>
                  <a:srgbClr val="0F172A"/>
                </a:solidFill>
              </a:defRPr>
            </a:pPr>
            <a:r>
              <a:t>1. Damp Red Litmus Paper Test:</a:t>
            </a:r>
          </a:p>
          <a:p>
            <a:pPr>
              <a:spcAft>
                <a:spcPts val="300"/>
              </a:spcAft>
              <a:defRPr sz="1000">
                <a:solidFill>
                  <a:srgbClr val="0F172A"/>
                </a:solidFill>
              </a:defRPr>
            </a:pPr>
            <a:r>
              <a:t>  • Hold a strip of damp red litmus paper near the mouth of the reaction tube.</a:t>
            </a:r>
          </a:p>
          <a:p>
            <a:pPr>
              <a:spcAft>
                <a:spcPts val="300"/>
              </a:spcAft>
              <a:defRPr sz="1000">
                <a:solidFill>
                  <a:srgbClr val="0F172A"/>
                </a:solidFill>
              </a:defRPr>
            </a:pPr>
            <a:r>
              <a:t>  • Result: Turns blue! (Ammonia is the ONLY common alkaline gas).</a:t>
            </a:r>
          </a:p>
          <a:p>
            <a:pPr>
              <a:spcAft>
                <a:spcPts val="300"/>
              </a:spcAft>
              <a:defRPr sz="1000">
                <a:solidFill>
                  <a:srgbClr val="0F172A"/>
                </a:solidFill>
              </a:defRPr>
            </a:pPr>
            <a:r>
              <a:t>  • Why must the paper be DAMP? Ammonia gas dissolves in water to produce hydroxide ions:</a:t>
            </a:r>
          </a:p>
          <a:p>
            <a:pPr>
              <a:spcAft>
                <a:spcPts val="300"/>
              </a:spcAft>
              <a:defRPr sz="1000">
                <a:solidFill>
                  <a:srgbClr val="0F172A"/>
                </a:solidFill>
              </a:defRPr>
            </a:pPr>
            <a:r>
              <a:t>    NH3(g) + H2O(l) &lt;-&gt; NH4+(aq) + OH-(aq)</a:t>
            </a:r>
          </a:p>
          <a:p>
            <a:pPr>
              <a:spcAft>
                <a:spcPts val="300"/>
              </a:spcAft>
              <a:defRPr sz="1000">
                <a:solidFill>
                  <a:srgbClr val="0F172A"/>
                </a:solidFill>
              </a:defRPr>
            </a:pPr>
          </a:p>
          <a:p>
            <a:pPr>
              <a:spcAft>
                <a:spcPts val="300"/>
              </a:spcAft>
              <a:defRPr sz="1000">
                <a:solidFill>
                  <a:srgbClr val="0F172A"/>
                </a:solidFill>
              </a:defRPr>
            </a:pPr>
            <a:r>
              <a:t>2. Sensory / Odor Observation:</a:t>
            </a:r>
          </a:p>
          <a:p>
            <a:pPr>
              <a:spcAft>
                <a:spcPts val="300"/>
              </a:spcAft>
              <a:defRPr sz="1000">
                <a:solidFill>
                  <a:srgbClr val="0F172A"/>
                </a:solidFill>
              </a:defRPr>
            </a:pPr>
            <a:r>
              <a:t>  • Sharp, pungent, choking smell (smelling salts).</a:t>
            </a:r>
          </a:p>
          <a:p>
            <a:pPr>
              <a:spcAft>
                <a:spcPts val="300"/>
              </a:spcAft>
              <a:defRPr sz="1000">
                <a:solidFill>
                  <a:srgbClr val="0F172A"/>
                </a:solidFill>
              </a:defRPr>
            </a:pPr>
          </a:p>
          <a:p>
            <a:pPr>
              <a:spcAft>
                <a:spcPts val="300"/>
              </a:spcAft>
              <a:defRPr sz="1000">
                <a:solidFill>
                  <a:srgbClr val="0F172A"/>
                </a:solidFill>
              </a:defRPr>
            </a:pPr>
            <a:r>
              <a:t>3. Dense White Smoke Test (Extension):</a:t>
            </a:r>
          </a:p>
          <a:p>
            <a:pPr>
              <a:spcAft>
                <a:spcPts val="300"/>
              </a:spcAft>
              <a:defRPr sz="1000">
                <a:solidFill>
                  <a:srgbClr val="0F172A"/>
                </a:solidFill>
              </a:defRPr>
            </a:pPr>
            <a:r>
              <a:t>  • Bring a glass rod dipped in concentrated HCl near NH3 gas:</a:t>
            </a:r>
          </a:p>
          <a:p>
            <a:pPr>
              <a:spcAft>
                <a:spcPts val="300"/>
              </a:spcAft>
              <a:defRPr sz="1000">
                <a:solidFill>
                  <a:srgbClr val="0F172A"/>
                </a:solidFill>
              </a:defRPr>
            </a:pPr>
            <a:r>
              <a:t>  • NH3(g) + HCl(g) -&gt; NH4Cl(s) (dense white fumes of ammonium chloride).</a:t>
            </a:r>
          </a:p>
        </p:txBody>
      </p:sp>
      <p:sp>
        <p:nvSpPr>
          <p:cNvPr id="11" name="TextBox 10"/>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INVESTIGATION</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Inquiry Lab: 4 Rotating Characteristic Reaction Stations</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Protocol: Groups of 3–4 rotate every 8 minutes. Predict -&gt; Test -&gt; Record -&gt; Explain.</a:t>
            </a:r>
          </a:p>
        </p:txBody>
      </p:sp>
      <p:sp>
        <p:nvSpPr>
          <p:cNvPr id="5" name="Rounded Rectangle 4"/>
          <p:cNvSpPr/>
          <p:nvPr/>
        </p:nvSpPr>
        <p:spPr>
          <a:xfrm>
            <a:off x="548640" y="1645920"/>
            <a:ext cx="5303520" cy="2103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3035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Station A: Acid + Metal</a:t>
            </a:r>
          </a:p>
        </p:txBody>
      </p:sp>
      <p:sp>
        <p:nvSpPr>
          <p:cNvPr id="7" name="TextBox 6"/>
          <p:cNvSpPr txBox="1"/>
          <p:nvPr/>
        </p:nvSpPr>
        <p:spPr>
          <a:xfrm>
            <a:off x="731520" y="2176272"/>
            <a:ext cx="4937760" cy="1481328"/>
          </a:xfrm>
          <a:prstGeom prst="rect">
            <a:avLst/>
          </a:prstGeom>
          <a:noFill/>
        </p:spPr>
        <p:txBody>
          <a:bodyPr wrap="square">
            <a:spAutoFit/>
          </a:bodyPr>
          <a:lstStyle/>
          <a:p>
            <a:pPr>
              <a:spcAft>
                <a:spcPts val="300"/>
              </a:spcAft>
              <a:defRPr sz="1000">
                <a:solidFill>
                  <a:srgbClr val="0F172A"/>
                </a:solidFill>
              </a:defRPr>
            </a:pPr>
            <a:r>
              <a:t>🧪 Reagents: Mg ribbon + 1.0 M HCl</a:t>
            </a:r>
          </a:p>
          <a:p>
            <a:pPr>
              <a:spcAft>
                <a:spcPts val="300"/>
              </a:spcAft>
              <a:defRPr sz="1000">
                <a:solidFill>
                  <a:srgbClr val="0F172A"/>
                </a:solidFill>
              </a:defRPr>
            </a:pPr>
            <a:r>
              <a:t>📋 Action: Collect gas with inverted boiling tube; test with burning splint for pop sound.</a:t>
            </a:r>
          </a:p>
          <a:p>
            <a:pPr>
              <a:spcAft>
                <a:spcPts val="300"/>
              </a:spcAft>
              <a:defRPr sz="1000">
                <a:solidFill>
                  <a:srgbClr val="0F172A"/>
                </a:solidFill>
              </a:defRPr>
            </a:pPr>
            <a:r>
              <a:t>⚗️ Target Equation: 2 HCl + Mg -&gt; MgCl2 + H2</a:t>
            </a:r>
          </a:p>
        </p:txBody>
      </p:sp>
      <p:sp>
        <p:nvSpPr>
          <p:cNvPr id="8" name="Rounded Rectangle 7"/>
          <p:cNvSpPr/>
          <p:nvPr/>
        </p:nvSpPr>
        <p:spPr>
          <a:xfrm>
            <a:off x="6126479" y="1645920"/>
            <a:ext cx="5303520" cy="2103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79" y="1645920"/>
            <a:ext cx="5303520" cy="4572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Station B: Acid + Carbonate</a:t>
            </a:r>
          </a:p>
        </p:txBody>
      </p:sp>
      <p:sp>
        <p:nvSpPr>
          <p:cNvPr id="10" name="TextBox 9"/>
          <p:cNvSpPr txBox="1"/>
          <p:nvPr/>
        </p:nvSpPr>
        <p:spPr>
          <a:xfrm>
            <a:off x="6309359" y="2176272"/>
            <a:ext cx="4937760" cy="1481328"/>
          </a:xfrm>
          <a:prstGeom prst="rect">
            <a:avLst/>
          </a:prstGeom>
          <a:noFill/>
        </p:spPr>
        <p:txBody>
          <a:bodyPr wrap="square">
            <a:spAutoFit/>
          </a:bodyPr>
          <a:lstStyle/>
          <a:p>
            <a:pPr>
              <a:spcAft>
                <a:spcPts val="300"/>
              </a:spcAft>
              <a:defRPr sz="1000">
                <a:solidFill>
                  <a:srgbClr val="0F172A"/>
                </a:solidFill>
              </a:defRPr>
            </a:pPr>
            <a:r>
              <a:t>🧪 Reagents: Solid CaCO3 + 1.0 M HNO3</a:t>
            </a:r>
          </a:p>
          <a:p>
            <a:pPr>
              <a:spcAft>
                <a:spcPts val="300"/>
              </a:spcAft>
              <a:defRPr sz="1000">
                <a:solidFill>
                  <a:srgbClr val="0F172A"/>
                </a:solidFill>
              </a:defRPr>
            </a:pPr>
            <a:r>
              <a:t>📋 Action: Deliver effervescing gas via delivery tube into limewater; observe cloudiness.</a:t>
            </a:r>
          </a:p>
          <a:p>
            <a:pPr>
              <a:spcAft>
                <a:spcPts val="300"/>
              </a:spcAft>
              <a:defRPr sz="1000">
                <a:solidFill>
                  <a:srgbClr val="0F172A"/>
                </a:solidFill>
              </a:defRPr>
            </a:pPr>
            <a:r>
              <a:t>⚗️ Target Equation: 2 HNO3 + CaCO3 -&gt; Ca(NO3)2 + H2O + CO2</a:t>
            </a:r>
          </a:p>
        </p:txBody>
      </p:sp>
      <p:sp>
        <p:nvSpPr>
          <p:cNvPr id="11" name="Rounded Rectangle 10"/>
          <p:cNvSpPr/>
          <p:nvPr/>
        </p:nvSpPr>
        <p:spPr>
          <a:xfrm>
            <a:off x="548640" y="3931920"/>
            <a:ext cx="5303520" cy="2103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31920"/>
            <a:ext cx="5303520" cy="4572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Station C: Acid + Base</a:t>
            </a:r>
          </a:p>
        </p:txBody>
      </p:sp>
      <p:sp>
        <p:nvSpPr>
          <p:cNvPr id="13" name="TextBox 12"/>
          <p:cNvSpPr txBox="1"/>
          <p:nvPr/>
        </p:nvSpPr>
        <p:spPr>
          <a:xfrm>
            <a:off x="731520" y="4462272"/>
            <a:ext cx="4937760" cy="1481328"/>
          </a:xfrm>
          <a:prstGeom prst="rect">
            <a:avLst/>
          </a:prstGeom>
          <a:noFill/>
        </p:spPr>
        <p:txBody>
          <a:bodyPr wrap="square">
            <a:spAutoFit/>
          </a:bodyPr>
          <a:lstStyle/>
          <a:p>
            <a:pPr>
              <a:spcAft>
                <a:spcPts val="300"/>
              </a:spcAft>
              <a:defRPr sz="1000">
                <a:solidFill>
                  <a:srgbClr val="0F172A"/>
                </a:solidFill>
              </a:defRPr>
            </a:pPr>
            <a:r>
              <a:t>🧪 Reagents: Solid CuO + 1.0 M H2SO4 (warm)</a:t>
            </a:r>
          </a:p>
          <a:p>
            <a:pPr>
              <a:spcAft>
                <a:spcPts val="300"/>
              </a:spcAft>
              <a:defRPr sz="1000">
                <a:solidFill>
                  <a:srgbClr val="0F172A"/>
                </a:solidFill>
              </a:defRPr>
            </a:pPr>
            <a:r>
              <a:t>📋 Action: Warm black copper(II) oxide in dilute acid; observe blue copper sulfate solution.</a:t>
            </a:r>
          </a:p>
          <a:p>
            <a:pPr>
              <a:spcAft>
                <a:spcPts val="300"/>
              </a:spcAft>
              <a:defRPr sz="1000">
                <a:solidFill>
                  <a:srgbClr val="0F172A"/>
                </a:solidFill>
              </a:defRPr>
            </a:pPr>
            <a:r>
              <a:t>⚗️ Target Equation: H2SO4 + CuO -&gt; CuSO4 + H2O</a:t>
            </a:r>
          </a:p>
        </p:txBody>
      </p:sp>
      <p:sp>
        <p:nvSpPr>
          <p:cNvPr id="14" name="Rounded Rectangle 13"/>
          <p:cNvSpPr/>
          <p:nvPr/>
        </p:nvSpPr>
        <p:spPr>
          <a:xfrm>
            <a:off x="6126479" y="3931920"/>
            <a:ext cx="5303520" cy="2103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79" y="3931920"/>
            <a:ext cx="5303520" cy="45720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Station D: Base + Ammonium</a:t>
            </a:r>
          </a:p>
        </p:txBody>
      </p:sp>
      <p:sp>
        <p:nvSpPr>
          <p:cNvPr id="16" name="TextBox 15"/>
          <p:cNvSpPr txBox="1"/>
          <p:nvPr/>
        </p:nvSpPr>
        <p:spPr>
          <a:xfrm>
            <a:off x="6309359" y="4462272"/>
            <a:ext cx="4937760" cy="1481328"/>
          </a:xfrm>
          <a:prstGeom prst="rect">
            <a:avLst/>
          </a:prstGeom>
          <a:noFill/>
        </p:spPr>
        <p:txBody>
          <a:bodyPr wrap="square">
            <a:spAutoFit/>
          </a:bodyPr>
          <a:lstStyle/>
          <a:p>
            <a:pPr>
              <a:spcAft>
                <a:spcPts val="300"/>
              </a:spcAft>
              <a:defRPr sz="1000">
                <a:solidFill>
                  <a:srgbClr val="0F172A"/>
                </a:solidFill>
              </a:defRPr>
            </a:pPr>
            <a:r>
              <a:t>🧪 Reagents: NH4Cl(s) + 1.0 M NaOH (gentle heat)</a:t>
            </a:r>
          </a:p>
          <a:p>
            <a:pPr>
              <a:spcAft>
                <a:spcPts val="300"/>
              </a:spcAft>
              <a:defRPr sz="1000">
                <a:solidFill>
                  <a:srgbClr val="0F172A"/>
                </a:solidFill>
              </a:defRPr>
            </a:pPr>
            <a:r>
              <a:t>📋 Action: Hold damp red litmus paper over mouth; observe rapid shift to blue.</a:t>
            </a:r>
          </a:p>
          <a:p>
            <a:pPr>
              <a:spcAft>
                <a:spcPts val="300"/>
              </a:spcAft>
              <a:defRPr sz="1000">
                <a:solidFill>
                  <a:srgbClr val="0F172A"/>
                </a:solidFill>
              </a:defRPr>
            </a:pPr>
            <a:r>
              <a:t>⚗️ Target Equation: NaOH + NH4Cl -&gt; NaCl + H2O + NH3</a:t>
            </a:r>
          </a:p>
        </p:txBody>
      </p:sp>
      <p:sp>
        <p:nvSpPr>
          <p:cNvPr id="17" name="TextBox 16"/>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wipe dir="l"/>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LESSON 3 · STANDARD 10.ABC-DS.4</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The pH Scale, [H⁺] Concentration &amp; Synthetic Indicators</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Inquiry: How do indicators and the logarithmic pH scale measure hydrogen ion concentration?</a:t>
            </a:r>
          </a:p>
        </p:txBody>
      </p:sp>
      <p:sp>
        <p:nvSpPr>
          <p:cNvPr id="5" name="Rounded Rectangle 4"/>
          <p:cNvSpPr/>
          <p:nvPr/>
        </p:nvSpPr>
        <p:spPr>
          <a:xfrm>
            <a:off x="548640" y="1645920"/>
            <a:ext cx="530352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3035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Logarithmic Nature of pH &amp; Indicators</a:t>
            </a:r>
          </a:p>
        </p:txBody>
      </p:sp>
      <p:sp>
        <p:nvSpPr>
          <p:cNvPr id="7" name="TextBox 6"/>
          <p:cNvSpPr txBox="1"/>
          <p:nvPr/>
        </p:nvSpPr>
        <p:spPr>
          <a:xfrm>
            <a:off x="731520" y="2176272"/>
            <a:ext cx="4937760" cy="1572768"/>
          </a:xfrm>
          <a:prstGeom prst="rect">
            <a:avLst/>
          </a:prstGeom>
          <a:noFill/>
        </p:spPr>
        <p:txBody>
          <a:bodyPr wrap="square">
            <a:spAutoFit/>
          </a:bodyPr>
          <a:lstStyle/>
          <a:p>
            <a:pPr>
              <a:spcAft>
                <a:spcPts val="300"/>
              </a:spcAft>
              <a:defRPr sz="1000">
                <a:solidFill>
                  <a:srgbClr val="0F172A"/>
                </a:solidFill>
              </a:defRPr>
            </a:pPr>
            <a:r>
              <a:t>• pH = -log₁₀[H⁺]. 1 pH unit shift = TEN-FOLD (10×) change in [H⁺]!</a:t>
            </a:r>
          </a:p>
          <a:p>
            <a:pPr>
              <a:spcAft>
                <a:spcPts val="300"/>
              </a:spcAft>
              <a:defRPr sz="1000">
                <a:solidFill>
                  <a:srgbClr val="0F172A"/>
                </a:solidFill>
              </a:defRPr>
            </a:pPr>
            <a:r>
              <a:t>• pH 1 (Gastric juice) has 1,000,000× more H⁺ than neutral pH 7.</a:t>
            </a:r>
          </a:p>
          <a:p>
            <a:pPr>
              <a:spcAft>
                <a:spcPts val="300"/>
              </a:spcAft>
              <a:defRPr sz="1000">
                <a:solidFill>
                  <a:srgbClr val="0F172A"/>
                </a:solidFill>
              </a:defRPr>
            </a:pPr>
            <a:r>
              <a:t>• Phenolphthalein: Colorless (pH &lt; 8.2) → Faint Pink (pH 8.2 – 10.0).</a:t>
            </a:r>
          </a:p>
          <a:p>
            <a:pPr>
              <a:spcAft>
                <a:spcPts val="300"/>
              </a:spcAft>
              <a:defRPr sz="1000">
                <a:solidFill>
                  <a:srgbClr val="0F172A"/>
                </a:solidFill>
              </a:defRPr>
            </a:pPr>
            <a:r>
              <a:t>• Litmus: Red (pH &lt; 4.5) → Blue (pH &gt; 8.3) | Methyl Orange: Red → Yellow.</a:t>
            </a:r>
          </a:p>
        </p:txBody>
      </p:sp>
      <p:pic>
        <p:nvPicPr>
          <p:cNvPr id="8" name="Picture 7" descr="visual_acid_dissociation.png"/>
          <p:cNvPicPr>
            <a:picLocks noChangeAspect="1"/>
          </p:cNvPicPr>
          <p:nvPr/>
        </p:nvPicPr>
        <p:blipFill>
          <a:blip r:embed="rId2"/>
          <a:stretch>
            <a:fillRect/>
          </a:stretch>
        </p:blipFill>
        <p:spPr>
          <a:xfrm>
            <a:off x="6217920" y="1645920"/>
            <a:ext cx="5303520" cy="2194560"/>
          </a:xfrm>
          <a:prstGeom prst="rect">
            <a:avLst/>
          </a:prstGeom>
        </p:spPr>
      </p:pic>
      <p:pic>
        <p:nvPicPr>
          <p:cNvPr id="9" name="Picture 8" descr="diagram_ph_scale.png"/>
          <p:cNvPicPr>
            <a:picLocks noChangeAspect="1"/>
          </p:cNvPicPr>
          <p:nvPr/>
        </p:nvPicPr>
        <p:blipFill>
          <a:blip r:embed="rId3"/>
          <a:stretch>
            <a:fillRect/>
          </a:stretch>
        </p:blipFill>
        <p:spPr>
          <a:xfrm>
            <a:off x="548640" y="3977639"/>
            <a:ext cx="11094415" cy="2423160"/>
          </a:xfrm>
          <a:prstGeom prst="rect">
            <a:avLst/>
          </a:prstGeom>
        </p:spPr>
      </p:pic>
      <p:sp>
        <p:nvSpPr>
          <p:cNvPr id="10" name="TextBox 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LESSON 4 · STANDARD 10.ABC-DS.5</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Volumetric Analysis: Precision Acid-Base Titration Technique</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Inquiry: How do analytical chemists determine the exact concentration of an unknown solution?</a:t>
            </a:r>
          </a:p>
        </p:txBody>
      </p:sp>
      <p:sp>
        <p:nvSpPr>
          <p:cNvPr id="5" name="Rounded Rectangle 4"/>
          <p:cNvSpPr/>
          <p:nvPr/>
        </p:nvSpPr>
        <p:spPr>
          <a:xfrm>
            <a:off x="548640" y="1645920"/>
            <a:ext cx="5486400" cy="4480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486400" cy="4572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Volumetric Glassware &amp; Procedural Rigor</a:t>
            </a:r>
          </a:p>
        </p:txBody>
      </p:sp>
      <p:sp>
        <p:nvSpPr>
          <p:cNvPr id="7" name="TextBox 6"/>
          <p:cNvSpPr txBox="1"/>
          <p:nvPr/>
        </p:nvSpPr>
        <p:spPr>
          <a:xfrm>
            <a:off x="731520" y="2176272"/>
            <a:ext cx="5120640" cy="3858768"/>
          </a:xfrm>
          <a:prstGeom prst="rect">
            <a:avLst/>
          </a:prstGeom>
          <a:noFill/>
        </p:spPr>
        <p:txBody>
          <a:bodyPr wrap="square">
            <a:spAutoFit/>
          </a:bodyPr>
          <a:lstStyle/>
          <a:p>
            <a:pPr>
              <a:spcAft>
                <a:spcPts val="300"/>
              </a:spcAft>
              <a:defRPr sz="1000">
                <a:solidFill>
                  <a:srgbClr val="0F172A"/>
                </a:solidFill>
              </a:defRPr>
            </a:pPr>
            <a:r>
              <a:t>🔬 Precision Glassware Specifications:</a:t>
            </a:r>
          </a:p>
          <a:p>
            <a:pPr>
              <a:spcAft>
                <a:spcPts val="300"/>
              </a:spcAft>
              <a:defRPr sz="1000">
                <a:solidFill>
                  <a:srgbClr val="0F172A"/>
                </a:solidFill>
              </a:defRPr>
            </a:pPr>
          </a:p>
          <a:p>
            <a:pPr>
              <a:spcAft>
                <a:spcPts val="300"/>
              </a:spcAft>
              <a:defRPr sz="1000">
                <a:solidFill>
                  <a:srgbClr val="0F172A"/>
                </a:solidFill>
              </a:defRPr>
            </a:pPr>
            <a:r>
              <a:t>1. Class A Bulb Pipette (25.0 cm³ ± 0.03):</a:t>
            </a:r>
          </a:p>
          <a:p>
            <a:pPr>
              <a:spcAft>
                <a:spcPts val="300"/>
              </a:spcAft>
              <a:defRPr sz="1000">
                <a:solidFill>
                  <a:srgbClr val="0F172A"/>
                </a:solidFill>
              </a:defRPr>
            </a:pPr>
            <a:r>
              <a:t>  • Delivers single fixed volume of unknown acid.</a:t>
            </a:r>
          </a:p>
          <a:p>
            <a:pPr>
              <a:spcAft>
                <a:spcPts val="300"/>
              </a:spcAft>
              <a:defRPr sz="1000">
                <a:solidFill>
                  <a:srgbClr val="0F172A"/>
                </a:solidFill>
              </a:defRPr>
            </a:pPr>
            <a:r>
              <a:t>  • Rinse with deionized water, then rinse with the acid solution.</a:t>
            </a:r>
          </a:p>
          <a:p>
            <a:pPr>
              <a:spcAft>
                <a:spcPts val="300"/>
              </a:spcAft>
              <a:defRPr sz="1000">
                <a:solidFill>
                  <a:srgbClr val="0F172A"/>
                </a:solidFill>
              </a:defRPr>
            </a:pPr>
          </a:p>
          <a:p>
            <a:pPr>
              <a:spcAft>
                <a:spcPts val="300"/>
              </a:spcAft>
              <a:defRPr sz="1000">
                <a:solidFill>
                  <a:srgbClr val="0F172A"/>
                </a:solidFill>
              </a:defRPr>
            </a:pPr>
            <a:r>
              <a:t>2. Precision Burette (50.00 cm³ ± 0.05):</a:t>
            </a:r>
          </a:p>
          <a:p>
            <a:pPr>
              <a:spcAft>
                <a:spcPts val="300"/>
              </a:spcAft>
              <a:defRPr sz="1000">
                <a:solidFill>
                  <a:srgbClr val="0F172A"/>
                </a:solidFill>
              </a:defRPr>
            </a:pPr>
            <a:r>
              <a:t>  • Delivers standard titrant drop-by-drop.</a:t>
            </a:r>
          </a:p>
          <a:p>
            <a:pPr>
              <a:spcAft>
                <a:spcPts val="300"/>
              </a:spcAft>
              <a:defRPr sz="1000">
                <a:solidFill>
                  <a:srgbClr val="0F172A"/>
                </a:solidFill>
              </a:defRPr>
            </a:pPr>
            <a:r>
              <a:t>  • Read bottom of meniscus at eye level (avoid parallax).</a:t>
            </a:r>
          </a:p>
          <a:p>
            <a:pPr>
              <a:spcAft>
                <a:spcPts val="300"/>
              </a:spcAft>
              <a:defRPr sz="1000">
                <a:solidFill>
                  <a:srgbClr val="0F172A"/>
                </a:solidFill>
              </a:defRPr>
            </a:pPr>
            <a:r>
              <a:t>  • All initial/final readings recorded to TWO decimal places.</a:t>
            </a:r>
          </a:p>
          <a:p>
            <a:pPr>
              <a:spcAft>
                <a:spcPts val="300"/>
              </a:spcAft>
              <a:defRPr sz="1000">
                <a:solidFill>
                  <a:srgbClr val="0F172A"/>
                </a:solidFill>
              </a:defRPr>
            </a:pPr>
            <a:r>
              <a:t>  • Ensure jet tip is filled and free of air bubbles!</a:t>
            </a:r>
          </a:p>
          <a:p>
            <a:pPr>
              <a:spcAft>
                <a:spcPts val="300"/>
              </a:spcAft>
              <a:defRPr sz="1000">
                <a:solidFill>
                  <a:srgbClr val="0F172A"/>
                </a:solidFill>
              </a:defRPr>
            </a:pPr>
          </a:p>
          <a:p>
            <a:pPr>
              <a:spcAft>
                <a:spcPts val="300"/>
              </a:spcAft>
              <a:defRPr sz="1000">
                <a:solidFill>
                  <a:srgbClr val="0F172A"/>
                </a:solidFill>
              </a:defRPr>
            </a:pPr>
            <a:r>
              <a:t>📊 The Concordancy Rule:</a:t>
            </a:r>
          </a:p>
          <a:p>
            <a:pPr>
              <a:spcAft>
                <a:spcPts val="300"/>
              </a:spcAft>
              <a:defRPr sz="1000">
                <a:solidFill>
                  <a:srgbClr val="0F172A"/>
                </a:solidFill>
              </a:defRPr>
            </a:pPr>
            <a:r>
              <a:t>  • Rough trial excluded from average.</a:t>
            </a:r>
          </a:p>
          <a:p>
            <a:pPr>
              <a:spcAft>
                <a:spcPts val="300"/>
              </a:spcAft>
              <a:defRPr sz="1000">
                <a:solidFill>
                  <a:srgbClr val="0F172A"/>
                </a:solidFill>
              </a:defRPr>
            </a:pPr>
            <a:r>
              <a:t>  • Concordant titres must agree within ± 0.10 cm³.</a:t>
            </a:r>
          </a:p>
          <a:p>
            <a:pPr>
              <a:spcAft>
                <a:spcPts val="300"/>
              </a:spcAft>
              <a:defRPr sz="1000">
                <a:solidFill>
                  <a:srgbClr val="0F172A"/>
                </a:solidFill>
              </a:defRPr>
            </a:pPr>
            <a:r>
              <a:t>  • Mean Concordant Titre = Average of concordant trials only.</a:t>
            </a:r>
          </a:p>
        </p:txBody>
      </p:sp>
      <p:pic>
        <p:nvPicPr>
          <p:cNvPr id="8" name="Picture 7" descr="diagram_titration_apparatus.png"/>
          <p:cNvPicPr>
            <a:picLocks noChangeAspect="1"/>
          </p:cNvPicPr>
          <p:nvPr/>
        </p:nvPicPr>
        <p:blipFill>
          <a:blip r:embed="rId2"/>
          <a:stretch>
            <a:fillRect/>
          </a:stretch>
        </p:blipFill>
        <p:spPr>
          <a:xfrm>
            <a:off x="6400800" y="1645920"/>
            <a:ext cx="5212080" cy="3474720"/>
          </a:xfrm>
          <a:prstGeom prst="rect">
            <a:avLst/>
          </a:prstGeom>
        </p:spPr>
      </p:pic>
      <p:sp>
        <p:nvSpPr>
          <p:cNvPr id="9" name="Rounded Rectangle 8"/>
          <p:cNvSpPr/>
          <p:nvPr/>
        </p:nvSpPr>
        <p:spPr>
          <a:xfrm>
            <a:off x="6400800" y="5303520"/>
            <a:ext cx="5212080" cy="7315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hlinkClick r:id="rId3"/>
              </a:rPr>
              <a:t>⚖️ VIRTUAL TITRATION LAB  Launch ChemCollective Analytical Titration</a:t>
            </a:r>
          </a:p>
        </p:txBody>
      </p:sp>
      <p:sp>
        <p:nvSpPr>
          <p:cNvPr id="10" name="TextBox 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LESSON 4 (CONT) · STANDARD 10.ABC-DS.5</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Mastering Titration Stoichiometry Calculations</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Inquiry: Step-by-step mathematical algorithm to calculate unknown concentration</a:t>
            </a:r>
          </a:p>
        </p:txBody>
      </p:sp>
      <p:sp>
        <p:nvSpPr>
          <p:cNvPr id="5" name="Rounded Rectangle 4"/>
          <p:cNvSpPr/>
          <p:nvPr/>
        </p:nvSpPr>
        <p:spPr>
          <a:xfrm>
            <a:off x="548640" y="1645920"/>
            <a:ext cx="10972800" cy="2377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1097280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The 4-Step Analytical Algorithm</a:t>
            </a:r>
          </a:p>
        </p:txBody>
      </p:sp>
      <p:sp>
        <p:nvSpPr>
          <p:cNvPr id="7" name="TextBox 6"/>
          <p:cNvSpPr txBox="1"/>
          <p:nvPr/>
        </p:nvSpPr>
        <p:spPr>
          <a:xfrm>
            <a:off x="731520" y="2176272"/>
            <a:ext cx="10607040" cy="1755648"/>
          </a:xfrm>
          <a:prstGeom prst="rect">
            <a:avLst/>
          </a:prstGeom>
          <a:noFill/>
        </p:spPr>
        <p:txBody>
          <a:bodyPr wrap="square">
            <a:spAutoFit/>
          </a:bodyPr>
          <a:lstStyle/>
          <a:p>
            <a:pPr>
              <a:spcAft>
                <a:spcPts val="300"/>
              </a:spcAft>
              <a:defRPr sz="1000">
                <a:solidFill>
                  <a:srgbClr val="0F172A"/>
                </a:solidFill>
              </a:defRPr>
            </a:pPr>
            <a:r>
              <a:t>Problem: 25.0 cm³ of unknown HCl is neutralized by exactly 21.40 cm³ of 0.100 mol/dm³ standardized NaOH.</a:t>
            </a:r>
          </a:p>
          <a:p>
            <a:pPr>
              <a:spcAft>
                <a:spcPts val="300"/>
              </a:spcAft>
              <a:defRPr sz="1000">
                <a:solidFill>
                  <a:srgbClr val="0F172A"/>
                </a:solidFill>
              </a:defRPr>
            </a:pPr>
            <a:r>
              <a:t>1. Balanced Equation: HCl(aq) + NaOH(aq) → NaCl(aq) + H₂O(l)  [Mole Ratio 1 : 1]</a:t>
            </a:r>
          </a:p>
          <a:p>
            <a:pPr>
              <a:spcAft>
                <a:spcPts val="300"/>
              </a:spcAft>
              <a:defRPr sz="1000">
                <a:solidFill>
                  <a:srgbClr val="0F172A"/>
                </a:solidFill>
              </a:defRPr>
            </a:pPr>
            <a:r>
              <a:t>2. Moles of Known (NaOH): n = C × V = 0.100 mol/dm³ × (21.40 ÷ 1000 dm³) = 0.002140 mol.</a:t>
            </a:r>
          </a:p>
          <a:p>
            <a:pPr>
              <a:spcAft>
                <a:spcPts val="300"/>
              </a:spcAft>
              <a:defRPr sz="1000">
                <a:solidFill>
                  <a:srgbClr val="0F172A"/>
                </a:solidFill>
              </a:defRPr>
            </a:pPr>
            <a:r>
              <a:t>3. Mole Ratio: 1 : 1 ratio → n(HCl) = n(NaOH) = 0.002140 mol.</a:t>
            </a:r>
          </a:p>
          <a:p>
            <a:pPr>
              <a:spcAft>
                <a:spcPts val="300"/>
              </a:spcAft>
              <a:defRPr sz="1000">
                <a:solidFill>
                  <a:srgbClr val="0F172A"/>
                </a:solidFill>
              </a:defRPr>
            </a:pPr>
            <a:r>
              <a:t>4. Concentration of Unknown: C = n ÷ V = 0.002140 mol ÷ (25.0 ÷ 1000 dm³) = 0.0856 mol/dm³.</a:t>
            </a:r>
          </a:p>
        </p:txBody>
      </p:sp>
      <p:pic>
        <p:nvPicPr>
          <p:cNvPr id="8" name="Picture 7" descr="visual_titration_pathway.png"/>
          <p:cNvPicPr>
            <a:picLocks noChangeAspect="1"/>
          </p:cNvPicPr>
          <p:nvPr/>
        </p:nvPicPr>
        <p:blipFill>
          <a:blip r:embed="rId2"/>
          <a:stretch>
            <a:fillRect/>
          </a:stretch>
        </p:blipFill>
        <p:spPr>
          <a:xfrm>
            <a:off x="548640" y="4114800"/>
            <a:ext cx="10972800" cy="2286000"/>
          </a:xfrm>
          <a:prstGeom prst="rect">
            <a:avLst/>
          </a:prstGeom>
        </p:spPr>
      </p:pic>
      <p:sp>
        <p:nvSpPr>
          <p:cNvPr id="9" name="TextBox 8"/>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LESSON 5 · STANDARD 10.ABC-DS.6</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Conservation of Mass &amp; Gas Evolution Stoichiometry</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Inquiry: Why does mass appear to decrease when an acid reacts with a carbonate in an open beaker?</a:t>
            </a:r>
          </a:p>
        </p:txBody>
      </p:sp>
      <p:sp>
        <p:nvSpPr>
          <p:cNvPr id="5" name="Rounded Rectangle 4"/>
          <p:cNvSpPr/>
          <p:nvPr/>
        </p:nvSpPr>
        <p:spPr>
          <a:xfrm>
            <a:off x="548640" y="1645920"/>
            <a:ext cx="5486400" cy="4480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48640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Mathematical Molar Mass Verification</a:t>
            </a:r>
          </a:p>
        </p:txBody>
      </p:sp>
      <p:sp>
        <p:nvSpPr>
          <p:cNvPr id="7" name="TextBox 6"/>
          <p:cNvSpPr txBox="1"/>
          <p:nvPr/>
        </p:nvSpPr>
        <p:spPr>
          <a:xfrm>
            <a:off x="731520" y="2176272"/>
            <a:ext cx="5120640" cy="3858768"/>
          </a:xfrm>
          <a:prstGeom prst="rect">
            <a:avLst/>
          </a:prstGeom>
          <a:noFill/>
        </p:spPr>
        <p:txBody>
          <a:bodyPr wrap="square">
            <a:spAutoFit/>
          </a:bodyPr>
          <a:lstStyle/>
          <a:p>
            <a:pPr>
              <a:spcAft>
                <a:spcPts val="300"/>
              </a:spcAft>
              <a:defRPr sz="1000">
                <a:solidFill>
                  <a:srgbClr val="0F172A"/>
                </a:solidFill>
              </a:defRPr>
            </a:pPr>
            <a:r>
              <a:t>⚖️ The Law of Conservation of Mass:</a:t>
            </a:r>
          </a:p>
          <a:p>
            <a:pPr>
              <a:spcAft>
                <a:spcPts val="300"/>
              </a:spcAft>
              <a:defRPr sz="1000">
                <a:solidFill>
                  <a:srgbClr val="0F172A"/>
                </a:solidFill>
              </a:defRPr>
            </a:pPr>
            <a:r>
              <a:t>Total mass of reactants = Total mass of products.</a:t>
            </a:r>
          </a:p>
          <a:p>
            <a:pPr>
              <a:spcAft>
                <a:spcPts val="300"/>
              </a:spcAft>
              <a:defRPr sz="1000">
                <a:solidFill>
                  <a:srgbClr val="0F172A"/>
                </a:solidFill>
              </a:defRPr>
            </a:pPr>
          </a:p>
          <a:p>
            <a:pPr>
              <a:spcAft>
                <a:spcPts val="300"/>
              </a:spcAft>
              <a:defRPr sz="1000">
                <a:solidFill>
                  <a:srgbClr val="0F172A"/>
                </a:solidFill>
              </a:defRPr>
            </a:pPr>
            <a:r>
              <a:t>Reaction: CaCO₃(s) + 2HCl(aq) → CaCl₂(aq) + H₂O(l) + CO₂(g)↑</a:t>
            </a:r>
          </a:p>
          <a:p>
            <a:pPr>
              <a:spcAft>
                <a:spcPts val="300"/>
              </a:spcAft>
              <a:defRPr sz="1000">
                <a:solidFill>
                  <a:srgbClr val="0F172A"/>
                </a:solidFill>
              </a:defRPr>
            </a:pPr>
          </a:p>
          <a:p>
            <a:pPr>
              <a:spcAft>
                <a:spcPts val="300"/>
              </a:spcAft>
              <a:defRPr sz="1000">
                <a:solidFill>
                  <a:srgbClr val="0F172A"/>
                </a:solidFill>
              </a:defRPr>
            </a:pPr>
            <a:r>
              <a:t>If 5.00 g of pure CaCO₃ reacts completely:</a:t>
            </a:r>
          </a:p>
          <a:p>
            <a:pPr>
              <a:spcAft>
                <a:spcPts val="300"/>
              </a:spcAft>
              <a:defRPr sz="1000">
                <a:solidFill>
                  <a:srgbClr val="0F172A"/>
                </a:solidFill>
              </a:defRPr>
            </a:pPr>
            <a:r>
              <a:t>1. Molar Mass: M(CaCO₃) = 100.09 g/mol | M(CO₂) = 44.01 g/mol</a:t>
            </a:r>
          </a:p>
          <a:p>
            <a:pPr>
              <a:spcAft>
                <a:spcPts val="300"/>
              </a:spcAft>
              <a:defRPr sz="1000">
                <a:solidFill>
                  <a:srgbClr val="0F172A"/>
                </a:solidFill>
              </a:defRPr>
            </a:pPr>
            <a:r>
              <a:t>2. Moles of CaCO₃: n = 5.00 ÷ 100.09 = 0.04996 mol</a:t>
            </a:r>
          </a:p>
          <a:p>
            <a:pPr>
              <a:spcAft>
                <a:spcPts val="300"/>
              </a:spcAft>
              <a:defRPr sz="1000">
                <a:solidFill>
                  <a:srgbClr val="0F172A"/>
                </a:solidFill>
              </a:defRPr>
            </a:pPr>
            <a:r>
              <a:t>3. Mole Ratio 1 : 1 → Moles of CO₂ evolved = 0.04996 mol</a:t>
            </a:r>
          </a:p>
          <a:p>
            <a:pPr>
              <a:spcAft>
                <a:spcPts val="300"/>
              </a:spcAft>
              <a:defRPr sz="1000">
                <a:solidFill>
                  <a:srgbClr val="0F172A"/>
                </a:solidFill>
              </a:defRPr>
            </a:pPr>
            <a:r>
              <a:t>4. Expected Mass of Escaped CO₂:</a:t>
            </a:r>
          </a:p>
          <a:p>
            <a:pPr>
              <a:spcAft>
                <a:spcPts val="300"/>
              </a:spcAft>
              <a:defRPr sz="1000">
                <a:solidFill>
                  <a:srgbClr val="0F172A"/>
                </a:solidFill>
              </a:defRPr>
            </a:pPr>
            <a:r>
              <a:t>   mass = n × M = 0.04996 mol × 44.01 g/mol = 2.20 g</a:t>
            </a:r>
          </a:p>
          <a:p>
            <a:pPr>
              <a:spcAft>
                <a:spcPts val="300"/>
              </a:spcAft>
              <a:defRPr sz="1000">
                <a:solidFill>
                  <a:srgbClr val="0F172A"/>
                </a:solidFill>
              </a:defRPr>
            </a:pPr>
          </a:p>
          <a:p>
            <a:pPr>
              <a:spcAft>
                <a:spcPts val="300"/>
              </a:spcAft>
              <a:defRPr sz="1000">
                <a:solidFill>
                  <a:srgbClr val="0F172A"/>
                </a:solidFill>
              </a:defRPr>
            </a:pPr>
            <a:r>
              <a:t>🎯 Experimental Verification:</a:t>
            </a:r>
          </a:p>
          <a:p>
            <a:pPr>
              <a:spcAft>
                <a:spcPts val="300"/>
              </a:spcAft>
              <a:defRPr sz="1000">
                <a:solidFill>
                  <a:srgbClr val="0F172A"/>
                </a:solidFill>
              </a:defRPr>
            </a:pPr>
            <a:r>
              <a:t>Open beaker reading drops by exactly 2.20 g as CO₂ escapes!</a:t>
            </a:r>
          </a:p>
        </p:txBody>
      </p:sp>
      <p:pic>
        <p:nvPicPr>
          <p:cNvPr id="8" name="Picture 7" descr="visual_conservation_mass.png"/>
          <p:cNvPicPr>
            <a:picLocks noChangeAspect="1"/>
          </p:cNvPicPr>
          <p:nvPr/>
        </p:nvPicPr>
        <p:blipFill>
          <a:blip r:embed="rId2"/>
          <a:stretch>
            <a:fillRect/>
          </a:stretch>
        </p:blipFill>
        <p:spPr>
          <a:xfrm>
            <a:off x="6217920" y="1645920"/>
            <a:ext cx="5303520" cy="4480560"/>
          </a:xfrm>
          <a:prstGeom prst="rect">
            <a:avLst/>
          </a:prstGeom>
        </p:spPr>
      </p:pic>
      <p:sp>
        <p:nvSpPr>
          <p:cNvPr id="9" name="TextBox 8"/>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wipe dir="l"/>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LESSON 6 · STANDARD 10.ABC-DS.2</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Bond Energy Models &amp; The Thermochemistry of Neutralization</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Inquiry: Why does neutralization always release thermal energy?</a:t>
            </a:r>
          </a:p>
        </p:txBody>
      </p:sp>
      <p:sp>
        <p:nvSpPr>
          <p:cNvPr id="5" name="Rounded Rectangle 4"/>
          <p:cNvSpPr/>
          <p:nvPr/>
        </p:nvSpPr>
        <p:spPr>
          <a:xfrm>
            <a:off x="548640" y="1645920"/>
            <a:ext cx="5486400" cy="4480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486400" cy="45720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Bond Energy Energetics &amp; Constant ΔH</a:t>
            </a:r>
          </a:p>
        </p:txBody>
      </p:sp>
      <p:sp>
        <p:nvSpPr>
          <p:cNvPr id="7" name="TextBox 6"/>
          <p:cNvSpPr txBox="1"/>
          <p:nvPr/>
        </p:nvSpPr>
        <p:spPr>
          <a:xfrm>
            <a:off x="731520" y="2176272"/>
            <a:ext cx="5120640" cy="3858768"/>
          </a:xfrm>
          <a:prstGeom prst="rect">
            <a:avLst/>
          </a:prstGeom>
          <a:noFill/>
        </p:spPr>
        <p:txBody>
          <a:bodyPr wrap="square">
            <a:spAutoFit/>
          </a:bodyPr>
          <a:lstStyle/>
          <a:p>
            <a:pPr>
              <a:spcAft>
                <a:spcPts val="300"/>
              </a:spcAft>
              <a:defRPr sz="1000">
                <a:solidFill>
                  <a:srgbClr val="0F172A"/>
                </a:solidFill>
              </a:defRPr>
            </a:pPr>
            <a:r>
              <a:t>🔥 The Fundamental Energetic Rule:</a:t>
            </a:r>
          </a:p>
          <a:p>
            <a:pPr>
              <a:spcAft>
                <a:spcPts val="300"/>
              </a:spcAft>
              <a:defRPr sz="1000">
                <a:solidFill>
                  <a:srgbClr val="0F172A"/>
                </a:solidFill>
              </a:defRPr>
            </a:pPr>
            <a:r>
              <a:t>1. Breaking chemical bonds REQUIRES energy (Endothermic, ΔH &gt; 0).</a:t>
            </a:r>
          </a:p>
          <a:p>
            <a:pPr>
              <a:spcAft>
                <a:spcPts val="300"/>
              </a:spcAft>
              <a:defRPr sz="1000">
                <a:solidFill>
                  <a:srgbClr val="0F172A"/>
                </a:solidFill>
              </a:defRPr>
            </a:pPr>
            <a:r>
              <a:t>2. Forming chemical bonds RELEASES energy (Exothermic, ΔH &lt; 0).</a:t>
            </a:r>
          </a:p>
          <a:p>
            <a:pPr>
              <a:spcAft>
                <a:spcPts val="300"/>
              </a:spcAft>
              <a:defRPr sz="1000">
                <a:solidFill>
                  <a:srgbClr val="0F172A"/>
                </a:solidFill>
              </a:defRPr>
            </a:pPr>
          </a:p>
          <a:p>
            <a:pPr>
              <a:spcAft>
                <a:spcPts val="300"/>
              </a:spcAft>
              <a:defRPr sz="1000">
                <a:solidFill>
                  <a:srgbClr val="0F172A"/>
                </a:solidFill>
              </a:defRPr>
            </a:pPr>
            <a:r>
              <a:t>Net Ionic Neutralization Reaction:</a:t>
            </a:r>
          </a:p>
          <a:p>
            <a:pPr>
              <a:spcAft>
                <a:spcPts val="300"/>
              </a:spcAft>
              <a:defRPr sz="1000">
                <a:solidFill>
                  <a:srgbClr val="0F172A"/>
                </a:solidFill>
              </a:defRPr>
            </a:pPr>
            <a:r>
              <a:t>  H+(aq) + OH-(aq) -&gt; H2O(l)    ΔH = -57.1 kJ/mol</a:t>
            </a:r>
          </a:p>
          <a:p>
            <a:pPr>
              <a:spcAft>
                <a:spcPts val="300"/>
              </a:spcAft>
              <a:defRPr sz="1000">
                <a:solidFill>
                  <a:srgbClr val="0F172A"/>
                </a:solidFill>
              </a:defRPr>
            </a:pPr>
          </a:p>
          <a:p>
            <a:pPr>
              <a:spcAft>
                <a:spcPts val="300"/>
              </a:spcAft>
              <a:defRPr sz="1000">
                <a:solidFill>
                  <a:srgbClr val="0F172A"/>
                </a:solidFill>
              </a:defRPr>
            </a:pPr>
            <a:r>
              <a:t>Sub-Microscopic Mechanism:</a:t>
            </a:r>
          </a:p>
          <a:p>
            <a:pPr>
              <a:spcAft>
                <a:spcPts val="300"/>
              </a:spcAft>
              <a:defRPr sz="1000">
                <a:solidFill>
                  <a:srgbClr val="0F172A"/>
                </a:solidFill>
              </a:defRPr>
            </a:pPr>
            <a:r>
              <a:t>• H+ and OH- ions collide to form strong covalent O-H bonds.</a:t>
            </a:r>
          </a:p>
          <a:p>
            <a:pPr>
              <a:spcAft>
                <a:spcPts val="300"/>
              </a:spcAft>
              <a:defRPr sz="1000">
                <a:solidFill>
                  <a:srgbClr val="0F172A"/>
                </a:solidFill>
              </a:defRPr>
            </a:pPr>
            <a:r>
              <a:t>• More energy is released forming O-H bonds than was absorbed.</a:t>
            </a:r>
          </a:p>
          <a:p>
            <a:pPr>
              <a:spcAft>
                <a:spcPts val="300"/>
              </a:spcAft>
              <a:defRPr sz="1000">
                <a:solidFill>
                  <a:srgbClr val="0F172A"/>
                </a:solidFill>
              </a:defRPr>
            </a:pPr>
            <a:r>
              <a:t>• Excess energy transfers as heat to surrounding water molecules (T rises!).</a:t>
            </a:r>
          </a:p>
          <a:p>
            <a:pPr>
              <a:spcAft>
                <a:spcPts val="300"/>
              </a:spcAft>
              <a:defRPr sz="1000">
                <a:solidFill>
                  <a:srgbClr val="0F172A"/>
                </a:solidFill>
              </a:defRPr>
            </a:pPr>
          </a:p>
          <a:p>
            <a:pPr>
              <a:spcAft>
                <a:spcPts val="300"/>
              </a:spcAft>
              <a:defRPr sz="1000">
                <a:solidFill>
                  <a:srgbClr val="0F172A"/>
                </a:solidFill>
              </a:defRPr>
            </a:pPr>
            <a:r>
              <a:t>💡 Why Neutralization Enthalpy is Constant:</a:t>
            </a:r>
          </a:p>
          <a:p>
            <a:pPr>
              <a:spcAft>
                <a:spcPts val="300"/>
              </a:spcAft>
              <a:defRPr sz="1000">
                <a:solidFill>
                  <a:srgbClr val="0F172A"/>
                </a:solidFill>
              </a:defRPr>
            </a:pPr>
            <a:r>
              <a:t>• When ANY strong acid neutralizes ANY strong alkali, ΔH ≈ -57.1 kJ/mol.</a:t>
            </a:r>
          </a:p>
          <a:p>
            <a:pPr>
              <a:spcAft>
                <a:spcPts val="300"/>
              </a:spcAft>
              <a:defRPr sz="1000">
                <a:solidFill>
                  <a:srgbClr val="0F172A"/>
                </a:solidFill>
              </a:defRPr>
            </a:pPr>
            <a:r>
              <a:t>• Spectator ions (Na+, Cl-, K+, NO3-) do NOT participate in bonding!</a:t>
            </a:r>
          </a:p>
          <a:p>
            <a:pPr>
              <a:spcAft>
                <a:spcPts val="300"/>
              </a:spcAft>
              <a:defRPr sz="1000">
                <a:solidFill>
                  <a:srgbClr val="0F172A"/>
                </a:solidFill>
              </a:defRPr>
            </a:pPr>
            <a:r>
              <a:t>• The ONLY real reaction occurring is: H+(aq) + OH-(aq) -&gt; H2O(l).</a:t>
            </a:r>
          </a:p>
        </p:txBody>
      </p:sp>
      <p:pic>
        <p:nvPicPr>
          <p:cNvPr id="8" name="Picture 7" descr="diagram_energy_profile.png"/>
          <p:cNvPicPr>
            <a:picLocks noChangeAspect="1"/>
          </p:cNvPicPr>
          <p:nvPr/>
        </p:nvPicPr>
        <p:blipFill>
          <a:blip r:embed="rId2"/>
          <a:stretch>
            <a:fillRect/>
          </a:stretch>
        </p:blipFill>
        <p:spPr>
          <a:xfrm>
            <a:off x="6400800" y="1645920"/>
            <a:ext cx="5212080" cy="3291840"/>
          </a:xfrm>
          <a:prstGeom prst="rect">
            <a:avLst/>
          </a:prstGeom>
        </p:spPr>
      </p:pic>
      <p:sp>
        <p:nvSpPr>
          <p:cNvPr id="9" name="Rounded Rectangle 8"/>
          <p:cNvSpPr/>
          <p:nvPr/>
        </p:nvSpPr>
        <p:spPr>
          <a:xfrm>
            <a:off x="6400800" y="5120640"/>
            <a:ext cx="5212080" cy="7315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hlinkClick r:id="rId3"/>
              </a:rPr>
              <a:t>🔥 INTERACTIVE SIMULATION  PhET: Energy Forms &amp; Bond Changes</a:t>
            </a:r>
          </a:p>
        </p:txBody>
      </p:sp>
      <p:sp>
        <p:nvSpPr>
          <p:cNvPr id="10" name="TextBox 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CRITERION B SUMMATIVE</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Summative Task Brief: Calorimetric Lab Investigation Design</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Assessment: Criterion B (Inquiring &amp; Designing) — Maximum Achievement Level 8</a:t>
            </a:r>
          </a:p>
        </p:txBody>
      </p:sp>
      <p:sp>
        <p:nvSpPr>
          <p:cNvPr id="5" name="Rounded Rectangle 4"/>
          <p:cNvSpPr/>
          <p:nvPr/>
        </p:nvSpPr>
        <p:spPr>
          <a:xfrm>
            <a:off x="548640" y="1645920"/>
            <a:ext cx="10972800" cy="4572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55648"/>
            <a:ext cx="10607040" cy="4352544"/>
          </a:xfrm>
          <a:prstGeom prst="rect">
            <a:avLst/>
          </a:prstGeom>
          <a:noFill/>
        </p:spPr>
        <p:txBody>
          <a:bodyPr wrap="square">
            <a:spAutoFit/>
          </a:bodyPr>
          <a:lstStyle/>
          <a:p>
            <a:pPr>
              <a:spcAft>
                <a:spcPts val="400"/>
              </a:spcAft>
              <a:defRPr sz="1300" b="1">
                <a:solidFill>
                  <a:srgbClr val="0F172A"/>
                </a:solidFill>
              </a:defRPr>
            </a:pPr>
            <a:r>
              <a:t>The Investigation Design Challenge</a:t>
            </a:r>
          </a:p>
          <a:p>
            <a:pPr>
              <a:spcAft>
                <a:spcPts val="300"/>
              </a:spcAft>
              <a:defRPr sz="1000">
                <a:solidFill>
                  <a:srgbClr val="0F172A"/>
                </a:solidFill>
              </a:defRPr>
            </a:pPr>
            <a:r>
              <a:t>🎯 Research Scenario:</a:t>
            </a:r>
          </a:p>
          <a:p>
            <a:pPr>
              <a:spcAft>
                <a:spcPts val="300"/>
              </a:spcAft>
              <a:defRPr sz="1000">
                <a:solidFill>
                  <a:srgbClr val="0F172A"/>
                </a:solidFill>
              </a:defRPr>
            </a:pPr>
            <a:r>
              <a:t>  You are a chemical engineer tasked with determining the thermochemical efficiency of neutralization. You will independently design a complete scientific investigation to determine the relationship between reactant concentration and thermal energy release in a coffee-cup calorimeter.</a:t>
            </a:r>
          </a:p>
          <a:p>
            <a:pPr>
              <a:spcAft>
                <a:spcPts val="300"/>
              </a:spcAft>
              <a:defRPr sz="1000">
                <a:solidFill>
                  <a:srgbClr val="0F172A"/>
                </a:solidFill>
              </a:defRPr>
            </a:pPr>
          </a:p>
          <a:p>
            <a:pPr>
              <a:spcAft>
                <a:spcPts val="300"/>
              </a:spcAft>
              <a:defRPr sz="1000">
                <a:solidFill>
                  <a:srgbClr val="0F172A"/>
                </a:solidFill>
              </a:defRPr>
            </a:pPr>
            <a:r>
              <a:t>📋 Criterion B Assessment Requirements (What You Must Produce):</a:t>
            </a:r>
          </a:p>
          <a:p>
            <a:pPr>
              <a:spcAft>
                <a:spcPts val="300"/>
              </a:spcAft>
              <a:defRPr sz="1000">
                <a:solidFill>
                  <a:srgbClr val="0F172A"/>
                </a:solidFill>
              </a:defRPr>
            </a:pPr>
            <a:r>
              <a:t>  1. Strand i (Problem / Question): Formulate a focused, testable research question with clear quantitative boundaries.</a:t>
            </a:r>
          </a:p>
          <a:p>
            <a:pPr>
              <a:spcAft>
                <a:spcPts val="300"/>
              </a:spcAft>
              <a:defRPr sz="1000">
                <a:solidFill>
                  <a:srgbClr val="0F172A"/>
                </a:solidFill>
              </a:defRPr>
            </a:pPr>
            <a:r>
              <a:t>  2. Strand ii (Hypothesis): Formulate a testable hypothesis and explain it with detailed scientific reasoning using bond energies and collision theory.</a:t>
            </a:r>
          </a:p>
          <a:p>
            <a:pPr>
              <a:spcAft>
                <a:spcPts val="300"/>
              </a:spcAft>
              <a:defRPr sz="1000">
                <a:solidFill>
                  <a:srgbClr val="0F172A"/>
                </a:solidFill>
              </a:defRPr>
            </a:pPr>
            <a:r>
              <a:t>  3. Strand iii (Variables): Clearly define the Independent Variable (with at least 5 values), Dependent Variable (with instrument resolution), and at least 3 Controlled Variables (with control methods and rationale).</a:t>
            </a:r>
          </a:p>
          <a:p>
            <a:pPr>
              <a:spcAft>
                <a:spcPts val="300"/>
              </a:spcAft>
              <a:defRPr sz="1000">
                <a:solidFill>
                  <a:srgbClr val="0F172A"/>
                </a:solidFill>
              </a:defRPr>
            </a:pPr>
            <a:r>
              <a:t>  4. Strand iv (Design &amp; Safety): Design a clear, logical, step-by-step numbered method including:</a:t>
            </a:r>
          </a:p>
          <a:p>
            <a:pPr>
              <a:spcAft>
                <a:spcPts val="300"/>
              </a:spcAft>
              <a:defRPr sz="1000">
                <a:solidFill>
                  <a:srgbClr val="0F172A"/>
                </a:solidFill>
              </a:defRPr>
            </a:pPr>
            <a:r>
              <a:t>     • Labeled apparatus diagram (coffee-cup calorimeter, magnetic stirrer, digital thermometer).</a:t>
            </a:r>
          </a:p>
          <a:p>
            <a:pPr>
              <a:spcAft>
                <a:spcPts val="300"/>
              </a:spcAft>
              <a:defRPr sz="1000">
                <a:solidFill>
                  <a:srgbClr val="0F172A"/>
                </a:solidFill>
              </a:defRPr>
            </a:pPr>
            <a:r>
              <a:t>     • Comprehensive risk assessment (hazards of acids/bases, thermal burns, emergency protocols).</a:t>
            </a:r>
          </a:p>
          <a:p>
            <a:pPr>
              <a:spcAft>
                <a:spcPts val="300"/>
              </a:spcAft>
              <a:defRPr sz="1000">
                <a:solidFill>
                  <a:srgbClr val="0F172A"/>
                </a:solidFill>
              </a:defRPr>
            </a:pPr>
            <a:r>
              <a:t>     • Protocol ensuring sufficient data reliability (minimum 3 repeat trials per condition).</a:t>
            </a:r>
          </a:p>
        </p:txBody>
      </p:sp>
      <p:sp>
        <p:nvSpPr>
          <p:cNvPr id="7" name="TextBox 6"/>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EXPERIMENT DEVELOPMENT</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Criterion B Exemplar: Variables Matrix &amp; Testable Hypothesis</a:t>
            </a:r>
          </a:p>
        </p:txBody>
      </p:sp>
      <p:sp>
        <p:nvSpPr>
          <p:cNvPr id="4" name="Rounded Rectangle 3"/>
          <p:cNvSpPr/>
          <p:nvPr/>
        </p:nvSpPr>
        <p:spPr>
          <a:xfrm>
            <a:off x="548640" y="1645920"/>
            <a:ext cx="621792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62179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Variables Matrix (MYP 5 Standard)</a:t>
            </a:r>
          </a:p>
        </p:txBody>
      </p:sp>
      <p:sp>
        <p:nvSpPr>
          <p:cNvPr id="6" name="TextBox 5"/>
          <p:cNvSpPr txBox="1"/>
          <p:nvPr/>
        </p:nvSpPr>
        <p:spPr>
          <a:xfrm>
            <a:off x="731520" y="2176272"/>
            <a:ext cx="5852160" cy="3035808"/>
          </a:xfrm>
          <a:prstGeom prst="rect">
            <a:avLst/>
          </a:prstGeom>
          <a:noFill/>
        </p:spPr>
        <p:txBody>
          <a:bodyPr wrap="square">
            <a:spAutoFit/>
          </a:bodyPr>
          <a:lstStyle/>
          <a:p>
            <a:pPr>
              <a:spcAft>
                <a:spcPts val="300"/>
              </a:spcAft>
              <a:defRPr sz="1000">
                <a:solidFill>
                  <a:srgbClr val="0F172A"/>
                </a:solidFill>
              </a:defRPr>
            </a:pPr>
            <a:r>
              <a:t>1. Independent Variable (IV): [HCl] Concentration</a:t>
            </a:r>
          </a:p>
          <a:p>
            <a:pPr>
              <a:spcAft>
                <a:spcPts val="300"/>
              </a:spcAft>
              <a:defRPr sz="1000">
                <a:solidFill>
                  <a:srgbClr val="0F172A"/>
                </a:solidFill>
              </a:defRPr>
            </a:pPr>
            <a:r>
              <a:t>  • 5 values: 0.20, 0.40, 0.60, 0.80, 1.00 mol/dm³ via serial dilution.</a:t>
            </a:r>
          </a:p>
          <a:p>
            <a:pPr>
              <a:spcAft>
                <a:spcPts val="300"/>
              </a:spcAft>
              <a:defRPr sz="1000">
                <a:solidFill>
                  <a:srgbClr val="0F172A"/>
                </a:solidFill>
              </a:defRPr>
            </a:pPr>
          </a:p>
          <a:p>
            <a:pPr>
              <a:spcAft>
                <a:spcPts val="300"/>
              </a:spcAft>
              <a:defRPr sz="1000">
                <a:solidFill>
                  <a:srgbClr val="0F172A"/>
                </a:solidFill>
              </a:defRPr>
            </a:pPr>
            <a:r>
              <a:t>2. Dependent Variable (DV): Temperature Change (ΔT) &amp; Heat (q)</a:t>
            </a:r>
          </a:p>
          <a:p>
            <a:pPr>
              <a:spcAft>
                <a:spcPts val="300"/>
              </a:spcAft>
              <a:defRPr sz="1000">
                <a:solidFill>
                  <a:srgbClr val="0F172A"/>
                </a:solidFill>
              </a:defRPr>
            </a:pPr>
            <a:r>
              <a:t>  • ΔT = T_max - T_initial (°C) logged using digital probe (±0.05 °C).</a:t>
            </a:r>
          </a:p>
          <a:p>
            <a:pPr>
              <a:spcAft>
                <a:spcPts val="300"/>
              </a:spcAft>
              <a:defRPr sz="1000">
                <a:solidFill>
                  <a:srgbClr val="0F172A"/>
                </a:solidFill>
              </a:defRPr>
            </a:pPr>
            <a:r>
              <a:t>  • Heat evolved: q = m · c · ΔT (where m = 50.0 g, c = 4.18 J/g·°C).</a:t>
            </a:r>
          </a:p>
          <a:p>
            <a:pPr>
              <a:spcAft>
                <a:spcPts val="300"/>
              </a:spcAft>
              <a:defRPr sz="1000">
                <a:solidFill>
                  <a:srgbClr val="0F172A"/>
                </a:solidFill>
              </a:defRPr>
            </a:pPr>
          </a:p>
          <a:p>
            <a:pPr>
              <a:spcAft>
                <a:spcPts val="300"/>
              </a:spcAft>
              <a:defRPr sz="1000">
                <a:solidFill>
                  <a:srgbClr val="0F172A"/>
                </a:solidFill>
              </a:defRPr>
            </a:pPr>
            <a:r>
              <a:t>3. Controlled Variables (CV):</a:t>
            </a:r>
          </a:p>
          <a:p>
            <a:pPr>
              <a:spcAft>
                <a:spcPts val="300"/>
              </a:spcAft>
              <a:defRPr sz="1000">
                <a:solidFill>
                  <a:srgbClr val="0F172A"/>
                </a:solidFill>
              </a:defRPr>
            </a:pPr>
            <a:r>
              <a:t>  • Total solution volume: Fixed at 50.0 cm³ using bulb pipettes.</a:t>
            </a:r>
          </a:p>
          <a:p>
            <a:pPr>
              <a:spcAft>
                <a:spcPts val="300"/>
              </a:spcAft>
              <a:defRPr sz="1000">
                <a:solidFill>
                  <a:srgbClr val="0F172A"/>
                </a:solidFill>
              </a:defRPr>
            </a:pPr>
            <a:r>
              <a:t>  • Alkali: Fixed 1.00 M NaOH (excess).</a:t>
            </a:r>
          </a:p>
          <a:p>
            <a:pPr>
              <a:spcAft>
                <a:spcPts val="300"/>
              </a:spcAft>
              <a:defRPr sz="1000">
                <a:solidFill>
                  <a:srgbClr val="0F172A"/>
                </a:solidFill>
              </a:defRPr>
            </a:pPr>
            <a:r>
              <a:t>  • Calorimeter insulation: Nested double polystyrene cups with lid.</a:t>
            </a:r>
          </a:p>
        </p:txBody>
      </p:sp>
      <p:pic>
        <p:nvPicPr>
          <p:cNvPr id="7" name="Picture 6" descr="diagram_calorimeter.png"/>
          <p:cNvPicPr>
            <a:picLocks noChangeAspect="1"/>
          </p:cNvPicPr>
          <p:nvPr/>
        </p:nvPicPr>
        <p:blipFill>
          <a:blip r:embed="rId2"/>
          <a:stretch>
            <a:fillRect/>
          </a:stretch>
        </p:blipFill>
        <p:spPr>
          <a:xfrm>
            <a:off x="7040880" y="1645920"/>
            <a:ext cx="4572000" cy="3657600"/>
          </a:xfrm>
          <a:prstGeom prst="rect">
            <a:avLst/>
          </a:prstGeom>
        </p:spPr>
      </p:pic>
      <p:sp>
        <p:nvSpPr>
          <p:cNvPr id="8" name="Rectangle 7"/>
          <p:cNvSpPr/>
          <p:nvPr/>
        </p:nvSpPr>
        <p:spPr>
          <a:xfrm>
            <a:off x="548640" y="5486400"/>
            <a:ext cx="10972800" cy="822960"/>
          </a:xfrm>
          <a:prstGeom prst="rect">
            <a:avLst/>
          </a:prstGeom>
          <a:solidFill>
            <a:srgbClr val="FEF3C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2400E"/>
                </a:solidFill>
              </a:defRPr>
            </a:pPr>
            <a:r>
              <a:t>Exemplar Hypothesis: “If the concentration of HCl increases from 0.20 to 1.00 mol/dm³, then the temperature change (ΔT) will increase linearly, because more moles of H⁺ and OH⁻ ions react per unit volume to form water, releasing more thermal energy (q). However, the calculated molar enthalpy (ΔH) will remain constant at approx -57 kJ/mol because the net ionic bond-forming process (H⁺ + OH⁻ → H₂O) is fundamentally identical.”</a:t>
            </a:r>
          </a:p>
        </p:txBody>
      </p:sp>
      <p:sp>
        <p:nvSpPr>
          <p:cNvPr id="9" name="TextBox 8"/>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CRITERION C FOCUS</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Criterion C Exemplar: Raw Data Table &amp; Anomaly Screening</a:t>
            </a:r>
          </a:p>
        </p:txBody>
      </p:sp>
      <p:graphicFrame>
        <p:nvGraphicFramePr>
          <p:cNvPr id="4" name="Table 3"/>
          <p:cNvGraphicFramePr>
            <a:graphicFrameLocks noGrp="1"/>
          </p:cNvGraphicFramePr>
          <p:nvPr/>
        </p:nvGraphicFramePr>
        <p:xfrm>
          <a:off x="548640" y="1645920"/>
          <a:ext cx="10972800" cy="292608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418011">
                <a:tc>
                  <a:txBody>
                    <a:bodyPr/>
                    <a:lstStyle/>
                    <a:p>
                      <a:pPr algn="ctr">
                        <a:defRPr sz="1100" b="1">
                          <a:solidFill>
                            <a:srgbClr val="FFFFFF"/>
                          </a:solidFill>
                        </a:defRPr>
                      </a:pPr>
                      <a:r>
                        <a:t>[HCl] / mol dm⁻³ (±0.02)</a:t>
                      </a:r>
                    </a:p>
                  </a:txBody>
                  <a:tcPr>
                    <a:solidFill>
                      <a:srgbClr val="0F172A"/>
                    </a:solidFill>
                  </a:tcPr>
                </a:tc>
                <a:tc>
                  <a:txBody>
                    <a:bodyPr/>
                    <a:lstStyle/>
                    <a:p>
                      <a:pPr algn="ctr">
                        <a:defRPr sz="1100" b="1">
                          <a:solidFill>
                            <a:srgbClr val="FFFFFF"/>
                          </a:solidFill>
                        </a:defRPr>
                      </a:pPr>
                      <a:r>
                        <a:t>T_initial / °C (±0.05)</a:t>
                      </a:r>
                    </a:p>
                  </a:txBody>
                  <a:tcPr>
                    <a:solidFill>
                      <a:srgbClr val="0F172A"/>
                    </a:solidFill>
                  </a:tcPr>
                </a:tc>
                <a:tc>
                  <a:txBody>
                    <a:bodyPr/>
                    <a:lstStyle/>
                    <a:p>
                      <a:pPr algn="ctr">
                        <a:defRPr sz="1100" b="1">
                          <a:solidFill>
                            <a:srgbClr val="FFFFFF"/>
                          </a:solidFill>
                        </a:defRPr>
                      </a:pPr>
                      <a:r>
                        <a:t>Trial 1: ΔT / °C</a:t>
                      </a:r>
                    </a:p>
                  </a:txBody>
                  <a:tcPr>
                    <a:solidFill>
                      <a:srgbClr val="0F172A"/>
                    </a:solidFill>
                  </a:tcPr>
                </a:tc>
                <a:tc>
                  <a:txBody>
                    <a:bodyPr/>
                    <a:lstStyle/>
                    <a:p>
                      <a:pPr algn="ctr">
                        <a:defRPr sz="1100" b="1">
                          <a:solidFill>
                            <a:srgbClr val="FFFFFF"/>
                          </a:solidFill>
                        </a:defRPr>
                      </a:pPr>
                      <a:r>
                        <a:t>Trial 2: ΔT / °C</a:t>
                      </a:r>
                    </a:p>
                  </a:txBody>
                  <a:tcPr>
                    <a:solidFill>
                      <a:srgbClr val="0F172A"/>
                    </a:solidFill>
                  </a:tcPr>
                </a:tc>
                <a:tc>
                  <a:txBody>
                    <a:bodyPr/>
                    <a:lstStyle/>
                    <a:p>
                      <a:pPr algn="ctr">
                        <a:defRPr sz="1100" b="1">
                          <a:solidFill>
                            <a:srgbClr val="FFFFFF"/>
                          </a:solidFill>
                        </a:defRPr>
                      </a:pPr>
                      <a:r>
                        <a:t>Trial 3: ΔT / °C</a:t>
                      </a:r>
                    </a:p>
                  </a:txBody>
                  <a:tcPr>
                    <a:solidFill>
                      <a:srgbClr val="0F172A"/>
                    </a:solidFill>
                  </a:tcPr>
                </a:tc>
                <a:tc>
                  <a:txBody>
                    <a:bodyPr/>
                    <a:lstStyle/>
                    <a:p>
                      <a:pPr algn="ctr">
                        <a:defRPr sz="1100" b="1">
                          <a:solidFill>
                            <a:srgbClr val="FFFFFF"/>
                          </a:solidFill>
                        </a:defRPr>
                      </a:pPr>
                      <a:r>
                        <a:t>Mean ΔT / °C (±0.1)</a:t>
                      </a:r>
                    </a:p>
                  </a:txBody>
                  <a:tcPr>
                    <a:solidFill>
                      <a:srgbClr val="0F172A"/>
                    </a:solidFill>
                  </a:tcPr>
                </a:tc>
              </a:tr>
              <a:tr h="418011">
                <a:tc>
                  <a:txBody>
                    <a:bodyPr/>
                    <a:lstStyle/>
                    <a:p>
                      <a:pPr algn="ctr">
                        <a:defRPr sz="1100"/>
                      </a:pPr>
                      <a:r>
                        <a:t>0.20</a:t>
                      </a:r>
                    </a:p>
                  </a:txBody>
                  <a:tcPr>
                    <a:solidFill>
                      <a:srgbClr val="FFFFFF"/>
                    </a:solidFill>
                  </a:tcPr>
                </a:tc>
                <a:tc>
                  <a:txBody>
                    <a:bodyPr/>
                    <a:lstStyle/>
                    <a:p>
                      <a:pPr algn="ctr">
                        <a:defRPr sz="1100"/>
                      </a:pPr>
                      <a:r>
                        <a:t>21.50</a:t>
                      </a:r>
                    </a:p>
                  </a:txBody>
                  <a:tcPr>
                    <a:solidFill>
                      <a:srgbClr val="FFFFFF"/>
                    </a:solidFill>
                  </a:tcPr>
                </a:tc>
                <a:tc>
                  <a:txBody>
                    <a:bodyPr/>
                    <a:lstStyle/>
                    <a:p>
                      <a:pPr algn="ctr">
                        <a:defRPr sz="1100"/>
                      </a:pPr>
                      <a:r>
                        <a:t>1.30</a:t>
                      </a:r>
                    </a:p>
                  </a:txBody>
                  <a:tcPr>
                    <a:solidFill>
                      <a:srgbClr val="FFFFFF"/>
                    </a:solidFill>
                  </a:tcPr>
                </a:tc>
                <a:tc>
                  <a:txBody>
                    <a:bodyPr/>
                    <a:lstStyle/>
                    <a:p>
                      <a:pPr algn="ctr">
                        <a:defRPr sz="1100"/>
                      </a:pPr>
                      <a:r>
                        <a:t>1.35</a:t>
                      </a:r>
                    </a:p>
                  </a:txBody>
                  <a:tcPr>
                    <a:solidFill>
                      <a:srgbClr val="FFFFFF"/>
                    </a:solidFill>
                  </a:tcPr>
                </a:tc>
                <a:tc>
                  <a:txBody>
                    <a:bodyPr/>
                    <a:lstStyle/>
                    <a:p>
                      <a:pPr algn="ctr">
                        <a:defRPr sz="1100"/>
                      </a:pPr>
                      <a:r>
                        <a:t>1.25</a:t>
                      </a:r>
                    </a:p>
                  </a:txBody>
                  <a:tcPr>
                    <a:solidFill>
                      <a:srgbClr val="FFFFFF"/>
                    </a:solidFill>
                  </a:tcPr>
                </a:tc>
                <a:tc>
                  <a:txBody>
                    <a:bodyPr/>
                    <a:lstStyle/>
                    <a:p>
                      <a:pPr algn="ctr">
                        <a:defRPr sz="1100"/>
                      </a:pPr>
                      <a:r>
                        <a:t>1.30</a:t>
                      </a:r>
                    </a:p>
                  </a:txBody>
                  <a:tcPr>
                    <a:solidFill>
                      <a:srgbClr val="FFFFFF"/>
                    </a:solidFill>
                  </a:tcPr>
                </a:tc>
              </a:tr>
              <a:tr h="418011">
                <a:tc>
                  <a:txBody>
                    <a:bodyPr/>
                    <a:lstStyle/>
                    <a:p>
                      <a:pPr algn="ctr">
                        <a:defRPr sz="1100"/>
                      </a:pPr>
                      <a:r>
                        <a:t>0.40</a:t>
                      </a:r>
                    </a:p>
                  </a:txBody>
                  <a:tcPr>
                    <a:solidFill>
                      <a:srgbClr val="FFFFFF"/>
                    </a:solidFill>
                  </a:tcPr>
                </a:tc>
                <a:tc>
                  <a:txBody>
                    <a:bodyPr/>
                    <a:lstStyle/>
                    <a:p>
                      <a:pPr algn="ctr">
                        <a:defRPr sz="1100"/>
                      </a:pPr>
                      <a:r>
                        <a:t>21.50</a:t>
                      </a:r>
                    </a:p>
                  </a:txBody>
                  <a:tcPr>
                    <a:solidFill>
                      <a:srgbClr val="FFFFFF"/>
                    </a:solidFill>
                  </a:tcPr>
                </a:tc>
                <a:tc>
                  <a:txBody>
                    <a:bodyPr/>
                    <a:lstStyle/>
                    <a:p>
                      <a:pPr algn="ctr">
                        <a:defRPr sz="1100"/>
                      </a:pPr>
                      <a:r>
                        <a:t>2.65</a:t>
                      </a:r>
                    </a:p>
                  </a:txBody>
                  <a:tcPr>
                    <a:solidFill>
                      <a:srgbClr val="FFFFFF"/>
                    </a:solidFill>
                  </a:tcPr>
                </a:tc>
                <a:tc>
                  <a:txBody>
                    <a:bodyPr/>
                    <a:lstStyle/>
                    <a:p>
                      <a:pPr algn="ctr">
                        <a:defRPr sz="1100"/>
                      </a:pPr>
                      <a:r>
                        <a:t>2.70</a:t>
                      </a:r>
                    </a:p>
                  </a:txBody>
                  <a:tcPr>
                    <a:solidFill>
                      <a:srgbClr val="FFFFFF"/>
                    </a:solidFill>
                  </a:tcPr>
                </a:tc>
                <a:tc>
                  <a:txBody>
                    <a:bodyPr/>
                    <a:lstStyle/>
                    <a:p>
                      <a:pPr algn="ctr">
                        <a:defRPr sz="1100"/>
                      </a:pPr>
                      <a:r>
                        <a:t>2.60</a:t>
                      </a:r>
                    </a:p>
                  </a:txBody>
                  <a:tcPr>
                    <a:solidFill>
                      <a:srgbClr val="FFFFFF"/>
                    </a:solidFill>
                  </a:tcPr>
                </a:tc>
                <a:tc>
                  <a:txBody>
                    <a:bodyPr/>
                    <a:lstStyle/>
                    <a:p>
                      <a:pPr algn="ctr">
                        <a:defRPr sz="1100"/>
                      </a:pPr>
                      <a:r>
                        <a:t>2.65</a:t>
                      </a:r>
                    </a:p>
                  </a:txBody>
                  <a:tcPr>
                    <a:solidFill>
                      <a:srgbClr val="FFFFFF"/>
                    </a:solidFill>
                  </a:tcPr>
                </a:tc>
              </a:tr>
              <a:tr h="418011">
                <a:tc>
                  <a:txBody>
                    <a:bodyPr/>
                    <a:lstStyle/>
                    <a:p>
                      <a:pPr algn="ctr">
                        <a:defRPr sz="1100"/>
                      </a:pPr>
                      <a:r>
                        <a:t>0.60</a:t>
                      </a:r>
                    </a:p>
                  </a:txBody>
                  <a:tcPr>
                    <a:solidFill>
                      <a:srgbClr val="FFFFFF"/>
                    </a:solidFill>
                  </a:tcPr>
                </a:tc>
                <a:tc>
                  <a:txBody>
                    <a:bodyPr/>
                    <a:lstStyle/>
                    <a:p>
                      <a:pPr algn="ctr">
                        <a:defRPr sz="1100"/>
                      </a:pPr>
                      <a:r>
                        <a:t>21.55</a:t>
                      </a:r>
                    </a:p>
                  </a:txBody>
                  <a:tcPr>
                    <a:solidFill>
                      <a:srgbClr val="FFFFFF"/>
                    </a:solidFill>
                  </a:tcPr>
                </a:tc>
                <a:tc>
                  <a:txBody>
                    <a:bodyPr/>
                    <a:lstStyle/>
                    <a:p>
                      <a:pPr algn="ctr">
                        <a:defRPr sz="1100"/>
                      </a:pPr>
                      <a:r>
                        <a:t>3.95</a:t>
                      </a:r>
                    </a:p>
                  </a:txBody>
                  <a:tcPr>
                    <a:solidFill>
                      <a:srgbClr val="FFFFFF"/>
                    </a:solidFill>
                  </a:tcPr>
                </a:tc>
                <a:tc>
                  <a:txBody>
                    <a:bodyPr/>
                    <a:lstStyle/>
                    <a:p>
                      <a:pPr algn="ctr">
                        <a:defRPr sz="1100"/>
                      </a:pPr>
                      <a:r>
                        <a:t>4.00</a:t>
                      </a:r>
                    </a:p>
                  </a:txBody>
                  <a:tcPr>
                    <a:solidFill>
                      <a:srgbClr val="FFFFFF"/>
                    </a:solidFill>
                  </a:tcPr>
                </a:tc>
                <a:tc>
                  <a:txBody>
                    <a:bodyPr/>
                    <a:lstStyle/>
                    <a:p>
                      <a:pPr algn="ctr">
                        <a:defRPr sz="1100"/>
                      </a:pPr>
                      <a:r>
                        <a:t>3.90</a:t>
                      </a:r>
                    </a:p>
                  </a:txBody>
                  <a:tcPr>
                    <a:solidFill>
                      <a:srgbClr val="FFFFFF"/>
                    </a:solidFill>
                  </a:tcPr>
                </a:tc>
                <a:tc>
                  <a:txBody>
                    <a:bodyPr/>
                    <a:lstStyle/>
                    <a:p>
                      <a:pPr algn="ctr">
                        <a:defRPr sz="1100"/>
                      </a:pPr>
                      <a:r>
                        <a:t>3.95</a:t>
                      </a:r>
                    </a:p>
                  </a:txBody>
                  <a:tcPr>
                    <a:solidFill>
                      <a:srgbClr val="FFFFFF"/>
                    </a:solidFill>
                  </a:tcPr>
                </a:tc>
              </a:tr>
              <a:tr h="418011">
                <a:tc>
                  <a:txBody>
                    <a:bodyPr/>
                    <a:lstStyle/>
                    <a:p>
                      <a:pPr algn="ctr">
                        <a:defRPr sz="1100"/>
                      </a:pPr>
                      <a:r>
                        <a:t>0.80</a:t>
                      </a:r>
                    </a:p>
                  </a:txBody>
                  <a:tcPr>
                    <a:solidFill>
                      <a:srgbClr val="FFFFFF"/>
                    </a:solidFill>
                  </a:tcPr>
                </a:tc>
                <a:tc>
                  <a:txBody>
                    <a:bodyPr/>
                    <a:lstStyle/>
                    <a:p>
                      <a:pPr algn="ctr">
                        <a:defRPr sz="1100"/>
                      </a:pPr>
                      <a:r>
                        <a:t>21.50</a:t>
                      </a:r>
                    </a:p>
                  </a:txBody>
                  <a:tcPr>
                    <a:solidFill>
                      <a:srgbClr val="FFFFFF"/>
                    </a:solidFill>
                  </a:tcPr>
                </a:tc>
                <a:tc>
                  <a:txBody>
                    <a:bodyPr/>
                    <a:lstStyle/>
                    <a:p>
                      <a:pPr algn="ctr">
                        <a:defRPr sz="1100"/>
                      </a:pPr>
                      <a:r>
                        <a:t>5.25</a:t>
                      </a:r>
                    </a:p>
                  </a:txBody>
                  <a:tcPr>
                    <a:solidFill>
                      <a:srgbClr val="FFFFFF"/>
                    </a:solidFill>
                  </a:tcPr>
                </a:tc>
                <a:tc>
                  <a:txBody>
                    <a:bodyPr/>
                    <a:lstStyle/>
                    <a:p>
                      <a:pPr algn="ctr">
                        <a:defRPr sz="1100"/>
                      </a:pPr>
                      <a:r>
                        <a:t>1.80*</a:t>
                      </a:r>
                    </a:p>
                  </a:txBody>
                  <a:tcPr>
                    <a:solidFill>
                      <a:srgbClr val="FEE2E2"/>
                    </a:solidFill>
                  </a:tcPr>
                </a:tc>
                <a:tc>
                  <a:txBody>
                    <a:bodyPr/>
                    <a:lstStyle/>
                    <a:p>
                      <a:pPr algn="ctr">
                        <a:defRPr sz="1100"/>
                      </a:pPr>
                      <a:r>
                        <a:t>5.35</a:t>
                      </a:r>
                    </a:p>
                  </a:txBody>
                  <a:tcPr>
                    <a:solidFill>
                      <a:srgbClr val="FFFFFF"/>
                    </a:solidFill>
                  </a:tcPr>
                </a:tc>
                <a:tc>
                  <a:txBody>
                    <a:bodyPr/>
                    <a:lstStyle/>
                    <a:p>
                      <a:pPr algn="ctr">
                        <a:defRPr sz="1100"/>
                      </a:pPr>
                      <a:r>
                        <a:t>5.30*</a:t>
                      </a:r>
                    </a:p>
                  </a:txBody>
                  <a:tcPr>
                    <a:solidFill>
                      <a:srgbClr val="FEE2E2"/>
                    </a:solidFill>
                  </a:tcPr>
                </a:tc>
              </a:tr>
              <a:tr h="418011">
                <a:tc>
                  <a:txBody>
                    <a:bodyPr/>
                    <a:lstStyle/>
                    <a:p>
                      <a:pPr algn="ctr">
                        <a:defRPr sz="1100"/>
                      </a:pPr>
                      <a:r>
                        <a:t>1.00</a:t>
                      </a:r>
                    </a:p>
                  </a:txBody>
                  <a:tcPr>
                    <a:solidFill>
                      <a:srgbClr val="FFFFFF"/>
                    </a:solidFill>
                  </a:tcPr>
                </a:tc>
                <a:tc>
                  <a:txBody>
                    <a:bodyPr/>
                    <a:lstStyle/>
                    <a:p>
                      <a:pPr algn="ctr">
                        <a:defRPr sz="1100"/>
                      </a:pPr>
                      <a:r>
                        <a:t>21.60</a:t>
                      </a:r>
                    </a:p>
                  </a:txBody>
                  <a:tcPr>
                    <a:solidFill>
                      <a:srgbClr val="FFFFFF"/>
                    </a:solidFill>
                  </a:tcPr>
                </a:tc>
                <a:tc>
                  <a:txBody>
                    <a:bodyPr/>
                    <a:lstStyle/>
                    <a:p>
                      <a:pPr algn="ctr">
                        <a:defRPr sz="1100"/>
                      </a:pPr>
                      <a:r>
                        <a:t>6.60</a:t>
                      </a:r>
                    </a:p>
                  </a:txBody>
                  <a:tcPr>
                    <a:solidFill>
                      <a:srgbClr val="FFFFFF"/>
                    </a:solidFill>
                  </a:tcPr>
                </a:tc>
                <a:tc>
                  <a:txBody>
                    <a:bodyPr/>
                    <a:lstStyle/>
                    <a:p>
                      <a:pPr algn="ctr">
                        <a:defRPr sz="1100"/>
                      </a:pPr>
                      <a:r>
                        <a:t>6.55</a:t>
                      </a:r>
                    </a:p>
                  </a:txBody>
                  <a:tcPr>
                    <a:solidFill>
                      <a:srgbClr val="FFFFFF"/>
                    </a:solidFill>
                  </a:tcPr>
                </a:tc>
                <a:tc>
                  <a:txBody>
                    <a:bodyPr/>
                    <a:lstStyle/>
                    <a:p>
                      <a:pPr algn="ctr">
                        <a:defRPr sz="1100"/>
                      </a:pPr>
                      <a:r>
                        <a:t>6.65</a:t>
                      </a:r>
                    </a:p>
                  </a:txBody>
                  <a:tcPr>
                    <a:solidFill>
                      <a:srgbClr val="FFFFFF"/>
                    </a:solidFill>
                  </a:tcPr>
                </a:tc>
                <a:tc>
                  <a:txBody>
                    <a:bodyPr/>
                    <a:lstStyle/>
                    <a:p>
                      <a:pPr algn="ctr">
                        <a:defRPr sz="1100"/>
                      </a:pPr>
                      <a:r>
                        <a:t>6.60</a:t>
                      </a:r>
                    </a:p>
                  </a:txBody>
                  <a:tcPr>
                    <a:solidFill>
                      <a:srgbClr val="FFFFFF"/>
                    </a:solidFill>
                  </a:tcPr>
                </a:tc>
              </a:tr>
              <a:tr h="418014">
                <a:tc>
                  <a:txBody>
                    <a:bodyPr/>
                    <a:lstStyle/>
                    <a:p/>
                  </a:txBody>
                  <a:tcPr/>
                </a:tc>
                <a:tc>
                  <a:txBody>
                    <a:bodyPr/>
                    <a:lstStyle/>
                    <a:p/>
                  </a:txBody>
                  <a:tcPr/>
                </a:tc>
                <a:tc>
                  <a:txBody>
                    <a:bodyPr/>
                    <a:lstStyle/>
                    <a:p/>
                  </a:txBody>
                  <a:tcPr/>
                </a:tc>
                <a:tc>
                  <a:txBody>
                    <a:bodyPr/>
                    <a:lstStyle/>
                    <a:p/>
                  </a:txBody>
                  <a:tcPr/>
                </a:tc>
                <a:tc>
                  <a:txBody>
                    <a:bodyPr/>
                    <a:lstStyle/>
                    <a:p/>
                  </a:txBody>
                  <a:tcPr/>
                </a:tc>
                <a:tc>
                  <a:txBody>
                    <a:bodyPr/>
                    <a:lstStyle/>
                    <a:p/>
                  </a:txBody>
                  <a:tcPr/>
                </a:tc>
              </a:tr>
            </a:tbl>
          </a:graphicData>
        </a:graphic>
      </p:graphicFrame>
      <p:sp>
        <p:nvSpPr>
          <p:cNvPr id="5" name="Rounded Rectangle 4"/>
          <p:cNvSpPr/>
          <p:nvPr/>
        </p:nvSpPr>
        <p:spPr>
          <a:xfrm>
            <a:off x="548640" y="4846320"/>
            <a:ext cx="10972800" cy="1371600"/>
          </a:xfrm>
          <a:prstGeom prst="roundRect">
            <a:avLst/>
          </a:prstGeom>
          <a:solidFill>
            <a:srgbClr val="FEF2F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EF4444"/>
                </a:solidFill>
              </a:defRPr>
            </a:pPr>
            <a:r>
              <a:t>⚠️ Anomaly Screening &amp; Justification (Criterion C Strand i):</a:t>
            </a:r>
          </a:p>
          <a:p>
            <a:pPr>
              <a:defRPr sz="1000">
                <a:solidFill>
                  <a:srgbClr val="0F172A"/>
                </a:solidFill>
              </a:defRPr>
            </a:pPr>
            <a:r>
              <a:t>At 0.80 mol/dm³ HCl, Trial 2 recorded ΔT = 1.80 °C, which severely diverges from Trial 1 (5.25 °C) and Trial 3 (5.35 °C). This outlier was caused by failure to seat the calorimeter lid immediately, allowing warm convection currents to escape before the sensor equilibrated. This value is flagged as anomalous and excluded from the mean: Mean ΔT = (5.25 + 5.35) ÷ 2 = 5.30 °C.</a:t>
            </a:r>
          </a:p>
        </p:txBody>
      </p:sp>
      <p:sp>
        <p:nvSpPr>
          <p:cNvPr id="6" name="TextBox 5"/>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wipe dir="l"/>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EXPERIMENT EVALUATION</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Evaluating Method Validity &amp; Suggesting Improvements (Criterion C iv &amp; v)</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Routine: Red Light, Yellow Light, Green Light for Scientific Error Analysis</a:t>
            </a:r>
          </a:p>
        </p:txBody>
      </p:sp>
      <p:sp>
        <p:nvSpPr>
          <p:cNvPr id="5" name="Rounded Rectangle 4"/>
          <p:cNvSpPr/>
          <p:nvPr/>
        </p:nvSpPr>
        <p:spPr>
          <a:xfrm>
            <a:off x="54864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474720" cy="45720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 Red Light: Systematic Errors</a:t>
            </a:r>
          </a:p>
        </p:txBody>
      </p:sp>
      <p:sp>
        <p:nvSpPr>
          <p:cNvPr id="7" name="TextBox 6"/>
          <p:cNvSpPr txBox="1"/>
          <p:nvPr/>
        </p:nvSpPr>
        <p:spPr>
          <a:xfrm>
            <a:off x="731520" y="2176272"/>
            <a:ext cx="3108960" cy="3767328"/>
          </a:xfrm>
          <a:prstGeom prst="rect">
            <a:avLst/>
          </a:prstGeom>
          <a:noFill/>
        </p:spPr>
        <p:txBody>
          <a:bodyPr wrap="square">
            <a:spAutoFit/>
          </a:bodyPr>
          <a:lstStyle/>
          <a:p>
            <a:pPr>
              <a:spcAft>
                <a:spcPts val="300"/>
              </a:spcAft>
              <a:defRPr sz="1000">
                <a:solidFill>
                  <a:srgbClr val="0F172A"/>
                </a:solidFill>
              </a:defRPr>
            </a:pPr>
            <a:r>
              <a:t>Major Flaws in Method Validity:</a:t>
            </a:r>
          </a:p>
          <a:p>
            <a:pPr>
              <a:spcAft>
                <a:spcPts val="300"/>
              </a:spcAft>
              <a:defRPr sz="1000">
                <a:solidFill>
                  <a:srgbClr val="0F172A"/>
                </a:solidFill>
              </a:defRPr>
            </a:pPr>
          </a:p>
          <a:p>
            <a:pPr>
              <a:spcAft>
                <a:spcPts val="300"/>
              </a:spcAft>
              <a:defRPr sz="1000">
                <a:solidFill>
                  <a:srgbClr val="0F172A"/>
                </a:solidFill>
              </a:defRPr>
            </a:pPr>
            <a:r>
              <a:t>1. Heat Loss to Surroundings:</a:t>
            </a:r>
          </a:p>
          <a:p>
            <a:pPr>
              <a:spcAft>
                <a:spcPts val="300"/>
              </a:spcAft>
              <a:defRPr sz="1000">
                <a:solidFill>
                  <a:srgbClr val="0F172A"/>
                </a:solidFill>
              </a:defRPr>
            </a:pPr>
            <a:r>
              <a:t>  • The polystyrene cup is not a perfect insulator; heat escaped through the probe hole.</a:t>
            </a:r>
          </a:p>
          <a:p>
            <a:pPr>
              <a:spcAft>
                <a:spcPts val="300"/>
              </a:spcAft>
              <a:defRPr sz="1000">
                <a:solidFill>
                  <a:srgbClr val="0F172A"/>
                </a:solidFill>
              </a:defRPr>
            </a:pPr>
            <a:r>
              <a:t>  • Effect: Measured ΔT is systematically lower than true value -&gt; calculated ΔH is less exothermic than -57.1 kJ/mol.</a:t>
            </a:r>
          </a:p>
          <a:p>
            <a:pPr>
              <a:spcAft>
                <a:spcPts val="300"/>
              </a:spcAft>
              <a:defRPr sz="1000">
                <a:solidFill>
                  <a:srgbClr val="0F172A"/>
                </a:solidFill>
              </a:defRPr>
            </a:pPr>
          </a:p>
          <a:p>
            <a:pPr>
              <a:spcAft>
                <a:spcPts val="300"/>
              </a:spcAft>
              <a:defRPr sz="1000">
                <a:solidFill>
                  <a:srgbClr val="0F172A"/>
                </a:solidFill>
              </a:defRPr>
            </a:pPr>
            <a:r>
              <a:t>2. Heat Capacity of Solution:</a:t>
            </a:r>
          </a:p>
          <a:p>
            <a:pPr>
              <a:spcAft>
                <a:spcPts val="300"/>
              </a:spcAft>
              <a:defRPr sz="1000">
                <a:solidFill>
                  <a:srgbClr val="0F172A"/>
                </a:solidFill>
              </a:defRPr>
            </a:pPr>
            <a:r>
              <a:t>  • Assumed c = 4.18 J/g·°C and density = 1.00 g/cm³ like pure water. In reality, dissolved ions lower specific heat capacity.</a:t>
            </a:r>
          </a:p>
        </p:txBody>
      </p:sp>
      <p:sp>
        <p:nvSpPr>
          <p:cNvPr id="8" name="Rounded Rectangle 7"/>
          <p:cNvSpPr/>
          <p:nvPr/>
        </p:nvSpPr>
        <p:spPr>
          <a:xfrm>
            <a:off x="429768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645920"/>
            <a:ext cx="3474720" cy="4572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 Yellow Light: Limitations</a:t>
            </a:r>
          </a:p>
        </p:txBody>
      </p:sp>
      <p:sp>
        <p:nvSpPr>
          <p:cNvPr id="10" name="TextBox 9"/>
          <p:cNvSpPr txBox="1"/>
          <p:nvPr/>
        </p:nvSpPr>
        <p:spPr>
          <a:xfrm>
            <a:off x="4480560" y="2176272"/>
            <a:ext cx="3108960" cy="3767328"/>
          </a:xfrm>
          <a:prstGeom prst="rect">
            <a:avLst/>
          </a:prstGeom>
          <a:noFill/>
        </p:spPr>
        <p:txBody>
          <a:bodyPr wrap="square">
            <a:spAutoFit/>
          </a:bodyPr>
          <a:lstStyle/>
          <a:p>
            <a:pPr>
              <a:spcAft>
                <a:spcPts val="300"/>
              </a:spcAft>
              <a:defRPr sz="1000">
                <a:solidFill>
                  <a:srgbClr val="0F172A"/>
                </a:solidFill>
              </a:defRPr>
            </a:pPr>
            <a:r>
              <a:t>Uncertainties &amp; Experimental Noise:</a:t>
            </a:r>
          </a:p>
          <a:p>
            <a:pPr>
              <a:spcAft>
                <a:spcPts val="300"/>
              </a:spcAft>
              <a:defRPr sz="1000">
                <a:solidFill>
                  <a:srgbClr val="0F172A"/>
                </a:solidFill>
              </a:defRPr>
            </a:pPr>
          </a:p>
          <a:p>
            <a:pPr>
              <a:spcAft>
                <a:spcPts val="300"/>
              </a:spcAft>
              <a:defRPr sz="1000">
                <a:solidFill>
                  <a:srgbClr val="0F172A"/>
                </a:solidFill>
              </a:defRPr>
            </a:pPr>
            <a:r>
              <a:t>1. Probe Thermal Lag:</a:t>
            </a:r>
          </a:p>
          <a:p>
            <a:pPr>
              <a:spcAft>
                <a:spcPts val="300"/>
              </a:spcAft>
              <a:defRPr sz="1000">
                <a:solidFill>
                  <a:srgbClr val="0F172A"/>
                </a:solidFill>
              </a:defRPr>
            </a:pPr>
            <a:r>
              <a:t>  • Digital probe had a 4-second response time; peak temperature cooled slightly while probe registered.</a:t>
            </a:r>
          </a:p>
          <a:p>
            <a:pPr>
              <a:spcAft>
                <a:spcPts val="300"/>
              </a:spcAft>
              <a:defRPr sz="1000">
                <a:solidFill>
                  <a:srgbClr val="0F172A"/>
                </a:solidFill>
              </a:defRPr>
            </a:pPr>
          </a:p>
          <a:p>
            <a:pPr>
              <a:spcAft>
                <a:spcPts val="300"/>
              </a:spcAft>
              <a:defRPr sz="1000">
                <a:solidFill>
                  <a:srgbClr val="0F172A"/>
                </a:solidFill>
              </a:defRPr>
            </a:pPr>
            <a:r>
              <a:t>2. Room Temperature Fluctuations:</a:t>
            </a:r>
          </a:p>
          <a:p>
            <a:pPr>
              <a:spcAft>
                <a:spcPts val="300"/>
              </a:spcAft>
              <a:defRPr sz="1000">
                <a:solidFill>
                  <a:srgbClr val="0F172A"/>
                </a:solidFill>
              </a:defRPr>
            </a:pPr>
            <a:r>
              <a:t>  • Initial reactant temperatures varied by ± 0.3 °C between trials due to laboratory air conditioning cycles.</a:t>
            </a:r>
          </a:p>
          <a:p>
            <a:pPr>
              <a:spcAft>
                <a:spcPts val="300"/>
              </a:spcAft>
              <a:defRPr sz="1000">
                <a:solidFill>
                  <a:srgbClr val="0F172A"/>
                </a:solidFill>
              </a:defRPr>
            </a:pPr>
          </a:p>
          <a:p>
            <a:pPr>
              <a:spcAft>
                <a:spcPts val="300"/>
              </a:spcAft>
              <a:defRPr sz="1000">
                <a:solidFill>
                  <a:srgbClr val="0F172A"/>
                </a:solidFill>
              </a:defRPr>
            </a:pPr>
            <a:r>
              <a:t>3. Incomplete Mixing:</a:t>
            </a:r>
          </a:p>
          <a:p>
            <a:pPr>
              <a:spcAft>
                <a:spcPts val="300"/>
              </a:spcAft>
              <a:defRPr sz="1000">
                <a:solidFill>
                  <a:srgbClr val="0F172A"/>
                </a:solidFill>
              </a:defRPr>
            </a:pPr>
            <a:r>
              <a:t>  • Manual swirling caused uneven temperature distribution inside the cup.</a:t>
            </a:r>
          </a:p>
        </p:txBody>
      </p:sp>
      <p:sp>
        <p:nvSpPr>
          <p:cNvPr id="11" name="Rounded Rectangle 10"/>
          <p:cNvSpPr/>
          <p:nvPr/>
        </p:nvSpPr>
        <p:spPr>
          <a:xfrm>
            <a:off x="804672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474720" cy="4572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 Green Light: Specific Improvements</a:t>
            </a:r>
          </a:p>
        </p:txBody>
      </p:sp>
      <p:sp>
        <p:nvSpPr>
          <p:cNvPr id="13" name="TextBox 12"/>
          <p:cNvSpPr txBox="1"/>
          <p:nvPr/>
        </p:nvSpPr>
        <p:spPr>
          <a:xfrm>
            <a:off x="8229600" y="2176272"/>
            <a:ext cx="3108960" cy="3767328"/>
          </a:xfrm>
          <a:prstGeom prst="rect">
            <a:avLst/>
          </a:prstGeom>
          <a:noFill/>
        </p:spPr>
        <p:txBody>
          <a:bodyPr wrap="square">
            <a:spAutoFit/>
          </a:bodyPr>
          <a:lstStyle/>
          <a:p>
            <a:pPr>
              <a:spcAft>
                <a:spcPts val="300"/>
              </a:spcAft>
              <a:defRPr sz="1000">
                <a:solidFill>
                  <a:srgbClr val="0F172A"/>
                </a:solidFill>
              </a:defRPr>
            </a:pPr>
            <a:r>
              <a:t>Realistic &amp; Targeted Refinements:</a:t>
            </a:r>
          </a:p>
          <a:p>
            <a:pPr>
              <a:spcAft>
                <a:spcPts val="300"/>
              </a:spcAft>
              <a:defRPr sz="1000">
                <a:solidFill>
                  <a:srgbClr val="0F172A"/>
                </a:solidFill>
              </a:defRPr>
            </a:pPr>
          </a:p>
          <a:p>
            <a:pPr>
              <a:spcAft>
                <a:spcPts val="300"/>
              </a:spcAft>
              <a:defRPr sz="1000">
                <a:solidFill>
                  <a:srgbClr val="0F172A"/>
                </a:solidFill>
              </a:defRPr>
            </a:pPr>
            <a:r>
              <a:t>1. Extrapolate Cooling Curve:</a:t>
            </a:r>
          </a:p>
          <a:p>
            <a:pPr>
              <a:spcAft>
                <a:spcPts val="300"/>
              </a:spcAft>
              <a:defRPr sz="1000">
                <a:solidFill>
                  <a:srgbClr val="0F172A"/>
                </a:solidFill>
              </a:defRPr>
            </a:pPr>
            <a:r>
              <a:t>  • Record temperature every 15s for 3 min before mixing, mix, then record cooling curve for 5 min. Extrapolate back to t = 0 to determine true instantaneous T_max.</a:t>
            </a:r>
          </a:p>
          <a:p>
            <a:pPr>
              <a:spcAft>
                <a:spcPts val="300"/>
              </a:spcAft>
              <a:defRPr sz="1000">
                <a:solidFill>
                  <a:srgbClr val="0F172A"/>
                </a:solidFill>
              </a:defRPr>
            </a:pPr>
          </a:p>
          <a:p>
            <a:pPr>
              <a:spcAft>
                <a:spcPts val="300"/>
              </a:spcAft>
              <a:defRPr sz="1000">
                <a:solidFill>
                  <a:srgbClr val="0F172A"/>
                </a:solidFill>
              </a:defRPr>
            </a:pPr>
            <a:r>
              <a:t>2. Hardware Upgrade:</a:t>
            </a:r>
          </a:p>
          <a:p>
            <a:pPr>
              <a:spcAft>
                <a:spcPts val="300"/>
              </a:spcAft>
              <a:defRPr sz="1000">
                <a:solidFill>
                  <a:srgbClr val="0F172A"/>
                </a:solidFill>
              </a:defRPr>
            </a:pPr>
            <a:r>
              <a:t>  • Use a vacuum-jacketed silvered Dewar flask with a sealed magnetic stirrer.</a:t>
            </a:r>
          </a:p>
          <a:p>
            <a:pPr>
              <a:spcAft>
                <a:spcPts val="300"/>
              </a:spcAft>
              <a:defRPr sz="1000">
                <a:solidFill>
                  <a:srgbClr val="0F172A"/>
                </a:solidFill>
              </a:defRPr>
            </a:pPr>
          </a:p>
          <a:p>
            <a:pPr>
              <a:spcAft>
                <a:spcPts val="300"/>
              </a:spcAft>
              <a:defRPr sz="1000">
                <a:solidFill>
                  <a:srgbClr val="0F172A"/>
                </a:solidFill>
              </a:defRPr>
            </a:pPr>
            <a:r>
              <a:t>3. Calibration:</a:t>
            </a:r>
          </a:p>
          <a:p>
            <a:pPr>
              <a:spcAft>
                <a:spcPts val="300"/>
              </a:spcAft>
              <a:defRPr sz="1000">
                <a:solidFill>
                  <a:srgbClr val="0F172A"/>
                </a:solidFill>
              </a:defRPr>
            </a:pPr>
            <a:r>
              <a:t>  • Pre-determine the calorimeter heat capacity (C_cal) using electrical heating.</a:t>
            </a:r>
          </a:p>
        </p:txBody>
      </p:sp>
      <p:sp>
        <p:nvSpPr>
          <p:cNvPr id="14" name="TextBox 13"/>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CHECK FOR UNDERSTANDING</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Hinge Question 2: Energetics of Dilution vs Volume</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Show me: 1–4 fingers on 3-2-1</a:t>
            </a:r>
          </a:p>
        </p:txBody>
      </p:sp>
      <p:sp>
        <p:nvSpPr>
          <p:cNvPr id="5" name="TextBox 4"/>
          <p:cNvSpPr txBox="1"/>
          <p:nvPr/>
        </p:nvSpPr>
        <p:spPr>
          <a:xfrm>
            <a:off x="548640" y="1645920"/>
            <a:ext cx="10972800" cy="731520"/>
          </a:xfrm>
          <a:prstGeom prst="rect">
            <a:avLst/>
          </a:prstGeom>
          <a:noFill/>
        </p:spPr>
        <p:txBody>
          <a:bodyPr wrap="none">
            <a:spAutoFit/>
          </a:bodyPr>
          <a:lstStyle/>
          <a:p>
            <a:pPr>
              <a:defRPr sz="1300" b="1">
                <a:solidFill>
                  <a:srgbClr val="0F172A"/>
                </a:solidFill>
              </a:defRPr>
            </a:pPr>
            <a:r>
              <a:t>In an experiment, 25 cm³ of 1.0 mol/dm³ HCl is mixed with 25 cm³ of 1.0 mol/dm³ NaOH, producing a temperature rise of 6.5 °C. If the experiment is repeated using 50 cm³ of 1.0 mol/dm³ HCl and 50 cm³ of 1.0 mol/dm³ NaOH, what will the temperature rise be?</a:t>
            </a:r>
          </a:p>
        </p:txBody>
      </p:sp>
      <p:sp>
        <p:nvSpPr>
          <p:cNvPr id="6" name="Rounded Rectangle 5"/>
          <p:cNvSpPr/>
          <p:nvPr/>
        </p:nvSpPr>
        <p:spPr>
          <a:xfrm>
            <a:off x="548640" y="2468880"/>
            <a:ext cx="5303520" cy="1051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761488"/>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1</a:t>
            </a:r>
          </a:p>
        </p:txBody>
      </p:sp>
      <p:sp>
        <p:nvSpPr>
          <p:cNvPr id="8" name="TextBox 7"/>
          <p:cNvSpPr txBox="1"/>
          <p:nvPr/>
        </p:nvSpPr>
        <p:spPr>
          <a:xfrm>
            <a:off x="1280160" y="2606040"/>
            <a:ext cx="4389120" cy="777240"/>
          </a:xfrm>
          <a:prstGeom prst="rect">
            <a:avLst/>
          </a:prstGeom>
          <a:noFill/>
        </p:spPr>
        <p:txBody>
          <a:bodyPr wrap="square">
            <a:spAutoFit/>
          </a:bodyPr>
          <a:lstStyle/>
          <a:p>
            <a:pPr>
              <a:defRPr sz="1100">
                <a:solidFill>
                  <a:srgbClr val="0F172A"/>
                </a:solidFill>
              </a:defRPr>
            </a:pPr>
            <a:r>
              <a:t>ΔT = 3.25 °C (half, because total solution volume is doubled).</a:t>
            </a:r>
          </a:p>
        </p:txBody>
      </p:sp>
      <p:sp>
        <p:nvSpPr>
          <p:cNvPr id="9" name="Rounded Rectangle 8"/>
          <p:cNvSpPr/>
          <p:nvPr/>
        </p:nvSpPr>
        <p:spPr>
          <a:xfrm>
            <a:off x="6126479" y="2468880"/>
            <a:ext cx="5303520" cy="1051560"/>
          </a:xfrm>
          <a:prstGeom prst="roundRect">
            <a:avLst/>
          </a:prstGeom>
          <a:solidFill>
            <a:srgbClr val="F0FDF4"/>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309359" y="2761488"/>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2</a:t>
            </a:r>
          </a:p>
        </p:txBody>
      </p:sp>
      <p:sp>
        <p:nvSpPr>
          <p:cNvPr id="11" name="TextBox 10"/>
          <p:cNvSpPr txBox="1"/>
          <p:nvPr/>
        </p:nvSpPr>
        <p:spPr>
          <a:xfrm>
            <a:off x="6857999" y="2606040"/>
            <a:ext cx="4389120" cy="777240"/>
          </a:xfrm>
          <a:prstGeom prst="rect">
            <a:avLst/>
          </a:prstGeom>
          <a:noFill/>
        </p:spPr>
        <p:txBody>
          <a:bodyPr wrap="square">
            <a:spAutoFit/>
          </a:bodyPr>
          <a:lstStyle/>
          <a:p>
            <a:pPr>
              <a:defRPr sz="1100">
                <a:solidFill>
                  <a:srgbClr val="0F172A"/>
                </a:solidFill>
              </a:defRPr>
            </a:pPr>
            <a:r>
              <a:t>ΔT = 6.5 °C (the same, because twice the heat heats twice the mass).</a:t>
            </a:r>
          </a:p>
        </p:txBody>
      </p:sp>
      <p:sp>
        <p:nvSpPr>
          <p:cNvPr id="12" name="Rounded Rectangle 11"/>
          <p:cNvSpPr/>
          <p:nvPr/>
        </p:nvSpPr>
        <p:spPr>
          <a:xfrm>
            <a:off x="548640" y="3749039"/>
            <a:ext cx="5303520" cy="1051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4041647"/>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3</a:t>
            </a:r>
          </a:p>
        </p:txBody>
      </p:sp>
      <p:sp>
        <p:nvSpPr>
          <p:cNvPr id="14" name="TextBox 13"/>
          <p:cNvSpPr txBox="1"/>
          <p:nvPr/>
        </p:nvSpPr>
        <p:spPr>
          <a:xfrm>
            <a:off x="1280160" y="3886199"/>
            <a:ext cx="4389120" cy="777240"/>
          </a:xfrm>
          <a:prstGeom prst="rect">
            <a:avLst/>
          </a:prstGeom>
          <a:noFill/>
        </p:spPr>
        <p:txBody>
          <a:bodyPr wrap="square">
            <a:spAutoFit/>
          </a:bodyPr>
          <a:lstStyle/>
          <a:p>
            <a:pPr>
              <a:defRPr sz="1100">
                <a:solidFill>
                  <a:srgbClr val="0F172A"/>
                </a:solidFill>
              </a:defRPr>
            </a:pPr>
            <a:r>
              <a:t>ΔT = 13.0 °C (double, because twice as many moles reacted).</a:t>
            </a:r>
          </a:p>
        </p:txBody>
      </p:sp>
      <p:sp>
        <p:nvSpPr>
          <p:cNvPr id="15" name="Rounded Rectangle 14"/>
          <p:cNvSpPr/>
          <p:nvPr/>
        </p:nvSpPr>
        <p:spPr>
          <a:xfrm>
            <a:off x="6126479" y="3749039"/>
            <a:ext cx="5303520" cy="1051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09359" y="4041647"/>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4</a:t>
            </a:r>
          </a:p>
        </p:txBody>
      </p:sp>
      <p:sp>
        <p:nvSpPr>
          <p:cNvPr id="17" name="TextBox 16"/>
          <p:cNvSpPr txBox="1"/>
          <p:nvPr/>
        </p:nvSpPr>
        <p:spPr>
          <a:xfrm>
            <a:off x="6857999" y="3886199"/>
            <a:ext cx="4389120" cy="777240"/>
          </a:xfrm>
          <a:prstGeom prst="rect">
            <a:avLst/>
          </a:prstGeom>
          <a:noFill/>
        </p:spPr>
        <p:txBody>
          <a:bodyPr wrap="square">
            <a:spAutoFit/>
          </a:bodyPr>
          <a:lstStyle/>
          <a:p>
            <a:pPr>
              <a:defRPr sz="1100">
                <a:solidFill>
                  <a:srgbClr val="0F172A"/>
                </a:solidFill>
              </a:defRPr>
            </a:pPr>
            <a:r>
              <a:t>ΔT = 0.0 °C (heat absorbed by extra water molecules).</a:t>
            </a:r>
          </a:p>
        </p:txBody>
      </p:sp>
      <p:sp>
        <p:nvSpPr>
          <p:cNvPr id="18" name="Rectangle 17"/>
          <p:cNvSpPr/>
          <p:nvPr/>
        </p:nvSpPr>
        <p:spPr>
          <a:xfrm>
            <a:off x="548640" y="5212080"/>
            <a:ext cx="10972800" cy="1005840"/>
          </a:xfrm>
          <a:prstGeom prst="rect">
            <a:avLst/>
          </a:prstGeom>
          <a:solidFill>
            <a:srgbClr val="DCFCE7"/>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50">
                <a:solidFill>
                  <a:srgbClr val="166534"/>
                </a:solidFill>
              </a:defRPr>
            </a:pPr>
            <a:r>
              <a:t>✔ Correct Answer: 2 (ΔT = 6.5 °C).</a:t>
            </a:r>
          </a:p>
          <a:p>
            <a:pPr>
              <a:defRPr sz="1000">
                <a:solidFill>
                  <a:srgbClr val="0F172A"/>
                </a:solidFill>
              </a:defRPr>
            </a:pPr>
            <a:r>
              <a:t>Diagnostic Rationale: Twice as many moles react (2q heat), but twice the mass (100g vs 50g) is heated. Since ΔT = q ÷ (m·c), the factor of 2 cancels out: ΔT remains unchanged.</a:t>
            </a:r>
          </a:p>
        </p:txBody>
      </p:sp>
      <p:sp>
        <p:nvSpPr>
          <p:cNvPr id="19" name="TextBox 18"/>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split orient="horz"/>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VISUAL THINKING ROUTINE</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Generate – Sort – Connect – Elaborate: Master Concept Synthesis</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Routine: Synthesize the 6 unit standards into an integrated conceptual network</a:t>
            </a:r>
          </a:p>
        </p:txBody>
      </p:sp>
      <p:sp>
        <p:nvSpPr>
          <p:cNvPr id="5" name="Rounded Rectangle 4"/>
          <p:cNvSpPr/>
          <p:nvPr/>
        </p:nvSpPr>
        <p:spPr>
          <a:xfrm>
            <a:off x="548640" y="1645920"/>
            <a:ext cx="25603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560320" cy="45720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1. Generate</a:t>
            </a:r>
          </a:p>
        </p:txBody>
      </p:sp>
      <p:sp>
        <p:nvSpPr>
          <p:cNvPr id="7" name="TextBox 6"/>
          <p:cNvSpPr txBox="1"/>
          <p:nvPr/>
        </p:nvSpPr>
        <p:spPr>
          <a:xfrm>
            <a:off x="731520" y="2176272"/>
            <a:ext cx="2194560" cy="3767328"/>
          </a:xfrm>
          <a:prstGeom prst="rect">
            <a:avLst/>
          </a:prstGeom>
          <a:noFill/>
        </p:spPr>
        <p:txBody>
          <a:bodyPr wrap="square">
            <a:spAutoFit/>
          </a:bodyPr>
          <a:lstStyle/>
          <a:p>
            <a:pPr>
              <a:spcAft>
                <a:spcPts val="300"/>
              </a:spcAft>
              <a:defRPr sz="1000">
                <a:solidFill>
                  <a:srgbClr val="0F172A"/>
                </a:solidFill>
              </a:defRPr>
            </a:pPr>
            <a:r>
              <a:t>📝 List Key Vocabulary:</a:t>
            </a:r>
          </a:p>
          <a:p>
            <a:pPr>
              <a:spcAft>
                <a:spcPts val="300"/>
              </a:spcAft>
              <a:defRPr sz="1000">
                <a:solidFill>
                  <a:srgbClr val="0F172A"/>
                </a:solidFill>
              </a:defRPr>
            </a:pPr>
          </a:p>
          <a:p>
            <a:pPr>
              <a:spcAft>
                <a:spcPts val="300"/>
              </a:spcAft>
              <a:defRPr sz="1000">
                <a:solidFill>
                  <a:srgbClr val="0F172A"/>
                </a:solidFill>
              </a:defRPr>
            </a:pPr>
            <a:r>
              <a:t>• Valence electrons</a:t>
            </a:r>
          </a:p>
          <a:p>
            <a:pPr>
              <a:spcAft>
                <a:spcPts val="300"/>
              </a:spcAft>
              <a:defRPr sz="1000">
                <a:solidFill>
                  <a:srgbClr val="0F172A"/>
                </a:solidFill>
              </a:defRPr>
            </a:pPr>
            <a:r>
              <a:t>• Activity series</a:t>
            </a:r>
          </a:p>
          <a:p>
            <a:pPr>
              <a:spcAft>
                <a:spcPts val="300"/>
              </a:spcAft>
              <a:defRPr sz="1000">
                <a:solidFill>
                  <a:srgbClr val="0F172A"/>
                </a:solidFill>
              </a:defRPr>
            </a:pPr>
            <a:r>
              <a:t>• Single displacement</a:t>
            </a:r>
          </a:p>
          <a:p>
            <a:pPr>
              <a:spcAft>
                <a:spcPts val="300"/>
              </a:spcAft>
              <a:defRPr sz="1000">
                <a:solidFill>
                  <a:srgbClr val="0F172A"/>
                </a:solidFill>
              </a:defRPr>
            </a:pPr>
            <a:r>
              <a:t>• Neutralization</a:t>
            </a:r>
          </a:p>
          <a:p>
            <a:pPr>
              <a:spcAft>
                <a:spcPts val="300"/>
              </a:spcAft>
              <a:defRPr sz="1000">
                <a:solidFill>
                  <a:srgbClr val="0F172A"/>
                </a:solidFill>
              </a:defRPr>
            </a:pPr>
            <a:r>
              <a:t>• pH scale &amp; [H+]</a:t>
            </a:r>
          </a:p>
          <a:p>
            <a:pPr>
              <a:spcAft>
                <a:spcPts val="300"/>
              </a:spcAft>
              <a:defRPr sz="1000">
                <a:solidFill>
                  <a:srgbClr val="0F172A"/>
                </a:solidFill>
              </a:defRPr>
            </a:pPr>
            <a:r>
              <a:t>• Volumetric titration</a:t>
            </a:r>
          </a:p>
          <a:p>
            <a:pPr>
              <a:spcAft>
                <a:spcPts val="300"/>
              </a:spcAft>
              <a:defRPr sz="1000">
                <a:solidFill>
                  <a:srgbClr val="0F172A"/>
                </a:solidFill>
              </a:defRPr>
            </a:pPr>
            <a:r>
              <a:t>• Concordant titre</a:t>
            </a:r>
          </a:p>
          <a:p>
            <a:pPr>
              <a:spcAft>
                <a:spcPts val="300"/>
              </a:spcAft>
              <a:defRPr sz="1000">
                <a:solidFill>
                  <a:srgbClr val="0F172A"/>
                </a:solidFill>
              </a:defRPr>
            </a:pPr>
            <a:r>
              <a:t>• Conservation of mass</a:t>
            </a:r>
          </a:p>
          <a:p>
            <a:pPr>
              <a:spcAft>
                <a:spcPts val="300"/>
              </a:spcAft>
              <a:defRPr sz="1000">
                <a:solidFill>
                  <a:srgbClr val="0F172A"/>
                </a:solidFill>
              </a:defRPr>
            </a:pPr>
            <a:r>
              <a:t>• Bond breaking (endo)</a:t>
            </a:r>
          </a:p>
          <a:p>
            <a:pPr>
              <a:spcAft>
                <a:spcPts val="300"/>
              </a:spcAft>
              <a:defRPr sz="1000">
                <a:solidFill>
                  <a:srgbClr val="0F172A"/>
                </a:solidFill>
              </a:defRPr>
            </a:pPr>
            <a:r>
              <a:t>• Bond forming (exo)</a:t>
            </a:r>
          </a:p>
          <a:p>
            <a:pPr>
              <a:spcAft>
                <a:spcPts val="300"/>
              </a:spcAft>
              <a:defRPr sz="1000">
                <a:solidFill>
                  <a:srgbClr val="0F172A"/>
                </a:solidFill>
              </a:defRPr>
            </a:pPr>
            <a:r>
              <a:t>• Enthalpy change (ΔH)</a:t>
            </a:r>
          </a:p>
        </p:txBody>
      </p:sp>
      <p:sp>
        <p:nvSpPr>
          <p:cNvPr id="8" name="Rounded Rectangle 7"/>
          <p:cNvSpPr/>
          <p:nvPr/>
        </p:nvSpPr>
        <p:spPr>
          <a:xfrm>
            <a:off x="3291840" y="1645920"/>
            <a:ext cx="25603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91840" y="1645920"/>
            <a:ext cx="2560320" cy="4572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2. Sort</a:t>
            </a:r>
          </a:p>
        </p:txBody>
      </p:sp>
      <p:sp>
        <p:nvSpPr>
          <p:cNvPr id="10" name="TextBox 9"/>
          <p:cNvSpPr txBox="1"/>
          <p:nvPr/>
        </p:nvSpPr>
        <p:spPr>
          <a:xfrm>
            <a:off x="3474720" y="2176272"/>
            <a:ext cx="2194560" cy="3767328"/>
          </a:xfrm>
          <a:prstGeom prst="rect">
            <a:avLst/>
          </a:prstGeom>
          <a:noFill/>
        </p:spPr>
        <p:txBody>
          <a:bodyPr wrap="square">
            <a:spAutoFit/>
          </a:bodyPr>
          <a:lstStyle/>
          <a:p>
            <a:pPr>
              <a:spcAft>
                <a:spcPts val="300"/>
              </a:spcAft>
              <a:defRPr sz="1000">
                <a:solidFill>
                  <a:srgbClr val="0F172A"/>
                </a:solidFill>
              </a:defRPr>
            </a:pPr>
            <a:r>
              <a:t>🗂️ Organize Hierarchically:</a:t>
            </a:r>
          </a:p>
          <a:p>
            <a:pPr>
              <a:spcAft>
                <a:spcPts val="300"/>
              </a:spcAft>
              <a:defRPr sz="1000">
                <a:solidFill>
                  <a:srgbClr val="0F172A"/>
                </a:solidFill>
              </a:defRPr>
            </a:pPr>
          </a:p>
          <a:p>
            <a:pPr>
              <a:spcAft>
                <a:spcPts val="300"/>
              </a:spcAft>
              <a:defRPr sz="1000">
                <a:solidFill>
                  <a:srgbClr val="0F172A"/>
                </a:solidFill>
              </a:defRPr>
            </a:pPr>
            <a:r>
              <a:t>• Core Concept at Centre:</a:t>
            </a:r>
          </a:p>
          <a:p>
            <a:pPr>
              <a:spcAft>
                <a:spcPts val="300"/>
              </a:spcAft>
              <a:defRPr sz="1000">
                <a:solidFill>
                  <a:srgbClr val="0F172A"/>
                </a:solidFill>
              </a:defRPr>
            </a:pPr>
            <a:r>
              <a:t>  “Transformation of Energy &amp; Matter in Acid Reactions”</a:t>
            </a:r>
          </a:p>
          <a:p>
            <a:pPr>
              <a:spcAft>
                <a:spcPts val="300"/>
              </a:spcAft>
              <a:defRPr sz="1000">
                <a:solidFill>
                  <a:srgbClr val="0F172A"/>
                </a:solidFill>
              </a:defRPr>
            </a:pPr>
          </a:p>
          <a:p>
            <a:pPr>
              <a:spcAft>
                <a:spcPts val="300"/>
              </a:spcAft>
              <a:defRPr sz="1000">
                <a:solidFill>
                  <a:srgbClr val="0F172A"/>
                </a:solidFill>
              </a:defRPr>
            </a:pPr>
            <a:r>
              <a:t>• Sub-Branches:</a:t>
            </a:r>
          </a:p>
          <a:p>
            <a:pPr>
              <a:spcAft>
                <a:spcPts val="300"/>
              </a:spcAft>
              <a:defRPr sz="1000">
                <a:solidFill>
                  <a:srgbClr val="0F172A"/>
                </a:solidFill>
              </a:defRPr>
            </a:pPr>
            <a:r>
              <a:t>  Branch 1: Microscopic Models (Electrons &amp; Periodic Trends)</a:t>
            </a:r>
          </a:p>
          <a:p>
            <a:pPr>
              <a:spcAft>
                <a:spcPts val="300"/>
              </a:spcAft>
              <a:defRPr sz="1000">
                <a:solidFill>
                  <a:srgbClr val="0F172A"/>
                </a:solidFill>
              </a:defRPr>
            </a:pPr>
            <a:r>
              <a:t>  Branch 2: Solution Reactions &amp; Stoichiometry</a:t>
            </a:r>
          </a:p>
          <a:p>
            <a:pPr>
              <a:spcAft>
                <a:spcPts val="300"/>
              </a:spcAft>
              <a:defRPr sz="1000">
                <a:solidFill>
                  <a:srgbClr val="0F172A"/>
                </a:solidFill>
              </a:defRPr>
            </a:pPr>
            <a:r>
              <a:t>  Branch 3: Thermochemical Energy Changes</a:t>
            </a:r>
          </a:p>
        </p:txBody>
      </p:sp>
      <p:sp>
        <p:nvSpPr>
          <p:cNvPr id="11" name="Rounded Rectangle 10"/>
          <p:cNvSpPr/>
          <p:nvPr/>
        </p:nvSpPr>
        <p:spPr>
          <a:xfrm>
            <a:off x="6035040" y="1645920"/>
            <a:ext cx="25603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35040" y="1645920"/>
            <a:ext cx="2560320" cy="4572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3. Connect</a:t>
            </a:r>
          </a:p>
        </p:txBody>
      </p:sp>
      <p:sp>
        <p:nvSpPr>
          <p:cNvPr id="13" name="TextBox 12"/>
          <p:cNvSpPr txBox="1"/>
          <p:nvPr/>
        </p:nvSpPr>
        <p:spPr>
          <a:xfrm>
            <a:off x="6217920" y="2176272"/>
            <a:ext cx="2194560" cy="3767328"/>
          </a:xfrm>
          <a:prstGeom prst="rect">
            <a:avLst/>
          </a:prstGeom>
          <a:noFill/>
        </p:spPr>
        <p:txBody>
          <a:bodyPr wrap="square">
            <a:spAutoFit/>
          </a:bodyPr>
          <a:lstStyle/>
          <a:p>
            <a:pPr>
              <a:spcAft>
                <a:spcPts val="300"/>
              </a:spcAft>
              <a:defRPr sz="1000">
                <a:solidFill>
                  <a:srgbClr val="0F172A"/>
                </a:solidFill>
              </a:defRPr>
            </a:pPr>
            <a:r>
              <a:t>🔗 Draw Meaningful Links:</a:t>
            </a:r>
          </a:p>
          <a:p>
            <a:pPr>
              <a:spcAft>
                <a:spcPts val="300"/>
              </a:spcAft>
              <a:defRPr sz="1000">
                <a:solidFill>
                  <a:srgbClr val="0F172A"/>
                </a:solidFill>
              </a:defRPr>
            </a:pPr>
          </a:p>
          <a:p>
            <a:pPr>
              <a:spcAft>
                <a:spcPts val="300"/>
              </a:spcAft>
              <a:defRPr sz="1000">
                <a:solidFill>
                  <a:srgbClr val="0F172A"/>
                </a:solidFill>
              </a:defRPr>
            </a:pPr>
            <a:r>
              <a:t>• Connect Valence Electrons -&gt; Metal Activity in Acid Displacement.</a:t>
            </a:r>
          </a:p>
          <a:p>
            <a:pPr>
              <a:spcAft>
                <a:spcPts val="300"/>
              </a:spcAft>
              <a:defRPr sz="1000">
                <a:solidFill>
                  <a:srgbClr val="0F172A"/>
                </a:solidFill>
              </a:defRPr>
            </a:pPr>
            <a:r>
              <a:t>• Connect [H+] Ion Concentration -&gt; Logarithmic pH Scale.</a:t>
            </a:r>
          </a:p>
          <a:p>
            <a:pPr>
              <a:spcAft>
                <a:spcPts val="300"/>
              </a:spcAft>
              <a:defRPr sz="1000">
                <a:solidFill>
                  <a:srgbClr val="0F172A"/>
                </a:solidFill>
              </a:defRPr>
            </a:pPr>
            <a:r>
              <a:t>• Connect Titration Equivalence Point -&gt; Net Ionic Neutralization (H⁺ + OH⁻ -&gt; H₂O).</a:t>
            </a:r>
          </a:p>
          <a:p>
            <a:pPr>
              <a:spcAft>
                <a:spcPts val="300"/>
              </a:spcAft>
              <a:defRPr sz="1000">
                <a:solidFill>
                  <a:srgbClr val="0F172A"/>
                </a:solidFill>
              </a:defRPr>
            </a:pPr>
            <a:r>
              <a:t>• Connect Bond Making in Water -&gt; Exothermic Enthalpy Release (ΔH &lt; 0).</a:t>
            </a:r>
          </a:p>
        </p:txBody>
      </p:sp>
      <p:sp>
        <p:nvSpPr>
          <p:cNvPr id="14" name="Rounded Rectangle 13"/>
          <p:cNvSpPr/>
          <p:nvPr/>
        </p:nvSpPr>
        <p:spPr>
          <a:xfrm>
            <a:off x="8778240" y="1645920"/>
            <a:ext cx="25603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78240" y="1645920"/>
            <a:ext cx="2560320" cy="4572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200" b="1">
                <a:solidFill>
                  <a:srgbClr val="FFFFFF"/>
                </a:solidFill>
              </a:defRPr>
            </a:pPr>
            <a:r>
              <a:t>4. Elaborate</a:t>
            </a:r>
          </a:p>
        </p:txBody>
      </p:sp>
      <p:sp>
        <p:nvSpPr>
          <p:cNvPr id="16" name="TextBox 15"/>
          <p:cNvSpPr txBox="1"/>
          <p:nvPr/>
        </p:nvSpPr>
        <p:spPr>
          <a:xfrm>
            <a:off x="8961120" y="2176272"/>
            <a:ext cx="2194560" cy="3767328"/>
          </a:xfrm>
          <a:prstGeom prst="rect">
            <a:avLst/>
          </a:prstGeom>
          <a:noFill/>
        </p:spPr>
        <p:txBody>
          <a:bodyPr wrap="square">
            <a:spAutoFit/>
          </a:bodyPr>
          <a:lstStyle/>
          <a:p>
            <a:pPr>
              <a:spcAft>
                <a:spcPts val="300"/>
              </a:spcAft>
              <a:defRPr sz="1000">
                <a:solidFill>
                  <a:srgbClr val="0F172A"/>
                </a:solidFill>
              </a:defRPr>
            </a:pPr>
            <a:r>
              <a:t>💡 Deepen with Examples:</a:t>
            </a:r>
          </a:p>
          <a:p>
            <a:pPr>
              <a:spcAft>
                <a:spcPts val="300"/>
              </a:spcAft>
              <a:defRPr sz="1000">
                <a:solidFill>
                  <a:srgbClr val="0F172A"/>
                </a:solidFill>
              </a:defRPr>
            </a:pPr>
          </a:p>
          <a:p>
            <a:pPr>
              <a:spcAft>
                <a:spcPts val="300"/>
              </a:spcAft>
              <a:defRPr sz="1000">
                <a:solidFill>
                  <a:srgbClr val="0F172A"/>
                </a:solidFill>
              </a:defRPr>
            </a:pPr>
            <a:r>
              <a:t>• Add chemical equations to each link.</a:t>
            </a:r>
          </a:p>
          <a:p>
            <a:pPr>
              <a:spcAft>
                <a:spcPts val="300"/>
              </a:spcAft>
              <a:defRPr sz="1000">
                <a:solidFill>
                  <a:srgbClr val="0F172A"/>
                </a:solidFill>
              </a:defRPr>
            </a:pPr>
            <a:r>
              <a:t>• Annotate where experimental uncertainties arise in lab measurements.</a:t>
            </a:r>
          </a:p>
          <a:p>
            <a:pPr>
              <a:spcAft>
                <a:spcPts val="300"/>
              </a:spcAft>
              <a:defRPr sz="1000">
                <a:solidFill>
                  <a:srgbClr val="0F172A"/>
                </a:solidFill>
              </a:defRPr>
            </a:pPr>
            <a:r>
              <a:t>• Connect to the Global Context: How this knowledge allows engineers to neutralize acidic mine drainage using calcium carbonate slurry.</a:t>
            </a:r>
          </a:p>
        </p:txBody>
      </p:sp>
      <p:sp>
        <p:nvSpPr>
          <p:cNvPr id="17" name="TextBox 16"/>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EXIT TICKET</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Metacognitive Self-Assessment: Criteria B &amp; C Mastery</a:t>
            </a:r>
          </a:p>
        </p:txBody>
      </p:sp>
      <p:sp>
        <p:nvSpPr>
          <p:cNvPr id="4" name="TextBox 3"/>
          <p:cNvSpPr txBox="1"/>
          <p:nvPr/>
        </p:nvSpPr>
        <p:spPr>
          <a:xfrm>
            <a:off x="548640" y="1280160"/>
            <a:ext cx="11094415" cy="365760"/>
          </a:xfrm>
          <a:prstGeom prst="rect">
            <a:avLst/>
          </a:prstGeom>
          <a:noFill/>
        </p:spPr>
        <p:txBody>
          <a:bodyPr wrap="square">
            <a:spAutoFit/>
          </a:bodyPr>
          <a:lstStyle/>
          <a:p>
            <a:pPr>
              <a:defRPr sz="1150" i="1">
                <a:solidFill>
                  <a:srgbClr val="64748B"/>
                </a:solidFill>
              </a:defRPr>
            </a:pPr>
            <a:r>
              <a:t>Colour each standard: Green = Confident &amp; Mastered · Amber = Nearly there · Red = Needs review</a:t>
            </a:r>
          </a:p>
        </p:txBody>
      </p:sp>
      <p:sp>
        <p:nvSpPr>
          <p:cNvPr id="5" name="Rectangle 4"/>
          <p:cNvSpPr/>
          <p:nvPr/>
        </p:nvSpPr>
        <p:spPr>
          <a:xfrm>
            <a:off x="548640" y="1645920"/>
            <a:ext cx="2377440" cy="5943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10.ABC-DS.1</a:t>
            </a:r>
          </a:p>
        </p:txBody>
      </p:sp>
      <p:sp>
        <p:nvSpPr>
          <p:cNvPr id="6" name="Rectangle 5"/>
          <p:cNvSpPr/>
          <p:nvPr/>
        </p:nvSpPr>
        <p:spPr>
          <a:xfrm>
            <a:off x="3017520" y="1645920"/>
            <a:ext cx="6766560" cy="59436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0F172A"/>
                </a:solidFill>
              </a:defRPr>
            </a:pPr>
            <a:r>
              <a:t>I can explain displacement and acid-metal reactions using valence electrons, ionization energy, and the activity series.</a:t>
            </a:r>
          </a:p>
        </p:txBody>
      </p:sp>
      <p:sp>
        <p:nvSpPr>
          <p:cNvPr id="7" name="Oval 6"/>
          <p:cNvSpPr/>
          <p:nvPr/>
        </p:nvSpPr>
        <p:spPr>
          <a:xfrm>
            <a:off x="9966960" y="1719072"/>
            <a:ext cx="438912" cy="438912"/>
          </a:xfrm>
          <a:prstGeom prst="ellipse">
            <a:avLst/>
          </a:prstGeom>
          <a:noFill/>
          <a:ln w="279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61320" y="1719072"/>
            <a:ext cx="438912" cy="438912"/>
          </a:xfrm>
          <a:prstGeom prst="ellipse">
            <a:avLst/>
          </a:prstGeom>
          <a:noFill/>
          <a:ln w="279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155680" y="1719072"/>
            <a:ext cx="438912" cy="438912"/>
          </a:xfrm>
          <a:prstGeom prst="ellipse">
            <a:avLst/>
          </a:prstGeom>
          <a:noFill/>
          <a:ln w="279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77440"/>
            <a:ext cx="2377440" cy="5943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10.ABC-DS.2</a:t>
            </a:r>
          </a:p>
        </p:txBody>
      </p:sp>
      <p:sp>
        <p:nvSpPr>
          <p:cNvPr id="11" name="Rectangle 10"/>
          <p:cNvSpPr/>
          <p:nvPr/>
        </p:nvSpPr>
        <p:spPr>
          <a:xfrm>
            <a:off x="3017520" y="2377440"/>
            <a:ext cx="6766560" cy="59436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0F172A"/>
                </a:solidFill>
              </a:defRPr>
            </a:pPr>
            <a:r>
              <a:t>I can model neutralization as bond breaking and bond forming, calculating overall reaction enthalpy (ΔH = Σbroken - Σformed).</a:t>
            </a:r>
          </a:p>
        </p:txBody>
      </p:sp>
      <p:sp>
        <p:nvSpPr>
          <p:cNvPr id="12" name="Oval 11"/>
          <p:cNvSpPr/>
          <p:nvPr/>
        </p:nvSpPr>
        <p:spPr>
          <a:xfrm>
            <a:off x="9966960" y="2450592"/>
            <a:ext cx="438912" cy="438912"/>
          </a:xfrm>
          <a:prstGeom prst="ellipse">
            <a:avLst/>
          </a:prstGeom>
          <a:noFill/>
          <a:ln w="279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561320" y="2450592"/>
            <a:ext cx="438912" cy="438912"/>
          </a:xfrm>
          <a:prstGeom prst="ellipse">
            <a:avLst/>
          </a:prstGeom>
          <a:noFill/>
          <a:ln w="279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0" y="2450592"/>
            <a:ext cx="438912" cy="438912"/>
          </a:xfrm>
          <a:prstGeom prst="ellipse">
            <a:avLst/>
          </a:prstGeom>
          <a:noFill/>
          <a:ln w="279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108960"/>
            <a:ext cx="2377440" cy="5943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10.ABC-DS.3</a:t>
            </a:r>
          </a:p>
        </p:txBody>
      </p:sp>
      <p:sp>
        <p:nvSpPr>
          <p:cNvPr id="16" name="Rectangle 15"/>
          <p:cNvSpPr/>
          <p:nvPr/>
        </p:nvSpPr>
        <p:spPr>
          <a:xfrm>
            <a:off x="3017520" y="3108960"/>
            <a:ext cx="6766560" cy="59436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0F172A"/>
                </a:solidFill>
              </a:defRPr>
            </a:pPr>
            <a:r>
              <a:t>I can write balanced equations and identify confirmatory gas tests for acid reactions with metals, bases, carbonates, and ammonium salts.</a:t>
            </a:r>
          </a:p>
        </p:txBody>
      </p:sp>
      <p:sp>
        <p:nvSpPr>
          <p:cNvPr id="17" name="Oval 16"/>
          <p:cNvSpPr/>
          <p:nvPr/>
        </p:nvSpPr>
        <p:spPr>
          <a:xfrm>
            <a:off x="9966960" y="3182112"/>
            <a:ext cx="438912" cy="438912"/>
          </a:xfrm>
          <a:prstGeom prst="ellipse">
            <a:avLst/>
          </a:prstGeom>
          <a:noFill/>
          <a:ln w="279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561320" y="3182112"/>
            <a:ext cx="438912" cy="438912"/>
          </a:xfrm>
          <a:prstGeom prst="ellipse">
            <a:avLst/>
          </a:prstGeom>
          <a:noFill/>
          <a:ln w="279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55680" y="3182112"/>
            <a:ext cx="438912" cy="438912"/>
          </a:xfrm>
          <a:prstGeom prst="ellipse">
            <a:avLst/>
          </a:prstGeom>
          <a:noFill/>
          <a:ln w="279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40480"/>
            <a:ext cx="2377440" cy="5943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10.ABC-DS.4</a:t>
            </a:r>
          </a:p>
        </p:txBody>
      </p:sp>
      <p:sp>
        <p:nvSpPr>
          <p:cNvPr id="21" name="Rectangle 20"/>
          <p:cNvSpPr/>
          <p:nvPr/>
        </p:nvSpPr>
        <p:spPr>
          <a:xfrm>
            <a:off x="3017520" y="3840480"/>
            <a:ext cx="6766560" cy="59436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0F172A"/>
                </a:solidFill>
              </a:defRPr>
            </a:pPr>
            <a:r>
              <a:t>I can compare [H+] concentrations using logarithmic pH scales and select appropriate indicators (phenolphthalein vs methyl orange).</a:t>
            </a:r>
          </a:p>
        </p:txBody>
      </p:sp>
      <p:sp>
        <p:nvSpPr>
          <p:cNvPr id="22" name="Oval 21"/>
          <p:cNvSpPr/>
          <p:nvPr/>
        </p:nvSpPr>
        <p:spPr>
          <a:xfrm>
            <a:off x="9966960" y="3913632"/>
            <a:ext cx="438912" cy="438912"/>
          </a:xfrm>
          <a:prstGeom prst="ellipse">
            <a:avLst/>
          </a:prstGeom>
          <a:noFill/>
          <a:ln w="279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561320" y="3913632"/>
            <a:ext cx="438912" cy="438912"/>
          </a:xfrm>
          <a:prstGeom prst="ellipse">
            <a:avLst/>
          </a:prstGeom>
          <a:noFill/>
          <a:ln w="279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155680" y="3913632"/>
            <a:ext cx="438912" cy="438912"/>
          </a:xfrm>
          <a:prstGeom prst="ellipse">
            <a:avLst/>
          </a:prstGeom>
          <a:noFill/>
          <a:ln w="279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572000"/>
            <a:ext cx="2377440" cy="5943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10.ABC-DS.5</a:t>
            </a:r>
          </a:p>
        </p:txBody>
      </p:sp>
      <p:sp>
        <p:nvSpPr>
          <p:cNvPr id="26" name="Rectangle 25"/>
          <p:cNvSpPr/>
          <p:nvPr/>
        </p:nvSpPr>
        <p:spPr>
          <a:xfrm>
            <a:off x="3017520" y="4572000"/>
            <a:ext cx="6766560" cy="59436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0F172A"/>
                </a:solidFill>
              </a:defRPr>
            </a:pPr>
            <a:r>
              <a:t>I can perform titration calculations using concordant titres (±0.10 cm³) and balanced mole ratios to find unknown concentrations.</a:t>
            </a:r>
          </a:p>
        </p:txBody>
      </p:sp>
      <p:sp>
        <p:nvSpPr>
          <p:cNvPr id="27" name="Oval 26"/>
          <p:cNvSpPr/>
          <p:nvPr/>
        </p:nvSpPr>
        <p:spPr>
          <a:xfrm>
            <a:off x="9966960" y="4645152"/>
            <a:ext cx="438912" cy="438912"/>
          </a:xfrm>
          <a:prstGeom prst="ellipse">
            <a:avLst/>
          </a:prstGeom>
          <a:noFill/>
          <a:ln w="279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561320" y="4645152"/>
            <a:ext cx="438912" cy="438912"/>
          </a:xfrm>
          <a:prstGeom prst="ellipse">
            <a:avLst/>
          </a:prstGeom>
          <a:noFill/>
          <a:ln w="279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155680" y="4645152"/>
            <a:ext cx="438912" cy="438912"/>
          </a:xfrm>
          <a:prstGeom prst="ellipse">
            <a:avLst/>
          </a:prstGeom>
          <a:noFill/>
          <a:ln w="279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303520"/>
            <a:ext cx="2377440" cy="5943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10.ABC-DS.6 / Crit B &amp; C</a:t>
            </a:r>
          </a:p>
        </p:txBody>
      </p:sp>
      <p:sp>
        <p:nvSpPr>
          <p:cNvPr id="31" name="Rectangle 30"/>
          <p:cNvSpPr/>
          <p:nvPr/>
        </p:nvSpPr>
        <p:spPr>
          <a:xfrm>
            <a:off x="3017520" y="5303520"/>
            <a:ext cx="6766560" cy="59436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0F172A"/>
                </a:solidFill>
              </a:defRPr>
            </a:pPr>
            <a:r>
              <a:t>I can design a fair test (IV, DV, CVs), screen data for anomalies, calculate mean ΔT, and evaluate systematic calorimeter errors.</a:t>
            </a:r>
          </a:p>
        </p:txBody>
      </p:sp>
      <p:sp>
        <p:nvSpPr>
          <p:cNvPr id="32" name="Oval 31"/>
          <p:cNvSpPr/>
          <p:nvPr/>
        </p:nvSpPr>
        <p:spPr>
          <a:xfrm>
            <a:off x="9966960" y="5376672"/>
            <a:ext cx="438912" cy="438912"/>
          </a:xfrm>
          <a:prstGeom prst="ellipse">
            <a:avLst/>
          </a:prstGeom>
          <a:noFill/>
          <a:ln w="279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561320" y="5376672"/>
            <a:ext cx="438912" cy="438912"/>
          </a:xfrm>
          <a:prstGeom prst="ellipse">
            <a:avLst/>
          </a:prstGeom>
          <a:noFill/>
          <a:ln w="279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155680" y="5376672"/>
            <a:ext cx="438912" cy="438912"/>
          </a:xfrm>
          <a:prstGeom prst="ellipse">
            <a:avLst/>
          </a:prstGeom>
          <a:noFill/>
          <a:ln w="279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fast">
    <p:push dir="l"/>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2194560" cy="32004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KEY VOCABULARY</a:t>
            </a:r>
          </a:p>
        </p:txBody>
      </p:sp>
      <p:sp>
        <p:nvSpPr>
          <p:cNvPr id="3" name="TextBox 2"/>
          <p:cNvSpPr txBox="1"/>
          <p:nvPr/>
        </p:nvSpPr>
        <p:spPr>
          <a:xfrm>
            <a:off x="548640" y="749808"/>
            <a:ext cx="11094415" cy="594360"/>
          </a:xfrm>
          <a:prstGeom prst="rect">
            <a:avLst/>
          </a:prstGeom>
          <a:noFill/>
        </p:spPr>
        <p:txBody>
          <a:bodyPr wrap="square">
            <a:spAutoFit/>
          </a:bodyPr>
          <a:lstStyle/>
          <a:p>
            <a:pPr>
              <a:defRPr sz="2100" b="1">
                <a:solidFill>
                  <a:srgbClr val="0F172A"/>
                </a:solidFill>
              </a:defRPr>
            </a:pPr>
            <a:r>
              <a:t>Academic Vocabulary &amp; Command Terms Glossary</a:t>
            </a:r>
          </a:p>
        </p:txBody>
      </p:sp>
      <p:sp>
        <p:nvSpPr>
          <p:cNvPr id="4" name="Rounded Rectangle 3"/>
          <p:cNvSpPr/>
          <p:nvPr/>
        </p:nvSpPr>
        <p:spPr>
          <a:xfrm>
            <a:off x="548640" y="1645920"/>
            <a:ext cx="5303520"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937760" cy="822960"/>
          </a:xfrm>
          <a:prstGeom prst="rect">
            <a:avLst/>
          </a:prstGeom>
          <a:noFill/>
        </p:spPr>
        <p:txBody>
          <a:bodyPr wrap="square">
            <a:spAutoFit/>
          </a:bodyPr>
          <a:lstStyle/>
          <a:p>
            <a:pPr>
              <a:defRPr sz="1100" b="1">
                <a:solidFill>
                  <a:srgbClr val="0F172A"/>
                </a:solidFill>
              </a:defRPr>
            </a:pPr>
            <a:r>
              <a:t>Valence Electrons</a:t>
            </a:r>
          </a:p>
          <a:p>
            <a:pPr>
              <a:defRPr sz="950">
                <a:solidFill>
                  <a:srgbClr val="0F172A"/>
                </a:solidFill>
              </a:defRPr>
            </a:pPr>
            <a:r>
              <a:t>Electrons in the outermost shell that determine bonding, oxidation, and periodic reactivity trends.</a:t>
            </a:r>
          </a:p>
        </p:txBody>
      </p:sp>
      <p:sp>
        <p:nvSpPr>
          <p:cNvPr id="6" name="Rounded Rectangle 5"/>
          <p:cNvSpPr/>
          <p:nvPr/>
        </p:nvSpPr>
        <p:spPr>
          <a:xfrm>
            <a:off x="6126479" y="1645920"/>
            <a:ext cx="5303520"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59" y="1737360"/>
            <a:ext cx="4937760" cy="822960"/>
          </a:xfrm>
          <a:prstGeom prst="rect">
            <a:avLst/>
          </a:prstGeom>
          <a:noFill/>
        </p:spPr>
        <p:txBody>
          <a:bodyPr wrap="square">
            <a:spAutoFit/>
          </a:bodyPr>
          <a:lstStyle/>
          <a:p>
            <a:pPr>
              <a:defRPr sz="1100" b="1">
                <a:solidFill>
                  <a:srgbClr val="0F172A"/>
                </a:solidFill>
              </a:defRPr>
            </a:pPr>
            <a:r>
              <a:t>Activity Series</a:t>
            </a:r>
          </a:p>
          <a:p>
            <a:pPr>
              <a:defRPr sz="950">
                <a:solidFill>
                  <a:srgbClr val="0F172A"/>
                </a:solidFill>
              </a:defRPr>
            </a:pPr>
            <a:r>
              <a:t>An empirical ranking of metals in order of decreasing reactivity (ease of oxidation to cations).</a:t>
            </a:r>
          </a:p>
        </p:txBody>
      </p:sp>
      <p:sp>
        <p:nvSpPr>
          <p:cNvPr id="8" name="Rounded Rectangle 7"/>
          <p:cNvSpPr/>
          <p:nvPr/>
        </p:nvSpPr>
        <p:spPr>
          <a:xfrm>
            <a:off x="548640" y="2788920"/>
            <a:ext cx="5303520"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80360"/>
            <a:ext cx="4937760" cy="822960"/>
          </a:xfrm>
          <a:prstGeom prst="rect">
            <a:avLst/>
          </a:prstGeom>
          <a:noFill/>
        </p:spPr>
        <p:txBody>
          <a:bodyPr wrap="square">
            <a:spAutoFit/>
          </a:bodyPr>
          <a:lstStyle/>
          <a:p>
            <a:pPr>
              <a:defRPr sz="1100" b="1">
                <a:solidFill>
                  <a:srgbClr val="0F172A"/>
                </a:solidFill>
              </a:defRPr>
            </a:pPr>
            <a:r>
              <a:t>Neutralization</a:t>
            </a:r>
          </a:p>
          <a:p>
            <a:pPr>
              <a:defRPr sz="950">
                <a:solidFill>
                  <a:srgbClr val="0F172A"/>
                </a:solidFill>
              </a:defRPr>
            </a:pPr>
            <a:r>
              <a:t>The exothermic chemical reaction between an acid and a base to produce water and a dissolved salt.</a:t>
            </a:r>
          </a:p>
        </p:txBody>
      </p:sp>
      <p:sp>
        <p:nvSpPr>
          <p:cNvPr id="10" name="Rounded Rectangle 9"/>
          <p:cNvSpPr/>
          <p:nvPr/>
        </p:nvSpPr>
        <p:spPr>
          <a:xfrm>
            <a:off x="6126479" y="2788920"/>
            <a:ext cx="5303520"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2880360"/>
            <a:ext cx="4937760" cy="822960"/>
          </a:xfrm>
          <a:prstGeom prst="rect">
            <a:avLst/>
          </a:prstGeom>
          <a:noFill/>
        </p:spPr>
        <p:txBody>
          <a:bodyPr wrap="square">
            <a:spAutoFit/>
          </a:bodyPr>
          <a:lstStyle/>
          <a:p>
            <a:pPr>
              <a:defRPr sz="1100" b="1">
                <a:solidFill>
                  <a:srgbClr val="0F172A"/>
                </a:solidFill>
              </a:defRPr>
            </a:pPr>
            <a:r>
              <a:t>Concordant Titres</a:t>
            </a:r>
          </a:p>
          <a:p>
            <a:pPr>
              <a:defRPr sz="950">
                <a:solidFill>
                  <a:srgbClr val="0F172A"/>
                </a:solidFill>
              </a:defRPr>
            </a:pPr>
            <a:r>
              <a:t>Titration volumes delivered within ± 0.10 cm³ of each other, indicating high procedural precision.</a:t>
            </a:r>
          </a:p>
        </p:txBody>
      </p:sp>
      <p:sp>
        <p:nvSpPr>
          <p:cNvPr id="12" name="Rounded Rectangle 11"/>
          <p:cNvSpPr/>
          <p:nvPr/>
        </p:nvSpPr>
        <p:spPr>
          <a:xfrm>
            <a:off x="548640" y="3931920"/>
            <a:ext cx="5303520"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23360"/>
            <a:ext cx="4937760" cy="822960"/>
          </a:xfrm>
          <a:prstGeom prst="rect">
            <a:avLst/>
          </a:prstGeom>
          <a:noFill/>
        </p:spPr>
        <p:txBody>
          <a:bodyPr wrap="square">
            <a:spAutoFit/>
          </a:bodyPr>
          <a:lstStyle/>
          <a:p>
            <a:pPr>
              <a:defRPr sz="1100" b="1">
                <a:solidFill>
                  <a:srgbClr val="0F172A"/>
                </a:solidFill>
              </a:defRPr>
            </a:pPr>
            <a:r>
              <a:t>Enthalpy Change (ΔH)</a:t>
            </a:r>
          </a:p>
          <a:p>
            <a:pPr>
              <a:defRPr sz="950">
                <a:solidFill>
                  <a:srgbClr val="0F172A"/>
                </a:solidFill>
              </a:defRPr>
            </a:pPr>
            <a:r>
              <a:t>The net heat energy transferred during a chemical reaction at constant pressure (measured in kJ/mol).</a:t>
            </a:r>
          </a:p>
        </p:txBody>
      </p:sp>
      <p:sp>
        <p:nvSpPr>
          <p:cNvPr id="14" name="Rounded Rectangle 13"/>
          <p:cNvSpPr/>
          <p:nvPr/>
        </p:nvSpPr>
        <p:spPr>
          <a:xfrm>
            <a:off x="6126479" y="3931920"/>
            <a:ext cx="5303520"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4023360"/>
            <a:ext cx="4937760" cy="822960"/>
          </a:xfrm>
          <a:prstGeom prst="rect">
            <a:avLst/>
          </a:prstGeom>
          <a:noFill/>
        </p:spPr>
        <p:txBody>
          <a:bodyPr wrap="square">
            <a:spAutoFit/>
          </a:bodyPr>
          <a:lstStyle/>
          <a:p>
            <a:pPr>
              <a:defRPr sz="1100" b="1">
                <a:solidFill>
                  <a:srgbClr val="0F172A"/>
                </a:solidFill>
              </a:defRPr>
            </a:pPr>
            <a:r>
              <a:t>Exothermic Reaction</a:t>
            </a:r>
          </a:p>
          <a:p>
            <a:pPr>
              <a:defRPr sz="950">
                <a:solidFill>
                  <a:srgbClr val="0F172A"/>
                </a:solidFill>
              </a:defRPr>
            </a:pPr>
            <a:r>
              <a:t>A reaction where energy released during bond forming exceeds energy absorbed during bond breaking (ΔH &lt; 0).</a:t>
            </a:r>
          </a:p>
        </p:txBody>
      </p:sp>
      <p:sp>
        <p:nvSpPr>
          <p:cNvPr id="16" name="Rounded Rectangle 15"/>
          <p:cNvSpPr/>
          <p:nvPr/>
        </p:nvSpPr>
        <p:spPr>
          <a:xfrm>
            <a:off x="548640" y="5074920"/>
            <a:ext cx="5303520"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166360"/>
            <a:ext cx="4937760" cy="822960"/>
          </a:xfrm>
          <a:prstGeom prst="rect">
            <a:avLst/>
          </a:prstGeom>
          <a:noFill/>
        </p:spPr>
        <p:txBody>
          <a:bodyPr wrap="square">
            <a:spAutoFit/>
          </a:bodyPr>
          <a:lstStyle/>
          <a:p>
            <a:pPr>
              <a:defRPr sz="1100" b="1">
                <a:solidFill>
                  <a:srgbClr val="0F172A"/>
                </a:solidFill>
              </a:defRPr>
            </a:pPr>
            <a:r>
              <a:t>Limiting Reactant</a:t>
            </a:r>
          </a:p>
          <a:p>
            <a:pPr>
              <a:defRPr sz="950">
                <a:solidFill>
                  <a:srgbClr val="0F172A"/>
                </a:solidFill>
              </a:defRPr>
            </a:pPr>
            <a:r>
              <a:t>The substance completely consumed first in a reaction, determining the theoretical yield of products.</a:t>
            </a:r>
          </a:p>
        </p:txBody>
      </p:sp>
      <p:sp>
        <p:nvSpPr>
          <p:cNvPr id="18" name="Rounded Rectangle 17"/>
          <p:cNvSpPr/>
          <p:nvPr/>
        </p:nvSpPr>
        <p:spPr>
          <a:xfrm>
            <a:off x="6126479" y="5074920"/>
            <a:ext cx="5303520"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59" y="5166360"/>
            <a:ext cx="4937760" cy="822960"/>
          </a:xfrm>
          <a:prstGeom prst="rect">
            <a:avLst/>
          </a:prstGeom>
          <a:noFill/>
        </p:spPr>
        <p:txBody>
          <a:bodyPr wrap="square">
            <a:spAutoFit/>
          </a:bodyPr>
          <a:lstStyle/>
          <a:p>
            <a:pPr>
              <a:defRPr sz="1100" b="1">
                <a:solidFill>
                  <a:srgbClr val="0F172A"/>
                </a:solidFill>
              </a:defRPr>
            </a:pPr>
            <a:r>
              <a:t>Systematic Error</a:t>
            </a:r>
          </a:p>
          <a:p>
            <a:pPr>
              <a:defRPr sz="950">
                <a:solidFill>
                  <a:srgbClr val="0F172A"/>
                </a:solidFill>
              </a:defRPr>
            </a:pPr>
            <a:r>
              <a:t>A reproducible inaccuracy inherent to experimental apparatus or design (e.g. calorimeter heat loss).</a:t>
            </a:r>
          </a:p>
        </p:txBody>
      </p:sp>
      <p:sp>
        <p:nvSpPr>
          <p:cNvPr id="20" name="TextBox 1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SCI 10.ABC-DS.1–6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