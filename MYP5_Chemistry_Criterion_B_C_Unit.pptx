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371600"/>
            <a:ext cx="10058400" cy="457200"/>
          </a:xfrm>
          <a:prstGeom prst="rect">
            <a:avLst/>
          </a:prstGeom>
          <a:noFill/>
        </p:spPr>
        <p:txBody>
          <a:bodyPr wrap="none">
            <a:spAutoFit/>
          </a:bodyPr>
          <a:lstStyle/>
          <a:p>
            <a:pPr>
              <a:defRPr sz="1300" b="1">
                <a:solidFill>
                  <a:srgbClr val="60A5FA"/>
                </a:solidFill>
              </a:defRPr>
            </a:pPr>
            <a:r>
              <a:t>GRADE 10 · IB MYP YEAR 5 INTEGRATED SCIENCES · UNIT 1</a:t>
            </a:r>
          </a:p>
        </p:txBody>
      </p:sp>
      <p:sp>
        <p:nvSpPr>
          <p:cNvPr id="4" name="TextBox 3"/>
          <p:cNvSpPr txBox="1"/>
          <p:nvPr/>
        </p:nvSpPr>
        <p:spPr>
          <a:xfrm>
            <a:off x="914400" y="1920240"/>
            <a:ext cx="10058400" cy="1371600"/>
          </a:xfrm>
          <a:prstGeom prst="rect">
            <a:avLst/>
          </a:prstGeom>
          <a:noFill/>
        </p:spPr>
        <p:txBody>
          <a:bodyPr wrap="none">
            <a:spAutoFit/>
          </a:bodyPr>
          <a:lstStyle/>
          <a:p>
            <a:pPr>
              <a:defRPr sz="3600" b="1">
                <a:solidFill>
                  <a:srgbClr val="FFFFFF"/>
                </a:solidFill>
              </a:defRPr>
            </a:pPr>
            <a:r>
              <a:t>Chemical Models &amp; Energy in Reactions</a:t>
            </a:r>
          </a:p>
        </p:txBody>
      </p:sp>
      <p:sp>
        <p:nvSpPr>
          <p:cNvPr id="5" name="TextBox 4"/>
          <p:cNvSpPr txBox="1"/>
          <p:nvPr/>
        </p:nvSpPr>
        <p:spPr>
          <a:xfrm>
            <a:off x="914400" y="3383280"/>
            <a:ext cx="10058400" cy="914400"/>
          </a:xfrm>
          <a:prstGeom prst="rect">
            <a:avLst/>
          </a:prstGeom>
          <a:noFill/>
        </p:spPr>
        <p:txBody>
          <a:bodyPr wrap="none">
            <a:spAutoFit/>
          </a:bodyPr>
          <a:lstStyle/>
          <a:p>
            <a:pPr>
              <a:defRPr sz="1700">
                <a:solidFill>
                  <a:srgbClr val="FBBF24"/>
                </a:solidFill>
              </a:defRPr>
            </a:pPr>
            <a:r>
              <a:t>Sub-unit 1 · Periodic trends, bond energy, acid-base stoichiometry &amp; neutralization thermochemistry</a:t>
            </a:r>
          </a:p>
        </p:txBody>
      </p:sp>
      <p:sp>
        <p:nvSpPr>
          <p:cNvPr id="6" name="Rounded Rectangle 5"/>
          <p:cNvSpPr/>
          <p:nvPr/>
        </p:nvSpPr>
        <p:spPr>
          <a:xfrm>
            <a:off x="914400" y="4389120"/>
            <a:ext cx="6858000" cy="731520"/>
          </a:xfrm>
          <a:prstGeom prst="roundRect">
            <a:avLst/>
          </a:prstGeom>
          <a:solidFill>
            <a:srgbClr val="1E3A8A"/>
          </a:solidFill>
          <a:ln>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defRPr>
            </a:pPr>
            <a:r>
              <a:t>🎯 Summative Assessment Focus: Criterion B (Inquiring &amp; Designing) &amp; Criterion C (Processing &amp; Evaluating)</a:t>
            </a:r>
          </a:p>
        </p:txBody>
      </p:sp>
      <p:sp>
        <p:nvSpPr>
          <p:cNvPr id="7" name="TextBox 6"/>
          <p:cNvSpPr txBox="1"/>
          <p:nvPr/>
        </p:nvSpPr>
        <p:spPr>
          <a:xfrm>
            <a:off x="548640" y="6492240"/>
            <a:ext cx="11094415" cy="274320"/>
          </a:xfrm>
          <a:prstGeom prst="rect">
            <a:avLst/>
          </a:prstGeom>
          <a:noFill/>
        </p:spPr>
        <p:txBody>
          <a:bodyPr wrap="square">
            <a:spAutoFit/>
          </a:bodyPr>
          <a:lstStyle/>
          <a:p>
            <a:pPr>
              <a:defRPr sz="900">
                <a:solidFill>
                  <a:srgbClr val="64748B"/>
                </a:solidFill>
              </a:defRPr>
            </a:pPr>
            <a:r>
              <a:t>Unit 1 · Chemical Models &amp; Energy in Reactions · Grade 10 MYP 5 Sciences · OIS I.SCI 10.ABC-DS.1–6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457200"/>
            <a:ext cx="2011680" cy="320040"/>
          </a:xfrm>
          <a:prstGeom prst="rect">
            <a:avLst/>
          </a:prstGeom>
          <a:solidFill>
            <a:srgbClr val="0D9488"/>
          </a:solidFill>
          <a:ln>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defRPr>
            </a:pPr>
            <a:r>
              <a:t>UNIT OVERVIEW</a:t>
            </a:r>
          </a:p>
        </p:txBody>
      </p:sp>
      <p:sp>
        <p:nvSpPr>
          <p:cNvPr id="3" name="TextBox 2"/>
          <p:cNvSpPr txBox="1"/>
          <p:nvPr/>
        </p:nvSpPr>
        <p:spPr>
          <a:xfrm>
            <a:off x="548640" y="868680"/>
            <a:ext cx="11094415" cy="548640"/>
          </a:xfrm>
          <a:prstGeom prst="rect">
            <a:avLst/>
          </a:prstGeom>
          <a:noFill/>
        </p:spPr>
        <p:txBody>
          <a:bodyPr wrap="square">
            <a:spAutoFit/>
          </a:bodyPr>
          <a:lstStyle/>
          <a:p>
            <a:pPr>
              <a:defRPr sz="2200" b="1">
                <a:solidFill>
                  <a:srgbClr val="0F172A"/>
                </a:solidFill>
              </a:defRPr>
            </a:pPr>
            <a:r>
              <a:t>What This Sub-Unit Is About</a:t>
            </a:r>
          </a:p>
        </p:txBody>
      </p:sp>
      <p:sp>
        <p:nvSpPr>
          <p:cNvPr id="4" name="Rounded Rectangle 3"/>
          <p:cNvSpPr/>
          <p:nvPr/>
        </p:nvSpPr>
        <p:spPr>
          <a:xfrm>
            <a:off x="548640" y="1645920"/>
            <a:ext cx="5303520" cy="4389120"/>
          </a:xfrm>
          <a:prstGeom prst="roundRect">
            <a:avLst/>
          </a:prstGeom>
          <a:solidFill>
            <a:srgbClr val="F8FAFC"/>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783080"/>
            <a:ext cx="4937760" cy="4114800"/>
          </a:xfrm>
          <a:prstGeom prst="rect">
            <a:avLst/>
          </a:prstGeom>
          <a:noFill/>
        </p:spPr>
        <p:txBody>
          <a:bodyPr wrap="square">
            <a:spAutoFit/>
          </a:bodyPr>
          <a:lstStyle/>
          <a:p>
            <a:pPr>
              <a:defRPr sz="1400" b="1">
                <a:solidFill>
                  <a:srgbClr val="0F172A"/>
                </a:solidFill>
              </a:defRPr>
            </a:pPr>
            <a:r>
              <a:t>Course &amp; Standards Scope</a:t>
            </a:r>
          </a:p>
          <a:p>
            <a:pPr>
              <a:spcAft>
                <a:spcPts val="600"/>
              </a:spcAft>
              <a:defRPr sz="1100">
                <a:solidFill>
                  <a:srgbClr val="0F172A"/>
                </a:solidFill>
              </a:defRPr>
            </a:pPr>
            <a:r>
              <a:t>📚 Subject &amp; Phase: MYP Year 5 Integrated Sciences (Chemistry Focus), Grade 10.</a:t>
            </a:r>
          </a:p>
          <a:p>
            <a:pPr>
              <a:spcAft>
                <a:spcPts val="600"/>
              </a:spcAft>
              <a:defRPr sz="1100">
                <a:solidFill>
                  <a:srgbClr val="0F172A"/>
                </a:solidFill>
              </a:defRPr>
            </a:pPr>
            <a:r>
              <a:t>🔬 Sub-unit 1: Chemical Models &amp; Energy in Reactions.</a:t>
            </a:r>
          </a:p>
          <a:p>
            <a:pPr>
              <a:spcAft>
                <a:spcPts val="600"/>
              </a:spcAft>
              <a:defRPr sz="1100">
                <a:solidFill>
                  <a:srgbClr val="0F172A"/>
                </a:solidFill>
              </a:defRPr>
            </a:pPr>
            <a:r>
              <a:t>⏱️ Duration: 15 Lessons leading into the Criteria B &amp; C Summative Lab.</a:t>
            </a:r>
          </a:p>
          <a:p>
            <a:pPr>
              <a:spcAft>
                <a:spcPts val="600"/>
              </a:spcAft>
              <a:defRPr sz="1100">
                <a:solidFill>
                  <a:srgbClr val="0F172A"/>
                </a:solidFill>
              </a:defRPr>
            </a:pPr>
            <a:r>
              <a:t>📌 Key Standards:</a:t>
            </a:r>
          </a:p>
          <a:p>
            <a:pPr>
              <a:spcAft>
                <a:spcPts val="600"/>
              </a:spcAft>
              <a:defRPr sz="1100">
                <a:solidFill>
                  <a:srgbClr val="0F172A"/>
                </a:solidFill>
              </a:defRPr>
            </a:pPr>
            <a:r>
              <a:t>  • 10.ABC-DS.1: Outermost electron states &amp; periodic trends in displacement.</a:t>
            </a:r>
          </a:p>
          <a:p>
            <a:pPr>
              <a:spcAft>
                <a:spcPts val="600"/>
              </a:spcAft>
              <a:defRPr sz="1100">
                <a:solidFill>
                  <a:srgbClr val="0F172A"/>
                </a:solidFill>
              </a:defRPr>
            </a:pPr>
            <a:r>
              <a:t>  • 10.ABC-DS.2: Bond breaking/forming &amp; total bond energy in neutralization.</a:t>
            </a:r>
          </a:p>
          <a:p>
            <a:pPr>
              <a:spcAft>
                <a:spcPts val="600"/>
              </a:spcAft>
              <a:defRPr sz="1100">
                <a:solidFill>
                  <a:srgbClr val="0F172A"/>
                </a:solidFill>
              </a:defRPr>
            </a:pPr>
            <a:r>
              <a:t>  • 10.ABC-DS.3: Characteristic acid reactions (metals, bases, carbonates, ammonium salts).</a:t>
            </a:r>
          </a:p>
          <a:p>
            <a:pPr>
              <a:spcAft>
                <a:spcPts val="600"/>
              </a:spcAft>
              <a:defRPr sz="1100">
                <a:solidFill>
                  <a:srgbClr val="0F172A"/>
                </a:solidFill>
              </a:defRPr>
            </a:pPr>
            <a:r>
              <a:t>  • 10.ABC-DS.4: Indicators, pH scale, and [H+] ion concentration.</a:t>
            </a:r>
          </a:p>
          <a:p>
            <a:pPr>
              <a:spcAft>
                <a:spcPts val="600"/>
              </a:spcAft>
              <a:defRPr sz="1100">
                <a:solidFill>
                  <a:srgbClr val="0F172A"/>
                </a:solidFill>
              </a:defRPr>
            </a:pPr>
            <a:r>
              <a:t>  • 10.ABC-DS.5: Acid-base titrations, volumetric glassware &amp; stoichiometry.</a:t>
            </a:r>
          </a:p>
          <a:p>
            <a:pPr>
              <a:spcAft>
                <a:spcPts val="600"/>
              </a:spcAft>
              <a:defRPr sz="1100">
                <a:solidFill>
                  <a:srgbClr val="0F172A"/>
                </a:solidFill>
              </a:defRPr>
            </a:pPr>
            <a:r>
              <a:t>  • 10.ABC-DS.6: Conservation of mass &amp; molar stoichiometry (gas evolution).</a:t>
            </a:r>
          </a:p>
        </p:txBody>
      </p:sp>
      <p:sp>
        <p:nvSpPr>
          <p:cNvPr id="6" name="Rounded Rectangle 5"/>
          <p:cNvSpPr/>
          <p:nvPr/>
        </p:nvSpPr>
        <p:spPr>
          <a:xfrm>
            <a:off x="6217920" y="1645920"/>
            <a:ext cx="5303520" cy="4389120"/>
          </a:xfrm>
          <a:prstGeom prst="roundRect">
            <a:avLst/>
          </a:prstGeom>
          <a:solidFill>
            <a:srgbClr val="F8FAFC"/>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0" y="1783080"/>
            <a:ext cx="4937760" cy="4114800"/>
          </a:xfrm>
          <a:prstGeom prst="rect">
            <a:avLst/>
          </a:prstGeom>
          <a:noFill/>
        </p:spPr>
        <p:txBody>
          <a:bodyPr wrap="square">
            <a:spAutoFit/>
          </a:bodyPr>
          <a:lstStyle/>
          <a:p>
            <a:pPr>
              <a:defRPr sz="1400" b="1">
                <a:solidFill>
                  <a:srgbClr val="0F172A"/>
                </a:solidFill>
              </a:defRPr>
            </a:pPr>
            <a:r>
              <a:t>Assessment &amp; Inquiry Pedagogy</a:t>
            </a:r>
          </a:p>
          <a:p>
            <a:pPr>
              <a:spcAft>
                <a:spcPts val="600"/>
              </a:spcAft>
              <a:defRPr sz="1100">
                <a:solidFill>
                  <a:srgbClr val="0F172A"/>
                </a:solidFill>
              </a:defRPr>
            </a:pPr>
            <a:r>
              <a:t>🎯 Summative Assessment:</a:t>
            </a:r>
          </a:p>
          <a:p>
            <a:pPr>
              <a:spcAft>
                <a:spcPts val="600"/>
              </a:spcAft>
              <a:defRPr sz="1100">
                <a:solidFill>
                  <a:srgbClr val="0F172A"/>
                </a:solidFill>
              </a:defRPr>
            </a:pPr>
            <a:r>
              <a:t>  • Criterion B: Inquiring &amp; designing a rigorous enthalpy/stoichiometry lab.</a:t>
            </a:r>
          </a:p>
          <a:p>
            <a:pPr>
              <a:spcAft>
                <a:spcPts val="600"/>
              </a:spcAft>
              <a:defRPr sz="1100">
                <a:solidFill>
                  <a:srgbClr val="0F172A"/>
                </a:solidFill>
              </a:defRPr>
            </a:pPr>
            <a:r>
              <a:t>  • Criterion C: Processing experimental raw data, error propagation, and evaluation.</a:t>
            </a:r>
          </a:p>
          <a:p>
            <a:pPr>
              <a:spcAft>
                <a:spcPts val="600"/>
              </a:spcAft>
              <a:defRPr sz="1100">
                <a:solidFill>
                  <a:srgbClr val="0F172A"/>
                </a:solidFill>
              </a:defRPr>
            </a:pPr>
          </a:p>
          <a:p>
            <a:pPr>
              <a:spcAft>
                <a:spcPts val="600"/>
              </a:spcAft>
              <a:defRPr sz="1100">
                <a:solidFill>
                  <a:srgbClr val="0F172A"/>
                </a:solidFill>
              </a:defRPr>
            </a:pPr>
            <a:r>
              <a:t>🧠 How We Learn (Harvard Project Zero):</a:t>
            </a:r>
          </a:p>
          <a:p>
            <a:pPr>
              <a:spcAft>
                <a:spcPts val="600"/>
              </a:spcAft>
              <a:defRPr sz="1100">
                <a:solidFill>
                  <a:srgbClr val="0F172A"/>
                </a:solidFill>
              </a:defRPr>
            </a:pPr>
            <a:r>
              <a:t>  • Thinking routines to make scientific reasoning visible (Zoom In, Claim-Support-Question, Red/Yellow/Green Light).</a:t>
            </a:r>
          </a:p>
          <a:p>
            <a:pPr>
              <a:spcAft>
                <a:spcPts val="600"/>
              </a:spcAft>
              <a:defRPr sz="1100">
                <a:solidFill>
                  <a:srgbClr val="0F172A"/>
                </a:solidFill>
              </a:defRPr>
            </a:pPr>
            <a:r>
              <a:t>  • Dual representation: Macroscopic lab observations paired with sub-microscopic electron &amp; particle models.</a:t>
            </a:r>
          </a:p>
          <a:p>
            <a:pPr>
              <a:spcAft>
                <a:spcPts val="600"/>
              </a:spcAft>
              <a:defRPr sz="1100">
                <a:solidFill>
                  <a:srgbClr val="0F172A"/>
                </a:solidFill>
              </a:defRPr>
            </a:pPr>
          </a:p>
          <a:p>
            <a:pPr>
              <a:spcAft>
                <a:spcPts val="600"/>
              </a:spcAft>
              <a:defRPr sz="1100">
                <a:solidFill>
                  <a:srgbClr val="0F172A"/>
                </a:solidFill>
              </a:defRPr>
            </a:pPr>
            <a:r>
              <a:t>💡 Summative Challenge:</a:t>
            </a:r>
          </a:p>
          <a:p>
            <a:pPr>
              <a:spcAft>
                <a:spcPts val="600"/>
              </a:spcAft>
              <a:defRPr sz="1100">
                <a:solidFill>
                  <a:srgbClr val="0F172A"/>
                </a:solidFill>
              </a:defRPr>
            </a:pPr>
            <a:r>
              <a:t>  • Design and evaluate a calorimetry investigation to determine the molar enthalpy of neutralization (ΔH_neut) or mass conservation in gas evolution.</a:t>
            </a:r>
          </a:p>
        </p:txBody>
      </p:sp>
      <p:sp>
        <p:nvSpPr>
          <p:cNvPr id="8" name="TextBox 7"/>
          <p:cNvSpPr txBox="1"/>
          <p:nvPr/>
        </p:nvSpPr>
        <p:spPr>
          <a:xfrm>
            <a:off x="548640" y="6492240"/>
            <a:ext cx="11094415" cy="274320"/>
          </a:xfrm>
          <a:prstGeom prst="rect">
            <a:avLst/>
          </a:prstGeom>
          <a:noFill/>
        </p:spPr>
        <p:txBody>
          <a:bodyPr wrap="square">
            <a:spAutoFit/>
          </a:bodyPr>
          <a:lstStyle/>
          <a:p>
            <a:pPr>
              <a:defRPr sz="900">
                <a:solidFill>
                  <a:srgbClr val="64748B"/>
                </a:solidFill>
              </a:defRPr>
            </a:pPr>
            <a:r>
              <a:t>Unit 1 · Chemical Models &amp; Energy in Reactions · Grade 10 MYP 5 Sciences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457200"/>
            <a:ext cx="2011680" cy="320040"/>
          </a:xfrm>
          <a:prstGeom prst="rect">
            <a:avLst/>
          </a:prstGeom>
          <a:solidFill>
            <a:srgbClr val="8B5CF6"/>
          </a:solidFill>
          <a:ln>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defRPr>
            </a:pPr>
            <a:r>
              <a:t>MYP FRAMEWORK</a:t>
            </a:r>
          </a:p>
        </p:txBody>
      </p:sp>
      <p:sp>
        <p:nvSpPr>
          <p:cNvPr id="3" name="TextBox 2"/>
          <p:cNvSpPr txBox="1"/>
          <p:nvPr/>
        </p:nvSpPr>
        <p:spPr>
          <a:xfrm>
            <a:off x="548640" y="868680"/>
            <a:ext cx="11094415" cy="548640"/>
          </a:xfrm>
          <a:prstGeom prst="rect">
            <a:avLst/>
          </a:prstGeom>
          <a:noFill/>
        </p:spPr>
        <p:txBody>
          <a:bodyPr wrap="square">
            <a:spAutoFit/>
          </a:bodyPr>
          <a:lstStyle/>
          <a:p>
            <a:pPr>
              <a:defRPr sz="2200" b="1">
                <a:solidFill>
                  <a:srgbClr val="0F172A"/>
                </a:solidFill>
              </a:defRPr>
            </a:pPr>
            <a:r>
              <a:t>Statement of Inquiry &amp; Inquiry Questions</a:t>
            </a:r>
          </a:p>
        </p:txBody>
      </p:sp>
      <p:sp>
        <p:nvSpPr>
          <p:cNvPr id="4" name="Rounded Rectangle 3"/>
          <p:cNvSpPr/>
          <p:nvPr/>
        </p:nvSpPr>
        <p:spPr>
          <a:xfrm>
            <a:off x="548640" y="1463040"/>
            <a:ext cx="10972800" cy="1005840"/>
          </a:xfrm>
          <a:prstGeom prst="roundRect">
            <a:avLst/>
          </a:prstGeom>
          <a:solidFill>
            <a:srgbClr val="0F172A"/>
          </a:solidFill>
          <a:ln>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i="1" b="1">
                <a:solidFill>
                  <a:srgbClr val="FFFFFF"/>
                </a:solidFill>
              </a:defRPr>
            </a:pPr>
            <a:r>
              <a:t>“Models of atomic electron configuration and chemical bond energy allow scientists to predict reaction dynamics and engineer solutions for environmental and biological energy transformations.”</a:t>
            </a:r>
          </a:p>
        </p:txBody>
      </p:sp>
      <p:sp>
        <p:nvSpPr>
          <p:cNvPr id="5" name="Rounded Rectangle 4"/>
          <p:cNvSpPr/>
          <p:nvPr/>
        </p:nvSpPr>
        <p:spPr>
          <a:xfrm>
            <a:off x="548640" y="2651760"/>
            <a:ext cx="3474720" cy="1463040"/>
          </a:xfrm>
          <a:prstGeom prst="roundRect">
            <a:avLst/>
          </a:prstGeom>
          <a:solidFill>
            <a:srgbClr val="F8FAFC"/>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2651760"/>
            <a:ext cx="3474720" cy="502920"/>
          </a:xfrm>
          <a:prstGeom prst="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l">
              <a:defRPr sz="1300" b="1">
                <a:solidFill>
                  <a:srgbClr val="FFFFFF"/>
                </a:solidFill>
              </a:defRPr>
            </a:pPr>
            <a:r>
              <a:t>KEY CONCEPT</a:t>
            </a:r>
          </a:p>
        </p:txBody>
      </p:sp>
      <p:sp>
        <p:nvSpPr>
          <p:cNvPr id="7" name="TextBox 6"/>
          <p:cNvSpPr txBox="1"/>
          <p:nvPr/>
        </p:nvSpPr>
        <p:spPr>
          <a:xfrm>
            <a:off x="731520" y="3246120"/>
            <a:ext cx="3108960" cy="777240"/>
          </a:xfrm>
          <a:prstGeom prst="rect">
            <a:avLst/>
          </a:prstGeom>
          <a:noFill/>
        </p:spPr>
        <p:txBody>
          <a:bodyPr wrap="square">
            <a:spAutoFit/>
          </a:bodyPr>
          <a:lstStyle/>
          <a:p>
            <a:pPr>
              <a:spcAft>
                <a:spcPts val="600"/>
              </a:spcAft>
              <a:defRPr sz="1100">
                <a:solidFill>
                  <a:srgbClr val="0F172A"/>
                </a:solidFill>
              </a:defRPr>
            </a:pPr>
            <a:r>
              <a:t>Change</a:t>
            </a:r>
          </a:p>
          <a:p>
            <a:pPr>
              <a:spcAft>
                <a:spcPts val="600"/>
              </a:spcAft>
              <a:defRPr sz="1100">
                <a:solidFill>
                  <a:srgbClr val="0F172A"/>
                </a:solidFill>
              </a:defRPr>
            </a:pPr>
            <a:r>
              <a:t>Transformation of matter, electron exchange, and chemical bond restructuring.</a:t>
            </a:r>
          </a:p>
        </p:txBody>
      </p:sp>
      <p:sp>
        <p:nvSpPr>
          <p:cNvPr id="8" name="Rounded Rectangle 7"/>
          <p:cNvSpPr/>
          <p:nvPr/>
        </p:nvSpPr>
        <p:spPr>
          <a:xfrm>
            <a:off x="4297680" y="2651760"/>
            <a:ext cx="3474720" cy="1463040"/>
          </a:xfrm>
          <a:prstGeom prst="roundRect">
            <a:avLst/>
          </a:prstGeom>
          <a:solidFill>
            <a:srgbClr val="F8FAFC"/>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297680" y="2651760"/>
            <a:ext cx="3474720" cy="502920"/>
          </a:xfrm>
          <a:prstGeom prst="rect">
            <a:avLst/>
          </a:prstGeom>
          <a:solidFill>
            <a:srgbClr val="0D9488"/>
          </a:solidFill>
          <a:ln>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l">
              <a:defRPr sz="1300" b="1">
                <a:solidFill>
                  <a:srgbClr val="FFFFFF"/>
                </a:solidFill>
              </a:defRPr>
            </a:pPr>
            <a:r>
              <a:t>RELATED CONCEPTS</a:t>
            </a:r>
          </a:p>
        </p:txBody>
      </p:sp>
      <p:sp>
        <p:nvSpPr>
          <p:cNvPr id="10" name="TextBox 9"/>
          <p:cNvSpPr txBox="1"/>
          <p:nvPr/>
        </p:nvSpPr>
        <p:spPr>
          <a:xfrm>
            <a:off x="4480560" y="3246120"/>
            <a:ext cx="3108960" cy="777240"/>
          </a:xfrm>
          <a:prstGeom prst="rect">
            <a:avLst/>
          </a:prstGeom>
          <a:noFill/>
        </p:spPr>
        <p:txBody>
          <a:bodyPr wrap="square">
            <a:spAutoFit/>
          </a:bodyPr>
          <a:lstStyle/>
          <a:p>
            <a:pPr>
              <a:spcAft>
                <a:spcPts val="600"/>
              </a:spcAft>
              <a:defRPr sz="1100">
                <a:solidFill>
                  <a:srgbClr val="0F172A"/>
                </a:solidFill>
              </a:defRPr>
            </a:pPr>
            <a:r>
              <a:t>Energy · Models · Evidence</a:t>
            </a:r>
          </a:p>
          <a:p>
            <a:pPr>
              <a:spcAft>
                <a:spcPts val="600"/>
              </a:spcAft>
              <a:defRPr sz="1100">
                <a:solidFill>
                  <a:srgbClr val="0F172A"/>
                </a:solidFill>
              </a:defRPr>
            </a:pPr>
            <a:r>
              <a:t>Quantifying bond enthalpies and using sub-microscopic particle models as proof.</a:t>
            </a:r>
          </a:p>
        </p:txBody>
      </p:sp>
      <p:sp>
        <p:nvSpPr>
          <p:cNvPr id="11" name="Rounded Rectangle 10"/>
          <p:cNvSpPr/>
          <p:nvPr/>
        </p:nvSpPr>
        <p:spPr>
          <a:xfrm>
            <a:off x="8046720" y="2651760"/>
            <a:ext cx="3474720" cy="1463040"/>
          </a:xfrm>
          <a:prstGeom prst="roundRect">
            <a:avLst/>
          </a:prstGeom>
          <a:solidFill>
            <a:srgbClr val="F8FAFC"/>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046720" y="2651760"/>
            <a:ext cx="3474720" cy="502920"/>
          </a:xfrm>
          <a:prstGeom prst="rect">
            <a:avLst/>
          </a:prstGeom>
          <a:solidFill>
            <a:srgbClr val="8B5CF6"/>
          </a:solidFill>
          <a:ln>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l">
              <a:defRPr sz="1300" b="1">
                <a:solidFill>
                  <a:srgbClr val="FFFFFF"/>
                </a:solidFill>
              </a:defRPr>
            </a:pPr>
            <a:r>
              <a:t>GLOBAL CONTEXT</a:t>
            </a:r>
          </a:p>
        </p:txBody>
      </p:sp>
      <p:sp>
        <p:nvSpPr>
          <p:cNvPr id="13" name="TextBox 12"/>
          <p:cNvSpPr txBox="1"/>
          <p:nvPr/>
        </p:nvSpPr>
        <p:spPr>
          <a:xfrm>
            <a:off x="8229600" y="3246120"/>
            <a:ext cx="3108960" cy="777240"/>
          </a:xfrm>
          <a:prstGeom prst="rect">
            <a:avLst/>
          </a:prstGeom>
          <a:noFill/>
        </p:spPr>
        <p:txBody>
          <a:bodyPr wrap="square">
            <a:spAutoFit/>
          </a:bodyPr>
          <a:lstStyle/>
          <a:p>
            <a:pPr>
              <a:spcAft>
                <a:spcPts val="600"/>
              </a:spcAft>
              <a:defRPr sz="1100">
                <a:solidFill>
                  <a:srgbClr val="0F172A"/>
                </a:solidFill>
              </a:defRPr>
            </a:pPr>
            <a:r>
              <a:t>Scientific &amp; Technical Innovation</a:t>
            </a:r>
          </a:p>
          <a:p>
            <a:pPr>
              <a:spcAft>
                <a:spcPts val="600"/>
              </a:spcAft>
              <a:defRPr sz="1100">
                <a:solidFill>
                  <a:srgbClr val="0F172A"/>
                </a:solidFill>
              </a:defRPr>
            </a:pPr>
            <a:r>
              <a:t>How understanding neutralization and acid kinetics drives green industrial processes.</a:t>
            </a:r>
          </a:p>
        </p:txBody>
      </p:sp>
      <p:sp>
        <p:nvSpPr>
          <p:cNvPr id="14" name="Rectangle 13"/>
          <p:cNvSpPr/>
          <p:nvPr/>
        </p:nvSpPr>
        <p:spPr>
          <a:xfrm>
            <a:off x="548640" y="4297680"/>
            <a:ext cx="1828800" cy="548640"/>
          </a:xfrm>
          <a:prstGeom prst="rect">
            <a:avLst/>
          </a:prstGeom>
          <a:solidFill>
            <a:srgbClr val="EF4444"/>
          </a:solidFill>
        </p:spPr>
        <p:style>
          <a:lnRef idx="1">
            <a:schemeClr val="accent1"/>
          </a:lnRef>
          <a:fillRef idx="3">
            <a:schemeClr val="accent1"/>
          </a:fillRef>
          <a:effectRef idx="2">
            <a:schemeClr val="accent1"/>
          </a:effectRef>
          <a:fontRef idx="minor">
            <a:schemeClr val="lt1"/>
          </a:fontRef>
        </p:style>
        <p:txBody>
          <a:bodyPr rtlCol="0" anchor="ctr"/>
          <a:lstStyle/>
          <a:p>
            <a:pPr algn="ctr">
              <a:defRPr b="1">
                <a:solidFill>
                  <a:srgbClr val="FFFFFF"/>
                </a:solidFill>
              </a:defRPr>
            </a:pPr>
            <a:r>
              <a:t>FACTUAL</a:t>
            </a:r>
          </a:p>
        </p:txBody>
      </p:sp>
      <p:sp>
        <p:nvSpPr>
          <p:cNvPr id="15" name="TextBox 14"/>
          <p:cNvSpPr txBox="1"/>
          <p:nvPr/>
        </p:nvSpPr>
        <p:spPr>
          <a:xfrm>
            <a:off x="2560320" y="4297680"/>
            <a:ext cx="8961120" cy="548640"/>
          </a:xfrm>
          <a:prstGeom prst="rect">
            <a:avLst/>
          </a:prstGeom>
          <a:noFill/>
        </p:spPr>
        <p:txBody>
          <a:bodyPr wrap="none">
            <a:spAutoFit/>
          </a:bodyPr>
          <a:lstStyle/>
          <a:p>
            <a:pPr>
              <a:defRPr sz="1200"/>
            </a:pPr>
            <a:r>
              <a:t>How does outermost valence electron configuration govern single displacement and acid-base reactivity?</a:t>
            </a:r>
          </a:p>
        </p:txBody>
      </p:sp>
      <p:sp>
        <p:nvSpPr>
          <p:cNvPr id="16" name="Rectangle 15"/>
          <p:cNvSpPr/>
          <p:nvPr/>
        </p:nvSpPr>
        <p:spPr>
          <a:xfrm>
            <a:off x="548640" y="4937760"/>
            <a:ext cx="1828800" cy="548640"/>
          </a:xfrm>
          <a:prstGeom prst="rect">
            <a:avLst/>
          </a:prstGeom>
          <a:solidFill>
            <a:srgbClr val="F59E0B"/>
          </a:solidFill>
        </p:spPr>
        <p:style>
          <a:lnRef idx="1">
            <a:schemeClr val="accent1"/>
          </a:lnRef>
          <a:fillRef idx="3">
            <a:schemeClr val="accent1"/>
          </a:fillRef>
          <a:effectRef idx="2">
            <a:schemeClr val="accent1"/>
          </a:effectRef>
          <a:fontRef idx="minor">
            <a:schemeClr val="lt1"/>
          </a:fontRef>
        </p:style>
        <p:txBody>
          <a:bodyPr rtlCol="0" anchor="ctr"/>
          <a:lstStyle/>
          <a:p>
            <a:pPr algn="ctr">
              <a:defRPr b="1">
                <a:solidFill>
                  <a:srgbClr val="FFFFFF"/>
                </a:solidFill>
              </a:defRPr>
            </a:pPr>
            <a:r>
              <a:t>CONCEPTUAL</a:t>
            </a:r>
          </a:p>
        </p:txBody>
      </p:sp>
      <p:sp>
        <p:nvSpPr>
          <p:cNvPr id="17" name="TextBox 16"/>
          <p:cNvSpPr txBox="1"/>
          <p:nvPr/>
        </p:nvSpPr>
        <p:spPr>
          <a:xfrm>
            <a:off x="2560320" y="4937760"/>
            <a:ext cx="8961120" cy="548640"/>
          </a:xfrm>
          <a:prstGeom prst="rect">
            <a:avLst/>
          </a:prstGeom>
          <a:noFill/>
        </p:spPr>
        <p:txBody>
          <a:bodyPr wrap="none">
            <a:spAutoFit/>
          </a:bodyPr>
          <a:lstStyle/>
          <a:p>
            <a:pPr>
              <a:defRPr sz="1200"/>
            </a:pPr>
            <a:r>
              <a:t>Why is the net ionic enthalpy of strong acid - strong alkali neutralization essentially constant regardless of acid identity?</a:t>
            </a:r>
          </a:p>
        </p:txBody>
      </p:sp>
      <p:sp>
        <p:nvSpPr>
          <p:cNvPr id="18" name="Rectangle 17"/>
          <p:cNvSpPr/>
          <p:nvPr/>
        </p:nvSpPr>
        <p:spPr>
          <a:xfrm>
            <a:off x="548640" y="5577840"/>
            <a:ext cx="1828800" cy="548640"/>
          </a:xfrm>
          <a:prstGeom prst="rect">
            <a:avLst/>
          </a:prstGeom>
          <a:solidFill>
            <a:srgbClr val="8B5CF6"/>
          </a:solidFill>
        </p:spPr>
        <p:style>
          <a:lnRef idx="1">
            <a:schemeClr val="accent1"/>
          </a:lnRef>
          <a:fillRef idx="3">
            <a:schemeClr val="accent1"/>
          </a:fillRef>
          <a:effectRef idx="2">
            <a:schemeClr val="accent1"/>
          </a:effectRef>
          <a:fontRef idx="minor">
            <a:schemeClr val="lt1"/>
          </a:fontRef>
        </p:style>
        <p:txBody>
          <a:bodyPr rtlCol="0" anchor="ctr"/>
          <a:lstStyle/>
          <a:p>
            <a:pPr algn="ctr">
              <a:defRPr b="1">
                <a:solidFill>
                  <a:srgbClr val="FFFFFF"/>
                </a:solidFill>
              </a:defRPr>
            </a:pPr>
            <a:r>
              <a:t>DEBATABLE</a:t>
            </a:r>
          </a:p>
        </p:txBody>
      </p:sp>
      <p:sp>
        <p:nvSpPr>
          <p:cNvPr id="19" name="TextBox 18"/>
          <p:cNvSpPr txBox="1"/>
          <p:nvPr/>
        </p:nvSpPr>
        <p:spPr>
          <a:xfrm>
            <a:off x="2560320" y="5577840"/>
            <a:ext cx="8961120" cy="548640"/>
          </a:xfrm>
          <a:prstGeom prst="rect">
            <a:avLst/>
          </a:prstGeom>
          <a:noFill/>
        </p:spPr>
        <p:txBody>
          <a:bodyPr wrap="none">
            <a:spAutoFit/>
          </a:bodyPr>
          <a:lstStyle/>
          <a:p>
            <a:pPr>
              <a:defRPr sz="1200"/>
            </a:pPr>
            <a:r>
              <a:t>Are laboratory chemical models sufficient to predict real-world environmental acid neutralization?</a:t>
            </a:r>
          </a:p>
        </p:txBody>
      </p:sp>
      <p:sp>
        <p:nvSpPr>
          <p:cNvPr id="20" name="TextBox 19"/>
          <p:cNvSpPr txBox="1"/>
          <p:nvPr/>
        </p:nvSpPr>
        <p:spPr>
          <a:xfrm>
            <a:off x="548640" y="6492240"/>
            <a:ext cx="11094415" cy="274320"/>
          </a:xfrm>
          <a:prstGeom prst="rect">
            <a:avLst/>
          </a:prstGeom>
          <a:noFill/>
        </p:spPr>
        <p:txBody>
          <a:bodyPr wrap="square">
            <a:spAutoFit/>
          </a:bodyPr>
          <a:lstStyle/>
          <a:p>
            <a:pPr>
              <a:defRPr sz="900">
                <a:solidFill>
                  <a:srgbClr val="64748B"/>
                </a:solidFill>
              </a:defRPr>
            </a:pPr>
            <a:r>
              <a:t>Unit 1 · Chemical Models &amp; Energy in Reactions · Grade 10 MYP 5 Sciences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457200"/>
            <a:ext cx="2011680" cy="320040"/>
          </a:xfrm>
          <a:prstGeom prst="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defRPr>
            </a:pPr>
            <a:r>
              <a:t>ROADMAP</a:t>
            </a:r>
          </a:p>
        </p:txBody>
      </p:sp>
      <p:sp>
        <p:nvSpPr>
          <p:cNvPr id="3" name="TextBox 2"/>
          <p:cNvSpPr txBox="1"/>
          <p:nvPr/>
        </p:nvSpPr>
        <p:spPr>
          <a:xfrm>
            <a:off x="548640" y="868680"/>
            <a:ext cx="11094415" cy="548640"/>
          </a:xfrm>
          <a:prstGeom prst="rect">
            <a:avLst/>
          </a:prstGeom>
          <a:noFill/>
        </p:spPr>
        <p:txBody>
          <a:bodyPr wrap="square">
            <a:spAutoFit/>
          </a:bodyPr>
          <a:lstStyle/>
          <a:p>
            <a:pPr>
              <a:defRPr sz="2200" b="1">
                <a:solidFill>
                  <a:srgbClr val="0F172A"/>
                </a:solidFill>
              </a:defRPr>
            </a:pPr>
            <a:r>
              <a:t>Our 15-Lesson Inquiry &amp; Assessment Pathway</a:t>
            </a:r>
          </a:p>
        </p:txBody>
      </p:sp>
      <p:sp>
        <p:nvSpPr>
          <p:cNvPr id="4" name="Rounded Rectangle 3"/>
          <p:cNvSpPr/>
          <p:nvPr/>
        </p:nvSpPr>
        <p:spPr>
          <a:xfrm>
            <a:off x="548640" y="1645920"/>
            <a:ext cx="3474720" cy="4389120"/>
          </a:xfrm>
          <a:prstGeom prst="roundRect">
            <a:avLst/>
          </a:prstGeom>
          <a:solidFill>
            <a:srgbClr val="F8FAFC"/>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645920"/>
            <a:ext cx="3474720" cy="502920"/>
          </a:xfrm>
          <a:prstGeom prst="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l">
              <a:defRPr sz="1300" b="1">
                <a:solidFill>
                  <a:srgbClr val="FFFFFF"/>
                </a:solidFill>
              </a:defRPr>
            </a:pPr>
            <a:r>
              <a:t>Phase 1: Foundations (L1–L5)</a:t>
            </a:r>
          </a:p>
        </p:txBody>
      </p:sp>
      <p:sp>
        <p:nvSpPr>
          <p:cNvPr id="6" name="TextBox 5"/>
          <p:cNvSpPr txBox="1"/>
          <p:nvPr/>
        </p:nvSpPr>
        <p:spPr>
          <a:xfrm>
            <a:off x="731520" y="2240280"/>
            <a:ext cx="3108960" cy="3703320"/>
          </a:xfrm>
          <a:prstGeom prst="rect">
            <a:avLst/>
          </a:prstGeom>
          <a:noFill/>
        </p:spPr>
        <p:txBody>
          <a:bodyPr wrap="square">
            <a:spAutoFit/>
          </a:bodyPr>
          <a:lstStyle/>
          <a:p>
            <a:pPr>
              <a:spcAft>
                <a:spcPts val="600"/>
              </a:spcAft>
              <a:defRPr sz="1100">
                <a:solidFill>
                  <a:srgbClr val="0F172A"/>
                </a:solidFill>
              </a:defRPr>
            </a:pPr>
            <a:r>
              <a:t>⚡ L1: Valence Electrons &amp; Periodic Trends (10.ABC-DS.1)</a:t>
            </a:r>
          </a:p>
          <a:p>
            <a:pPr>
              <a:spcAft>
                <a:spcPts val="600"/>
              </a:spcAft>
              <a:defRPr sz="1100">
                <a:solidFill>
                  <a:srgbClr val="0F172A"/>
                </a:solidFill>
              </a:defRPr>
            </a:pPr>
            <a:r>
              <a:t>  Explaining reactivity via ionization energy &amp; electronegativity.</a:t>
            </a:r>
          </a:p>
          <a:p>
            <a:pPr>
              <a:spcAft>
                <a:spcPts val="600"/>
              </a:spcAft>
              <a:defRPr sz="1100">
                <a:solidFill>
                  <a:srgbClr val="0F172A"/>
                </a:solidFill>
              </a:defRPr>
            </a:pPr>
          </a:p>
          <a:p>
            <a:pPr>
              <a:spcAft>
                <a:spcPts val="600"/>
              </a:spcAft>
              <a:defRPr sz="1100">
                <a:solidFill>
                  <a:srgbClr val="0F172A"/>
                </a:solidFill>
              </a:defRPr>
            </a:pPr>
            <a:r>
              <a:t>⚡ L2: Displacement Reactions &amp; Redox (10.ABC-DS.1)</a:t>
            </a:r>
          </a:p>
          <a:p>
            <a:pPr>
              <a:spcAft>
                <a:spcPts val="600"/>
              </a:spcAft>
              <a:defRPr sz="1100">
                <a:solidFill>
                  <a:srgbClr val="0F172A"/>
                </a:solidFill>
              </a:defRPr>
            </a:pPr>
            <a:r>
              <a:t>  Activity series of metals; writing half-equations.</a:t>
            </a:r>
          </a:p>
          <a:p>
            <a:pPr>
              <a:spcAft>
                <a:spcPts val="600"/>
              </a:spcAft>
              <a:defRPr sz="1100">
                <a:solidFill>
                  <a:srgbClr val="0F172A"/>
                </a:solidFill>
              </a:defRPr>
            </a:pPr>
          </a:p>
          <a:p>
            <a:pPr>
              <a:spcAft>
                <a:spcPts val="600"/>
              </a:spcAft>
              <a:defRPr sz="1100">
                <a:solidFill>
                  <a:srgbClr val="0F172A"/>
                </a:solidFill>
              </a:defRPr>
            </a:pPr>
            <a:r>
              <a:t>⚡ L3: Reactions of Acids (10.ABC-DS.3)</a:t>
            </a:r>
          </a:p>
          <a:p>
            <a:pPr>
              <a:spcAft>
                <a:spcPts val="600"/>
              </a:spcAft>
              <a:defRPr sz="1100">
                <a:solidFill>
                  <a:srgbClr val="0F172A"/>
                </a:solidFill>
              </a:defRPr>
            </a:pPr>
            <a:r>
              <a:t>  Acids with metals, bases, and carbonates; gas tests.</a:t>
            </a:r>
          </a:p>
          <a:p>
            <a:pPr>
              <a:spcAft>
                <a:spcPts val="600"/>
              </a:spcAft>
              <a:defRPr sz="1100">
                <a:solidFill>
                  <a:srgbClr val="0F172A"/>
                </a:solidFill>
              </a:defRPr>
            </a:pPr>
          </a:p>
          <a:p>
            <a:pPr>
              <a:spcAft>
                <a:spcPts val="600"/>
              </a:spcAft>
              <a:defRPr sz="1100">
                <a:solidFill>
                  <a:srgbClr val="0F172A"/>
                </a:solidFill>
              </a:defRPr>
            </a:pPr>
            <a:r>
              <a:t>⚡ L4: Reactions of Bases &amp; Ammonium Salts (10.ABC-DS.3)</a:t>
            </a:r>
          </a:p>
          <a:p>
            <a:pPr>
              <a:spcAft>
                <a:spcPts val="600"/>
              </a:spcAft>
              <a:defRPr sz="1100">
                <a:solidFill>
                  <a:srgbClr val="0F172A"/>
                </a:solidFill>
              </a:defRPr>
            </a:pPr>
            <a:r>
              <a:t>  Base characteristics, precipitation, and ammonia gas release.</a:t>
            </a:r>
          </a:p>
          <a:p>
            <a:pPr>
              <a:spcAft>
                <a:spcPts val="600"/>
              </a:spcAft>
              <a:defRPr sz="1100">
                <a:solidFill>
                  <a:srgbClr val="0F172A"/>
                </a:solidFill>
              </a:defRPr>
            </a:pPr>
          </a:p>
          <a:p>
            <a:pPr>
              <a:spcAft>
                <a:spcPts val="600"/>
              </a:spcAft>
              <a:defRPr sz="1100">
                <a:solidFill>
                  <a:srgbClr val="0F172A"/>
                </a:solidFill>
              </a:defRPr>
            </a:pPr>
            <a:r>
              <a:t>⚡ L5: Formative Check 1 &amp; Synthesis</a:t>
            </a:r>
          </a:p>
          <a:p>
            <a:pPr>
              <a:spcAft>
                <a:spcPts val="600"/>
              </a:spcAft>
              <a:defRPr sz="1100">
                <a:solidFill>
                  <a:srgbClr val="0F172A"/>
                </a:solidFill>
              </a:defRPr>
            </a:pPr>
            <a:r>
              <a:t>  Consolidating ionic equations and gas evolution mechanics.</a:t>
            </a:r>
          </a:p>
        </p:txBody>
      </p:sp>
      <p:sp>
        <p:nvSpPr>
          <p:cNvPr id="7" name="Rounded Rectangle 6"/>
          <p:cNvSpPr/>
          <p:nvPr/>
        </p:nvSpPr>
        <p:spPr>
          <a:xfrm>
            <a:off x="4297680" y="1645920"/>
            <a:ext cx="3474720" cy="4389120"/>
          </a:xfrm>
          <a:prstGeom prst="roundRect">
            <a:avLst/>
          </a:prstGeom>
          <a:solidFill>
            <a:srgbClr val="F8FAFC"/>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297680" y="1645920"/>
            <a:ext cx="3474720" cy="502920"/>
          </a:xfrm>
          <a:prstGeom prst="rect">
            <a:avLst/>
          </a:prstGeom>
          <a:solidFill>
            <a:srgbClr val="0D9488"/>
          </a:solidFill>
          <a:ln>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l">
              <a:defRPr sz="1300" b="1">
                <a:solidFill>
                  <a:srgbClr val="FFFFFF"/>
                </a:solidFill>
              </a:defRPr>
            </a:pPr>
            <a:r>
              <a:t>Phase 2: Quantifying Systems (L6–L10)</a:t>
            </a:r>
          </a:p>
        </p:txBody>
      </p:sp>
      <p:sp>
        <p:nvSpPr>
          <p:cNvPr id="9" name="TextBox 8"/>
          <p:cNvSpPr txBox="1"/>
          <p:nvPr/>
        </p:nvSpPr>
        <p:spPr>
          <a:xfrm>
            <a:off x="4480560" y="2240280"/>
            <a:ext cx="3108960" cy="3703320"/>
          </a:xfrm>
          <a:prstGeom prst="rect">
            <a:avLst/>
          </a:prstGeom>
          <a:noFill/>
        </p:spPr>
        <p:txBody>
          <a:bodyPr wrap="square">
            <a:spAutoFit/>
          </a:bodyPr>
          <a:lstStyle/>
          <a:p>
            <a:pPr>
              <a:spcAft>
                <a:spcPts val="600"/>
              </a:spcAft>
              <a:defRPr sz="1100">
                <a:solidFill>
                  <a:srgbClr val="0F172A"/>
                </a:solidFill>
              </a:defRPr>
            </a:pPr>
            <a:r>
              <a:t>🧪 L6: pH Scale &amp; [H+] Concentration (10.ABC-DS.4)</a:t>
            </a:r>
          </a:p>
          <a:p>
            <a:pPr>
              <a:spcAft>
                <a:spcPts val="600"/>
              </a:spcAft>
              <a:defRPr sz="1100">
                <a:solidFill>
                  <a:srgbClr val="0F172A"/>
                </a:solidFill>
              </a:defRPr>
            </a:pPr>
            <a:r>
              <a:t>  Logarithmic scale, strong vs weak acids, indicator ranges.</a:t>
            </a:r>
          </a:p>
          <a:p>
            <a:pPr>
              <a:spcAft>
                <a:spcPts val="600"/>
              </a:spcAft>
              <a:defRPr sz="1100">
                <a:solidFill>
                  <a:srgbClr val="0F172A"/>
                </a:solidFill>
              </a:defRPr>
            </a:pPr>
          </a:p>
          <a:p>
            <a:pPr>
              <a:spcAft>
                <a:spcPts val="600"/>
              </a:spcAft>
              <a:defRPr sz="1100">
                <a:solidFill>
                  <a:srgbClr val="0F172A"/>
                </a:solidFill>
              </a:defRPr>
            </a:pPr>
            <a:r>
              <a:t>🧪 L7: Volumetric Titrations (10.ABC-DS.5)</a:t>
            </a:r>
          </a:p>
          <a:p>
            <a:pPr>
              <a:spcAft>
                <a:spcPts val="600"/>
              </a:spcAft>
              <a:defRPr sz="1100">
                <a:solidFill>
                  <a:srgbClr val="0F172A"/>
                </a:solidFill>
              </a:defRPr>
            </a:pPr>
            <a:r>
              <a:t>  Precision glassware (pipette, burette), titre concordancy.</a:t>
            </a:r>
          </a:p>
          <a:p>
            <a:pPr>
              <a:spcAft>
                <a:spcPts val="600"/>
              </a:spcAft>
              <a:defRPr sz="1100">
                <a:solidFill>
                  <a:srgbClr val="0F172A"/>
                </a:solidFill>
              </a:defRPr>
            </a:pPr>
          </a:p>
          <a:p>
            <a:pPr>
              <a:spcAft>
                <a:spcPts val="600"/>
              </a:spcAft>
              <a:defRPr sz="1100">
                <a:solidFill>
                  <a:srgbClr val="0F172A"/>
                </a:solidFill>
              </a:defRPr>
            </a:pPr>
            <a:r>
              <a:t>🧪 L8: Titration Stoichiometry (10.ABC-DS.5)</a:t>
            </a:r>
          </a:p>
          <a:p>
            <a:pPr>
              <a:spcAft>
                <a:spcPts val="600"/>
              </a:spcAft>
              <a:defRPr sz="1100">
                <a:solidFill>
                  <a:srgbClr val="0F172A"/>
                </a:solidFill>
              </a:defRPr>
            </a:pPr>
            <a:r>
              <a:t>  Calculating unknown molarities; concentration calculations.</a:t>
            </a:r>
          </a:p>
          <a:p>
            <a:pPr>
              <a:spcAft>
                <a:spcPts val="600"/>
              </a:spcAft>
              <a:defRPr sz="1100">
                <a:solidFill>
                  <a:srgbClr val="0F172A"/>
                </a:solidFill>
              </a:defRPr>
            </a:pPr>
          </a:p>
          <a:p>
            <a:pPr>
              <a:spcAft>
                <a:spcPts val="600"/>
              </a:spcAft>
              <a:defRPr sz="1100">
                <a:solidFill>
                  <a:srgbClr val="0F172A"/>
                </a:solidFill>
              </a:defRPr>
            </a:pPr>
            <a:r>
              <a:t>🧪 L9: Conservation of Mass &amp; Gas Evolution (10.ABC-DS.6)</a:t>
            </a:r>
          </a:p>
          <a:p>
            <a:pPr>
              <a:spcAft>
                <a:spcPts val="600"/>
              </a:spcAft>
              <a:defRPr sz="1100">
                <a:solidFill>
                  <a:srgbClr val="0F172A"/>
                </a:solidFill>
              </a:defRPr>
            </a:pPr>
            <a:r>
              <a:t>  Open vs closed systems, mass loss of CO2, molar volume.</a:t>
            </a:r>
          </a:p>
          <a:p>
            <a:pPr>
              <a:spcAft>
                <a:spcPts val="600"/>
              </a:spcAft>
              <a:defRPr sz="1100">
                <a:solidFill>
                  <a:srgbClr val="0F172A"/>
                </a:solidFill>
              </a:defRPr>
            </a:pPr>
          </a:p>
          <a:p>
            <a:pPr>
              <a:spcAft>
                <a:spcPts val="600"/>
              </a:spcAft>
              <a:defRPr sz="1100">
                <a:solidFill>
                  <a:srgbClr val="0F172A"/>
                </a:solidFill>
              </a:defRPr>
            </a:pPr>
            <a:r>
              <a:t>🧪 L10: Formative Lab (Criterion B/C Trial)</a:t>
            </a:r>
          </a:p>
          <a:p>
            <a:pPr>
              <a:spcAft>
                <a:spcPts val="600"/>
              </a:spcAft>
              <a:defRPr sz="1100">
                <a:solidFill>
                  <a:srgbClr val="0F172A"/>
                </a:solidFill>
              </a:defRPr>
            </a:pPr>
            <a:r>
              <a:t>  Mock investigation: variable manipulation and uncertainty.</a:t>
            </a:r>
          </a:p>
        </p:txBody>
      </p:sp>
      <p:sp>
        <p:nvSpPr>
          <p:cNvPr id="10" name="Rounded Rectangle 9"/>
          <p:cNvSpPr/>
          <p:nvPr/>
        </p:nvSpPr>
        <p:spPr>
          <a:xfrm>
            <a:off x="8046720" y="1645920"/>
            <a:ext cx="3474720" cy="4389120"/>
          </a:xfrm>
          <a:prstGeom prst="roundRect">
            <a:avLst/>
          </a:prstGeom>
          <a:solidFill>
            <a:srgbClr val="F8FAFC"/>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046720" y="1645920"/>
            <a:ext cx="3474720" cy="502920"/>
          </a:xfrm>
          <a:prstGeom prst="rect">
            <a:avLst/>
          </a:prstGeom>
          <a:solidFill>
            <a:srgbClr val="EF4444"/>
          </a:solidFill>
          <a:ln>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l">
              <a:defRPr sz="1300" b="1">
                <a:solidFill>
                  <a:srgbClr val="FFFFFF"/>
                </a:solidFill>
              </a:defRPr>
            </a:pPr>
            <a:r>
              <a:t>Phase 3: Thermochemistry &amp; Summative (L11–L15)</a:t>
            </a:r>
          </a:p>
        </p:txBody>
      </p:sp>
      <p:sp>
        <p:nvSpPr>
          <p:cNvPr id="12" name="TextBox 11"/>
          <p:cNvSpPr txBox="1"/>
          <p:nvPr/>
        </p:nvSpPr>
        <p:spPr>
          <a:xfrm>
            <a:off x="8229600" y="2240280"/>
            <a:ext cx="3108960" cy="3703320"/>
          </a:xfrm>
          <a:prstGeom prst="rect">
            <a:avLst/>
          </a:prstGeom>
          <a:noFill/>
        </p:spPr>
        <p:txBody>
          <a:bodyPr wrap="square">
            <a:spAutoFit/>
          </a:bodyPr>
          <a:lstStyle/>
          <a:p>
            <a:pPr>
              <a:spcAft>
                <a:spcPts val="600"/>
              </a:spcAft>
              <a:defRPr sz="1100">
                <a:solidFill>
                  <a:srgbClr val="0F172A"/>
                </a:solidFill>
              </a:defRPr>
            </a:pPr>
            <a:r>
              <a:t>🔥 L11: Bond Energy &amp; Enthalpy (10.ABC-DS.2)</a:t>
            </a:r>
          </a:p>
          <a:p>
            <a:pPr>
              <a:spcAft>
                <a:spcPts val="600"/>
              </a:spcAft>
              <a:defRPr sz="1100">
                <a:solidFill>
                  <a:srgbClr val="0F172A"/>
                </a:solidFill>
              </a:defRPr>
            </a:pPr>
            <a:r>
              <a:t>  Bond breaking (endo) vs bond forming (exo); energy profiles.</a:t>
            </a:r>
          </a:p>
          <a:p>
            <a:pPr>
              <a:spcAft>
                <a:spcPts val="600"/>
              </a:spcAft>
              <a:defRPr sz="1100">
                <a:solidFill>
                  <a:srgbClr val="0F172A"/>
                </a:solidFill>
              </a:defRPr>
            </a:pPr>
          </a:p>
          <a:p>
            <a:pPr>
              <a:spcAft>
                <a:spcPts val="600"/>
              </a:spcAft>
              <a:defRPr sz="1100">
                <a:solidFill>
                  <a:srgbClr val="0F172A"/>
                </a:solidFill>
              </a:defRPr>
            </a:pPr>
            <a:r>
              <a:t>🔥 L12: Calorimetry of Neutralization (10.ABC-DS.2)</a:t>
            </a:r>
          </a:p>
          <a:p>
            <a:pPr>
              <a:spcAft>
                <a:spcPts val="600"/>
              </a:spcAft>
              <a:defRPr sz="1100">
                <a:solidFill>
                  <a:srgbClr val="0F172A"/>
                </a:solidFill>
              </a:defRPr>
            </a:pPr>
            <a:r>
              <a:t>  q = mcΔT, polystyrene cup calorimeter, calculating ΔH_neut.</a:t>
            </a:r>
          </a:p>
          <a:p>
            <a:pPr>
              <a:spcAft>
                <a:spcPts val="600"/>
              </a:spcAft>
              <a:defRPr sz="1100">
                <a:solidFill>
                  <a:srgbClr val="0F172A"/>
                </a:solidFill>
              </a:defRPr>
            </a:pPr>
          </a:p>
          <a:p>
            <a:pPr>
              <a:spcAft>
                <a:spcPts val="600"/>
              </a:spcAft>
              <a:defRPr sz="1100">
                <a:solidFill>
                  <a:srgbClr val="0F172A"/>
                </a:solidFill>
              </a:defRPr>
            </a:pPr>
            <a:r>
              <a:t>🎯 L13: Summative Assessment – Criterion B</a:t>
            </a:r>
          </a:p>
          <a:p>
            <a:pPr>
              <a:spcAft>
                <a:spcPts val="600"/>
              </a:spcAft>
              <a:defRPr sz="1100">
                <a:solidFill>
                  <a:srgbClr val="0F172A"/>
                </a:solidFill>
              </a:defRPr>
            </a:pPr>
            <a:r>
              <a:t>  Independent experimental design: variables, hypothesis &amp; protocol.</a:t>
            </a:r>
          </a:p>
          <a:p>
            <a:pPr>
              <a:spcAft>
                <a:spcPts val="600"/>
              </a:spcAft>
              <a:defRPr sz="1100">
                <a:solidFill>
                  <a:srgbClr val="0F172A"/>
                </a:solidFill>
              </a:defRPr>
            </a:pPr>
          </a:p>
          <a:p>
            <a:pPr>
              <a:spcAft>
                <a:spcPts val="600"/>
              </a:spcAft>
              <a:defRPr sz="1100">
                <a:solidFill>
                  <a:srgbClr val="0F172A"/>
                </a:solidFill>
              </a:defRPr>
            </a:pPr>
            <a:r>
              <a:t>🎯 L14: Summative Assessment – Criterion C Lab</a:t>
            </a:r>
          </a:p>
          <a:p>
            <a:pPr>
              <a:spcAft>
                <a:spcPts val="600"/>
              </a:spcAft>
              <a:defRPr sz="1100">
                <a:solidFill>
                  <a:srgbClr val="0F172A"/>
                </a:solidFill>
              </a:defRPr>
            </a:pPr>
            <a:r>
              <a:t>  Execution, data collection (3 trials), anomaly screening.</a:t>
            </a:r>
          </a:p>
          <a:p>
            <a:pPr>
              <a:spcAft>
                <a:spcPts val="600"/>
              </a:spcAft>
              <a:defRPr sz="1100">
                <a:solidFill>
                  <a:srgbClr val="0F172A"/>
                </a:solidFill>
              </a:defRPr>
            </a:pPr>
          </a:p>
          <a:p>
            <a:pPr>
              <a:spcAft>
                <a:spcPts val="600"/>
              </a:spcAft>
              <a:defRPr sz="1100">
                <a:solidFill>
                  <a:srgbClr val="0F172A"/>
                </a:solidFill>
              </a:defRPr>
            </a:pPr>
            <a:r>
              <a:t>🎯 L15: Summative Assessment – Processing &amp; Evaluation</a:t>
            </a:r>
          </a:p>
          <a:p>
            <a:pPr>
              <a:spcAft>
                <a:spcPts val="600"/>
              </a:spcAft>
              <a:defRPr sz="1100">
                <a:solidFill>
                  <a:srgbClr val="0F172A"/>
                </a:solidFill>
              </a:defRPr>
            </a:pPr>
            <a:r>
              <a:t>  Graphing, uncertainty analysis, validity discussion &amp; improvements.</a:t>
            </a:r>
          </a:p>
        </p:txBody>
      </p:sp>
      <p:sp>
        <p:nvSpPr>
          <p:cNvPr id="13" name="TextBox 12"/>
          <p:cNvSpPr txBox="1"/>
          <p:nvPr/>
        </p:nvSpPr>
        <p:spPr>
          <a:xfrm>
            <a:off x="548640" y="6492240"/>
            <a:ext cx="11094415" cy="274320"/>
          </a:xfrm>
          <a:prstGeom prst="rect">
            <a:avLst/>
          </a:prstGeom>
          <a:noFill/>
        </p:spPr>
        <p:txBody>
          <a:bodyPr wrap="square">
            <a:spAutoFit/>
          </a:bodyPr>
          <a:lstStyle/>
          <a:p>
            <a:pPr>
              <a:defRPr sz="900">
                <a:solidFill>
                  <a:srgbClr val="64748B"/>
                </a:solidFill>
              </a:defRPr>
            </a:pPr>
            <a:r>
              <a:t>Unit 1 · Chemical Models &amp; Energy in Reactions · Grade 10 MYP 5 Sciences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457200"/>
            <a:ext cx="2011680" cy="320040"/>
          </a:xfrm>
          <a:prstGeom prst="rect">
            <a:avLst/>
          </a:prstGeom>
          <a:solidFill>
            <a:srgbClr val="8B5CF6"/>
          </a:solidFill>
          <a:ln>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defRPr>
            </a:pPr>
            <a:r>
              <a:t>VISUAL THINKING ROUTINE</a:t>
            </a:r>
          </a:p>
        </p:txBody>
      </p:sp>
      <p:sp>
        <p:nvSpPr>
          <p:cNvPr id="3" name="TextBox 2"/>
          <p:cNvSpPr txBox="1"/>
          <p:nvPr/>
        </p:nvSpPr>
        <p:spPr>
          <a:xfrm>
            <a:off x="548640" y="868680"/>
            <a:ext cx="11094415" cy="548640"/>
          </a:xfrm>
          <a:prstGeom prst="rect">
            <a:avLst/>
          </a:prstGeom>
          <a:noFill/>
        </p:spPr>
        <p:txBody>
          <a:bodyPr wrap="square">
            <a:spAutoFit/>
          </a:bodyPr>
          <a:lstStyle/>
          <a:p>
            <a:pPr>
              <a:defRPr sz="2200" b="1">
                <a:solidFill>
                  <a:srgbClr val="0F172A"/>
                </a:solidFill>
              </a:defRPr>
            </a:pPr>
            <a:r>
              <a:t>Harvard Project Zero Routines We Will Use</a:t>
            </a:r>
          </a:p>
        </p:txBody>
      </p:sp>
      <p:sp>
        <p:nvSpPr>
          <p:cNvPr id="4" name="TextBox 3"/>
          <p:cNvSpPr txBox="1"/>
          <p:nvPr/>
        </p:nvSpPr>
        <p:spPr>
          <a:xfrm>
            <a:off x="548640" y="1371600"/>
            <a:ext cx="11094415" cy="365760"/>
          </a:xfrm>
          <a:prstGeom prst="rect">
            <a:avLst/>
          </a:prstGeom>
          <a:noFill/>
        </p:spPr>
        <p:txBody>
          <a:bodyPr wrap="square">
            <a:spAutoFit/>
          </a:bodyPr>
          <a:lstStyle/>
          <a:p>
            <a:pPr>
              <a:defRPr sz="1200" i="1">
                <a:solidFill>
                  <a:srgbClr val="64748B"/>
                </a:solidFill>
              </a:defRPr>
            </a:pPr>
            <a:r>
              <a:t>Routines from Harvard Project Zero that make scientific thinking visible</a:t>
            </a:r>
          </a:p>
        </p:txBody>
      </p:sp>
      <p:sp>
        <p:nvSpPr>
          <p:cNvPr id="5" name="Rounded Rectangle 4"/>
          <p:cNvSpPr/>
          <p:nvPr/>
        </p:nvSpPr>
        <p:spPr>
          <a:xfrm>
            <a:off x="548640" y="1645920"/>
            <a:ext cx="3474720" cy="2011680"/>
          </a:xfrm>
          <a:prstGeom prst="roundRect">
            <a:avLst/>
          </a:prstGeom>
          <a:solidFill>
            <a:srgbClr val="F8FAFC"/>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645920"/>
            <a:ext cx="3474720" cy="502920"/>
          </a:xfrm>
          <a:prstGeom prst="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l">
              <a:defRPr sz="1300" b="1">
                <a:solidFill>
                  <a:srgbClr val="FFFFFF"/>
                </a:solidFill>
              </a:defRPr>
            </a:pPr>
            <a:r>
              <a:t>Zoom In</a:t>
            </a:r>
          </a:p>
        </p:txBody>
      </p:sp>
      <p:sp>
        <p:nvSpPr>
          <p:cNvPr id="7" name="TextBox 6"/>
          <p:cNvSpPr txBox="1"/>
          <p:nvPr/>
        </p:nvSpPr>
        <p:spPr>
          <a:xfrm>
            <a:off x="731520" y="2240280"/>
            <a:ext cx="3108960" cy="1325880"/>
          </a:xfrm>
          <a:prstGeom prst="rect">
            <a:avLst/>
          </a:prstGeom>
          <a:noFill/>
        </p:spPr>
        <p:txBody>
          <a:bodyPr wrap="square">
            <a:spAutoFit/>
          </a:bodyPr>
          <a:lstStyle/>
          <a:p>
            <a:pPr>
              <a:spcAft>
                <a:spcPts val="600"/>
              </a:spcAft>
              <a:defRPr sz="1100">
                <a:solidFill>
                  <a:srgbClr val="0F172A"/>
                </a:solidFill>
              </a:defRPr>
            </a:pPr>
            <a:r>
              <a:t>LOOK · ZOOM · REVISE</a:t>
            </a:r>
          </a:p>
          <a:p>
            <a:pPr>
              <a:spcAft>
                <a:spcPts val="600"/>
              </a:spcAft>
              <a:defRPr sz="1100">
                <a:solidFill>
                  <a:srgbClr val="0F172A"/>
                </a:solidFill>
              </a:defRPr>
            </a:pPr>
          </a:p>
          <a:p>
            <a:pPr>
              <a:spcAft>
                <a:spcPts val="600"/>
              </a:spcAft>
              <a:defRPr sz="1100">
                <a:solidFill>
                  <a:srgbClr val="0F172A"/>
                </a:solidFill>
              </a:defRPr>
            </a:pPr>
            <a:r>
              <a:t>Examine macroscopic acid reaction, zoom into atomic lattice, then valence electron exchange. (Lesson 1)</a:t>
            </a:r>
          </a:p>
        </p:txBody>
      </p:sp>
      <p:sp>
        <p:nvSpPr>
          <p:cNvPr id="8" name="Rounded Rectangle 7"/>
          <p:cNvSpPr/>
          <p:nvPr/>
        </p:nvSpPr>
        <p:spPr>
          <a:xfrm>
            <a:off x="4297679" y="1645920"/>
            <a:ext cx="3474720" cy="2011680"/>
          </a:xfrm>
          <a:prstGeom prst="roundRect">
            <a:avLst/>
          </a:prstGeom>
          <a:solidFill>
            <a:srgbClr val="F8FAFC"/>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297679" y="1645920"/>
            <a:ext cx="3474720" cy="502920"/>
          </a:xfrm>
          <a:prstGeom prst="rect">
            <a:avLst/>
          </a:prstGeom>
          <a:solidFill>
            <a:srgbClr val="0D9488"/>
          </a:solidFill>
          <a:ln>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l">
              <a:defRPr sz="1300" b="1">
                <a:solidFill>
                  <a:srgbClr val="FFFFFF"/>
                </a:solidFill>
              </a:defRPr>
            </a:pPr>
            <a:r>
              <a:t>Claim – Support – Question</a:t>
            </a:r>
          </a:p>
        </p:txBody>
      </p:sp>
      <p:sp>
        <p:nvSpPr>
          <p:cNvPr id="10" name="TextBox 9"/>
          <p:cNvSpPr txBox="1"/>
          <p:nvPr/>
        </p:nvSpPr>
        <p:spPr>
          <a:xfrm>
            <a:off x="4480559" y="2240280"/>
            <a:ext cx="3108960" cy="1325880"/>
          </a:xfrm>
          <a:prstGeom prst="rect">
            <a:avLst/>
          </a:prstGeom>
          <a:noFill/>
        </p:spPr>
        <p:txBody>
          <a:bodyPr wrap="square">
            <a:spAutoFit/>
          </a:bodyPr>
          <a:lstStyle/>
          <a:p>
            <a:pPr>
              <a:spcAft>
                <a:spcPts val="600"/>
              </a:spcAft>
              <a:defRPr sz="1100">
                <a:solidFill>
                  <a:srgbClr val="0F172A"/>
                </a:solidFill>
              </a:defRPr>
            </a:pPr>
            <a:r>
              <a:t>CLAIM · EVIDENCE · REASONING</a:t>
            </a:r>
          </a:p>
          <a:p>
            <a:pPr>
              <a:spcAft>
                <a:spcPts val="600"/>
              </a:spcAft>
              <a:defRPr sz="1100">
                <a:solidFill>
                  <a:srgbClr val="0F172A"/>
                </a:solidFill>
              </a:defRPr>
            </a:pPr>
          </a:p>
          <a:p>
            <a:pPr>
              <a:spcAft>
                <a:spcPts val="600"/>
              </a:spcAft>
              <a:defRPr sz="1100">
                <a:solidFill>
                  <a:srgbClr val="0F172A"/>
                </a:solidFill>
              </a:defRPr>
            </a:pPr>
            <a:r>
              <a:t>Test claims about acid strength vs concentration using pH evidence. (Lesson 6)</a:t>
            </a:r>
          </a:p>
        </p:txBody>
      </p:sp>
      <p:sp>
        <p:nvSpPr>
          <p:cNvPr id="11" name="Rounded Rectangle 10"/>
          <p:cNvSpPr/>
          <p:nvPr/>
        </p:nvSpPr>
        <p:spPr>
          <a:xfrm>
            <a:off x="8046719" y="1645920"/>
            <a:ext cx="3474720" cy="2011680"/>
          </a:xfrm>
          <a:prstGeom prst="roundRect">
            <a:avLst/>
          </a:prstGeom>
          <a:solidFill>
            <a:srgbClr val="F8FAFC"/>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046719" y="1645920"/>
            <a:ext cx="3474720" cy="502920"/>
          </a:xfrm>
          <a:prstGeom prst="rect">
            <a:avLst/>
          </a:prstGeom>
          <a:solidFill>
            <a:srgbClr val="8B5CF6"/>
          </a:solidFill>
          <a:ln>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l">
              <a:defRPr sz="1300" b="1">
                <a:solidFill>
                  <a:srgbClr val="FFFFFF"/>
                </a:solidFill>
              </a:defRPr>
            </a:pPr>
            <a:r>
              <a:t>Generate – Sort – Connect</a:t>
            </a:r>
          </a:p>
        </p:txBody>
      </p:sp>
      <p:sp>
        <p:nvSpPr>
          <p:cNvPr id="13" name="TextBox 12"/>
          <p:cNvSpPr txBox="1"/>
          <p:nvPr/>
        </p:nvSpPr>
        <p:spPr>
          <a:xfrm>
            <a:off x="8229599" y="2240280"/>
            <a:ext cx="3108960" cy="1325880"/>
          </a:xfrm>
          <a:prstGeom prst="rect">
            <a:avLst/>
          </a:prstGeom>
          <a:noFill/>
        </p:spPr>
        <p:txBody>
          <a:bodyPr wrap="square">
            <a:spAutoFit/>
          </a:bodyPr>
          <a:lstStyle/>
          <a:p>
            <a:pPr>
              <a:spcAft>
                <a:spcPts val="600"/>
              </a:spcAft>
              <a:defRPr sz="1100">
                <a:solidFill>
                  <a:srgbClr val="0F172A"/>
                </a:solidFill>
              </a:defRPr>
            </a:pPr>
            <a:r>
              <a:t>CONCEPT MAPPING</a:t>
            </a:r>
          </a:p>
          <a:p>
            <a:pPr>
              <a:spcAft>
                <a:spcPts val="600"/>
              </a:spcAft>
              <a:defRPr sz="1100">
                <a:solidFill>
                  <a:srgbClr val="0F172A"/>
                </a:solidFill>
              </a:defRPr>
            </a:pPr>
          </a:p>
          <a:p>
            <a:pPr>
              <a:spcAft>
                <a:spcPts val="600"/>
              </a:spcAft>
              <a:defRPr sz="1100">
                <a:solidFill>
                  <a:srgbClr val="0F172A"/>
                </a:solidFill>
              </a:defRPr>
            </a:pPr>
            <a:r>
              <a:t>Map acid reactions, products, energy changes, and ionic models into a unified web. (Lesson 5 &amp; 10)</a:t>
            </a:r>
          </a:p>
        </p:txBody>
      </p:sp>
      <p:sp>
        <p:nvSpPr>
          <p:cNvPr id="14" name="Rounded Rectangle 13"/>
          <p:cNvSpPr/>
          <p:nvPr/>
        </p:nvSpPr>
        <p:spPr>
          <a:xfrm>
            <a:off x="548640" y="3931920"/>
            <a:ext cx="3474720" cy="2011680"/>
          </a:xfrm>
          <a:prstGeom prst="roundRect">
            <a:avLst/>
          </a:prstGeom>
          <a:solidFill>
            <a:srgbClr val="F8FAFC"/>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3931920"/>
            <a:ext cx="3474720" cy="502920"/>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l">
              <a:defRPr sz="1300" b="1">
                <a:solidFill>
                  <a:srgbClr val="FFFFFF"/>
                </a:solidFill>
              </a:defRPr>
            </a:pPr>
            <a:r>
              <a:t>Same &amp; Different</a:t>
            </a:r>
          </a:p>
        </p:txBody>
      </p:sp>
      <p:sp>
        <p:nvSpPr>
          <p:cNvPr id="16" name="TextBox 15"/>
          <p:cNvSpPr txBox="1"/>
          <p:nvPr/>
        </p:nvSpPr>
        <p:spPr>
          <a:xfrm>
            <a:off x="731520" y="4526280"/>
            <a:ext cx="3108960" cy="1325880"/>
          </a:xfrm>
          <a:prstGeom prst="rect">
            <a:avLst/>
          </a:prstGeom>
          <a:noFill/>
        </p:spPr>
        <p:txBody>
          <a:bodyPr wrap="square">
            <a:spAutoFit/>
          </a:bodyPr>
          <a:lstStyle/>
          <a:p>
            <a:pPr>
              <a:spcAft>
                <a:spcPts val="600"/>
              </a:spcAft>
              <a:defRPr sz="1100">
                <a:solidFill>
                  <a:srgbClr val="0F172A"/>
                </a:solidFill>
              </a:defRPr>
            </a:pPr>
            <a:r>
              <a:t>COMPARE · CONTRAST · ABSTRACT</a:t>
            </a:r>
          </a:p>
          <a:p>
            <a:pPr>
              <a:spcAft>
                <a:spcPts val="600"/>
              </a:spcAft>
              <a:defRPr sz="1100">
                <a:solidFill>
                  <a:srgbClr val="0F172A"/>
                </a:solidFill>
              </a:defRPr>
            </a:pPr>
          </a:p>
          <a:p>
            <a:pPr>
              <a:spcAft>
                <a:spcPts val="600"/>
              </a:spcAft>
              <a:defRPr sz="1100">
                <a:solidFill>
                  <a:srgbClr val="0F172A"/>
                </a:solidFill>
              </a:defRPr>
            </a:pPr>
            <a:r>
              <a:t>Compare neutralization enthalpy across strong acids (HCl vs HNO3 vs H2SO4). (Lesson 12)</a:t>
            </a:r>
          </a:p>
        </p:txBody>
      </p:sp>
      <p:sp>
        <p:nvSpPr>
          <p:cNvPr id="17" name="Rounded Rectangle 16"/>
          <p:cNvSpPr/>
          <p:nvPr/>
        </p:nvSpPr>
        <p:spPr>
          <a:xfrm>
            <a:off x="4297679" y="3931920"/>
            <a:ext cx="3474720" cy="2011680"/>
          </a:xfrm>
          <a:prstGeom prst="roundRect">
            <a:avLst/>
          </a:prstGeom>
          <a:solidFill>
            <a:srgbClr val="F8FAFC"/>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297679" y="3931920"/>
            <a:ext cx="3474720" cy="502920"/>
          </a:xfrm>
          <a:prstGeom prst="rect">
            <a:avLst/>
          </a:prstGeom>
          <a:solidFill>
            <a:srgbClr val="EF4444"/>
          </a:solidFill>
          <a:ln>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l">
              <a:defRPr sz="1300" b="1">
                <a:solidFill>
                  <a:srgbClr val="FFFFFF"/>
                </a:solidFill>
              </a:defRPr>
            </a:pPr>
            <a:r>
              <a:t>Red Light, Yellow Light, Green Light</a:t>
            </a:r>
          </a:p>
        </p:txBody>
      </p:sp>
      <p:sp>
        <p:nvSpPr>
          <p:cNvPr id="19" name="TextBox 18"/>
          <p:cNvSpPr txBox="1"/>
          <p:nvPr/>
        </p:nvSpPr>
        <p:spPr>
          <a:xfrm>
            <a:off x="4480559" y="4526280"/>
            <a:ext cx="3108960" cy="1325880"/>
          </a:xfrm>
          <a:prstGeom prst="rect">
            <a:avLst/>
          </a:prstGeom>
          <a:noFill/>
        </p:spPr>
        <p:txBody>
          <a:bodyPr wrap="square">
            <a:spAutoFit/>
          </a:bodyPr>
          <a:lstStyle/>
          <a:p>
            <a:pPr>
              <a:spcAft>
                <a:spcPts val="600"/>
              </a:spcAft>
              <a:defRPr sz="1100">
                <a:solidFill>
                  <a:srgbClr val="0F172A"/>
                </a:solidFill>
              </a:defRPr>
            </a:pPr>
            <a:r>
              <a:t>EVALUATE · UNCERTAINTIES</a:t>
            </a:r>
          </a:p>
          <a:p>
            <a:pPr>
              <a:spcAft>
                <a:spcPts val="600"/>
              </a:spcAft>
              <a:defRPr sz="1100">
                <a:solidFill>
                  <a:srgbClr val="0F172A"/>
                </a:solidFill>
              </a:defRPr>
            </a:pPr>
          </a:p>
          <a:p>
            <a:pPr>
              <a:spcAft>
                <a:spcPts val="600"/>
              </a:spcAft>
              <a:defRPr sz="1100">
                <a:solidFill>
                  <a:srgbClr val="0F172A"/>
                </a:solidFill>
              </a:defRPr>
            </a:pPr>
            <a:r>
              <a:t>Identify systematic heat losses (Red), assumptions (Yellow), and improvements (Green). (Lesson 15)</a:t>
            </a:r>
          </a:p>
        </p:txBody>
      </p:sp>
      <p:sp>
        <p:nvSpPr>
          <p:cNvPr id="20" name="Rounded Rectangle 19"/>
          <p:cNvSpPr/>
          <p:nvPr/>
        </p:nvSpPr>
        <p:spPr>
          <a:xfrm>
            <a:off x="8046719" y="3931920"/>
            <a:ext cx="3474720" cy="2011680"/>
          </a:xfrm>
          <a:prstGeom prst="roundRect">
            <a:avLst/>
          </a:prstGeom>
          <a:solidFill>
            <a:srgbClr val="F8FAFC"/>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46719" y="3931920"/>
            <a:ext cx="3474720" cy="502920"/>
          </a:xfrm>
          <a:prstGeom prst="rect">
            <a:avLst/>
          </a:prstGeom>
          <a:solidFill>
            <a:srgbClr val="10B981"/>
          </a:solidFill>
          <a:ln>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l">
              <a:defRPr sz="1300" b="1">
                <a:solidFill>
                  <a:srgbClr val="FFFFFF"/>
                </a:solidFill>
              </a:defRPr>
            </a:pPr>
            <a:r>
              <a:t>Explanation Game</a:t>
            </a:r>
          </a:p>
        </p:txBody>
      </p:sp>
      <p:sp>
        <p:nvSpPr>
          <p:cNvPr id="22" name="TextBox 21"/>
          <p:cNvSpPr txBox="1"/>
          <p:nvPr/>
        </p:nvSpPr>
        <p:spPr>
          <a:xfrm>
            <a:off x="8229599" y="4526280"/>
            <a:ext cx="3108960" cy="1325880"/>
          </a:xfrm>
          <a:prstGeom prst="rect">
            <a:avLst/>
          </a:prstGeom>
          <a:noFill/>
        </p:spPr>
        <p:txBody>
          <a:bodyPr wrap="square">
            <a:spAutoFit/>
          </a:bodyPr>
          <a:lstStyle/>
          <a:p>
            <a:pPr>
              <a:spcAft>
                <a:spcPts val="600"/>
              </a:spcAft>
              <a:defRPr sz="1100">
                <a:solidFill>
                  <a:srgbClr val="0F172A"/>
                </a:solidFill>
              </a:defRPr>
            </a:pPr>
            <a:r>
              <a:t>NAME IT · EXPLAIN IT · GIVE REASONS</a:t>
            </a:r>
          </a:p>
          <a:p>
            <a:pPr>
              <a:spcAft>
                <a:spcPts val="600"/>
              </a:spcAft>
              <a:defRPr sz="1100">
                <a:solidFill>
                  <a:srgbClr val="0F172A"/>
                </a:solidFill>
              </a:defRPr>
            </a:pPr>
          </a:p>
          <a:p>
            <a:pPr>
              <a:spcAft>
                <a:spcPts val="600"/>
              </a:spcAft>
              <a:defRPr sz="1100">
                <a:solidFill>
                  <a:srgbClr val="0F172A"/>
                </a:solidFill>
              </a:defRPr>
            </a:pPr>
            <a:r>
              <a:t>Explain why temperature rises during neutralization using bond breaking/forming. (Lesson 11)</a:t>
            </a:r>
          </a:p>
        </p:txBody>
      </p:sp>
      <p:sp>
        <p:nvSpPr>
          <p:cNvPr id="23" name="TextBox 22"/>
          <p:cNvSpPr txBox="1"/>
          <p:nvPr/>
        </p:nvSpPr>
        <p:spPr>
          <a:xfrm>
            <a:off x="548640" y="6492240"/>
            <a:ext cx="11094415" cy="274320"/>
          </a:xfrm>
          <a:prstGeom prst="rect">
            <a:avLst/>
          </a:prstGeom>
          <a:noFill/>
        </p:spPr>
        <p:txBody>
          <a:bodyPr wrap="square">
            <a:spAutoFit/>
          </a:bodyPr>
          <a:lstStyle/>
          <a:p>
            <a:pPr>
              <a:defRPr sz="900">
                <a:solidFill>
                  <a:srgbClr val="64748B"/>
                </a:solidFill>
              </a:defRPr>
            </a:pPr>
            <a:r>
              <a:t>Unit 1 · Chemical Models &amp; Energy in Reactions · Grade 10 MYP 5 Sciences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457200"/>
            <a:ext cx="2011680" cy="320040"/>
          </a:xfrm>
          <a:prstGeom prst="rect">
            <a:avLst/>
          </a:prstGeom>
          <a:solidFill>
            <a:srgbClr val="0D9488"/>
          </a:solidFill>
          <a:ln>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defRPr>
            </a:pPr>
            <a:r>
              <a:t>LEARNING EXPERIENCE</a:t>
            </a:r>
          </a:p>
        </p:txBody>
      </p:sp>
      <p:sp>
        <p:nvSpPr>
          <p:cNvPr id="3" name="TextBox 2"/>
          <p:cNvSpPr txBox="1"/>
          <p:nvPr/>
        </p:nvSpPr>
        <p:spPr>
          <a:xfrm>
            <a:off x="548640" y="868680"/>
            <a:ext cx="11094415" cy="548640"/>
          </a:xfrm>
          <a:prstGeom prst="rect">
            <a:avLst/>
          </a:prstGeom>
          <a:noFill/>
        </p:spPr>
        <p:txBody>
          <a:bodyPr wrap="square">
            <a:spAutoFit/>
          </a:bodyPr>
          <a:lstStyle/>
          <a:p>
            <a:pPr>
              <a:defRPr sz="2200" b="1">
                <a:solidFill>
                  <a:srgbClr val="0F172A"/>
                </a:solidFill>
              </a:defRPr>
            </a:pPr>
            <a:r>
              <a:t>Simulations, Datasets &amp; Virtual Labs</a:t>
            </a:r>
          </a:p>
        </p:txBody>
      </p:sp>
      <p:sp>
        <p:nvSpPr>
          <p:cNvPr id="4" name="Rounded Rectangle 3"/>
          <p:cNvSpPr/>
          <p:nvPr/>
        </p:nvSpPr>
        <p:spPr>
          <a:xfrm>
            <a:off x="548640" y="1645920"/>
            <a:ext cx="5303520" cy="4389120"/>
          </a:xfrm>
          <a:prstGeom prst="roundRect">
            <a:avLst/>
          </a:prstGeom>
          <a:solidFill>
            <a:srgbClr val="F8FAFC"/>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645920"/>
            <a:ext cx="5303520" cy="502920"/>
          </a:xfrm>
          <a:prstGeom prst="rect">
            <a:avLst/>
          </a:prstGeom>
          <a:solidFill>
            <a:srgbClr val="0D9488"/>
          </a:solidFill>
          <a:ln>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l">
              <a:defRPr sz="1300" b="1">
                <a:solidFill>
                  <a:srgbClr val="FFFFFF"/>
                </a:solidFill>
              </a:defRPr>
            </a:pPr>
            <a:r>
              <a:t>Interactive Simulations (PhET &amp; Virtual Chem)</a:t>
            </a:r>
          </a:p>
        </p:txBody>
      </p:sp>
      <p:sp>
        <p:nvSpPr>
          <p:cNvPr id="6" name="TextBox 5"/>
          <p:cNvSpPr txBox="1"/>
          <p:nvPr/>
        </p:nvSpPr>
        <p:spPr>
          <a:xfrm>
            <a:off x="731520" y="2240280"/>
            <a:ext cx="4937760" cy="3703320"/>
          </a:xfrm>
          <a:prstGeom prst="rect">
            <a:avLst/>
          </a:prstGeom>
          <a:noFill/>
        </p:spPr>
        <p:txBody>
          <a:bodyPr wrap="square">
            <a:spAutoFit/>
          </a:bodyPr>
          <a:lstStyle/>
          <a:p>
            <a:pPr>
              <a:spcAft>
                <a:spcPts val="600"/>
              </a:spcAft>
              <a:defRPr sz="1100">
                <a:solidFill>
                  <a:srgbClr val="0F172A"/>
                </a:solidFill>
              </a:defRPr>
            </a:pPr>
            <a:r>
              <a:t>🧪 PhET: Acid-Base Solutions (L6)</a:t>
            </a:r>
          </a:p>
          <a:p>
            <a:pPr>
              <a:spcAft>
                <a:spcPts val="600"/>
              </a:spcAft>
              <a:defRPr sz="1100">
                <a:solidFill>
                  <a:srgbClr val="0F172A"/>
                </a:solidFill>
              </a:defRPr>
            </a:pPr>
            <a:r>
              <a:t>  Visualize strong vs weak acids, dissociation equilibrium, and [H3O+] vs [OH-].</a:t>
            </a:r>
          </a:p>
          <a:p>
            <a:pPr>
              <a:spcAft>
                <a:spcPts val="600"/>
              </a:spcAft>
              <a:defRPr sz="1100">
                <a:solidFill>
                  <a:srgbClr val="0F172A"/>
                </a:solidFill>
              </a:defRPr>
            </a:pPr>
            <a:r>
              <a:t>  🔗 https://phet.colorado.edu/en/simulations/acid-base-solutions</a:t>
            </a:r>
          </a:p>
          <a:p>
            <a:pPr>
              <a:spcAft>
                <a:spcPts val="600"/>
              </a:spcAft>
              <a:defRPr sz="1100">
                <a:solidFill>
                  <a:srgbClr val="0F172A"/>
                </a:solidFill>
              </a:defRPr>
            </a:pPr>
          </a:p>
          <a:p>
            <a:pPr>
              <a:spcAft>
                <a:spcPts val="600"/>
              </a:spcAft>
              <a:defRPr sz="1100">
                <a:solidFill>
                  <a:srgbClr val="0F172A"/>
                </a:solidFill>
              </a:defRPr>
            </a:pPr>
            <a:r>
              <a:t>🧪 PhET: Energy Forms and Changes (L11)</a:t>
            </a:r>
          </a:p>
          <a:p>
            <a:pPr>
              <a:spcAft>
                <a:spcPts val="600"/>
              </a:spcAft>
              <a:defRPr sz="1100">
                <a:solidFill>
                  <a:srgbClr val="0F172A"/>
                </a:solidFill>
              </a:defRPr>
            </a:pPr>
            <a:r>
              <a:t>  Track kinetic and thermal energy transfers during exothermic interactions.</a:t>
            </a:r>
          </a:p>
          <a:p>
            <a:pPr>
              <a:spcAft>
                <a:spcPts val="600"/>
              </a:spcAft>
              <a:defRPr sz="1100">
                <a:solidFill>
                  <a:srgbClr val="0F172A"/>
                </a:solidFill>
              </a:defRPr>
            </a:pPr>
            <a:r>
              <a:t>  🔗 https://phet.colorado.edu/en/simulations/energy-forms-and-changes</a:t>
            </a:r>
          </a:p>
          <a:p>
            <a:pPr>
              <a:spcAft>
                <a:spcPts val="600"/>
              </a:spcAft>
              <a:defRPr sz="1100">
                <a:solidFill>
                  <a:srgbClr val="0F172A"/>
                </a:solidFill>
              </a:defRPr>
            </a:pPr>
          </a:p>
          <a:p>
            <a:pPr>
              <a:spcAft>
                <a:spcPts val="600"/>
              </a:spcAft>
              <a:defRPr sz="1100">
                <a:solidFill>
                  <a:srgbClr val="0F172A"/>
                </a:solidFill>
              </a:defRPr>
            </a:pPr>
            <a:r>
              <a:t>🧪 ChemCollective: Virtual Acid-Base Titration Lab (L7–L8)</a:t>
            </a:r>
          </a:p>
          <a:p>
            <a:pPr>
              <a:spcAft>
                <a:spcPts val="600"/>
              </a:spcAft>
              <a:defRPr sz="1100">
                <a:solidFill>
                  <a:srgbClr val="0F172A"/>
                </a:solidFill>
              </a:defRPr>
            </a:pPr>
            <a:r>
              <a:t>  Practice standardized titrations, reading burette meniscuses, and indicator endpoints.</a:t>
            </a:r>
          </a:p>
          <a:p>
            <a:pPr>
              <a:spcAft>
                <a:spcPts val="600"/>
              </a:spcAft>
              <a:defRPr sz="1100">
                <a:solidFill>
                  <a:srgbClr val="0F172A"/>
                </a:solidFill>
              </a:defRPr>
            </a:pPr>
          </a:p>
          <a:p>
            <a:pPr>
              <a:spcAft>
                <a:spcPts val="600"/>
              </a:spcAft>
              <a:defRPr sz="1100">
                <a:solidFill>
                  <a:srgbClr val="0F172A"/>
                </a:solidFill>
              </a:defRPr>
            </a:pPr>
            <a:r>
              <a:t>🧪 PhET: Reactants, Products and Leftovers (L9)</a:t>
            </a:r>
          </a:p>
          <a:p>
            <a:pPr>
              <a:spcAft>
                <a:spcPts val="600"/>
              </a:spcAft>
              <a:defRPr sz="1100">
                <a:solidFill>
                  <a:srgbClr val="0F172A"/>
                </a:solidFill>
              </a:defRPr>
            </a:pPr>
            <a:r>
              <a:t>  Model limiting reactants and mass conservation during gas evolution.</a:t>
            </a:r>
          </a:p>
        </p:txBody>
      </p:sp>
      <p:sp>
        <p:nvSpPr>
          <p:cNvPr id="7" name="Rounded Rectangle 6"/>
          <p:cNvSpPr/>
          <p:nvPr/>
        </p:nvSpPr>
        <p:spPr>
          <a:xfrm>
            <a:off x="6217920" y="1645920"/>
            <a:ext cx="5303520" cy="4389120"/>
          </a:xfrm>
          <a:prstGeom prst="roundRect">
            <a:avLst/>
          </a:prstGeom>
          <a:solidFill>
            <a:srgbClr val="F8FAFC"/>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217920" y="1645920"/>
            <a:ext cx="5303520" cy="502920"/>
          </a:xfrm>
          <a:prstGeom prst="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l">
              <a:defRPr sz="1300" b="1">
                <a:solidFill>
                  <a:srgbClr val="FFFFFF"/>
                </a:solidFill>
              </a:defRPr>
            </a:pPr>
            <a:r>
              <a:t>Video Demonstrations &amp; Pre-Lab Briefings</a:t>
            </a:r>
          </a:p>
        </p:txBody>
      </p:sp>
      <p:sp>
        <p:nvSpPr>
          <p:cNvPr id="9" name="TextBox 8"/>
          <p:cNvSpPr txBox="1"/>
          <p:nvPr/>
        </p:nvSpPr>
        <p:spPr>
          <a:xfrm>
            <a:off x="6400800" y="2240280"/>
            <a:ext cx="4937760" cy="3703320"/>
          </a:xfrm>
          <a:prstGeom prst="rect">
            <a:avLst/>
          </a:prstGeom>
          <a:noFill/>
        </p:spPr>
        <p:txBody>
          <a:bodyPr wrap="square">
            <a:spAutoFit/>
          </a:bodyPr>
          <a:lstStyle/>
          <a:p>
            <a:pPr>
              <a:spcAft>
                <a:spcPts val="600"/>
              </a:spcAft>
              <a:defRPr sz="1100">
                <a:solidFill>
                  <a:srgbClr val="0F172A"/>
                </a:solidFill>
              </a:defRPr>
            </a:pPr>
            <a:r>
              <a:t>🎥 Video: Energetics of Neutralization (L11)</a:t>
            </a:r>
          </a:p>
          <a:p>
            <a:pPr>
              <a:spcAft>
                <a:spcPts val="600"/>
              </a:spcAft>
              <a:defRPr sz="1100">
                <a:solidFill>
                  <a:srgbClr val="0F172A"/>
                </a:solidFill>
              </a:defRPr>
            </a:pPr>
            <a:r>
              <a:t>  Calorimetry in a coffee-cup calorimeter: setup, temperature probes, heat capacities.</a:t>
            </a:r>
          </a:p>
          <a:p>
            <a:pPr>
              <a:spcAft>
                <a:spcPts val="600"/>
              </a:spcAft>
              <a:defRPr sz="1100">
                <a:solidFill>
                  <a:srgbClr val="0F172A"/>
                </a:solidFill>
              </a:defRPr>
            </a:pPr>
          </a:p>
          <a:p>
            <a:pPr>
              <a:spcAft>
                <a:spcPts val="600"/>
              </a:spcAft>
              <a:defRPr sz="1100">
                <a:solidFill>
                  <a:srgbClr val="0F172A"/>
                </a:solidFill>
              </a:defRPr>
            </a:pPr>
            <a:r>
              <a:t>🎥 Video: Single Displacement &amp; The Activity Series (L2)</a:t>
            </a:r>
          </a:p>
          <a:p>
            <a:pPr>
              <a:spcAft>
                <a:spcPts val="600"/>
              </a:spcAft>
              <a:defRPr sz="1100">
                <a:solidFill>
                  <a:srgbClr val="0F172A"/>
                </a:solidFill>
              </a:defRPr>
            </a:pPr>
            <a:r>
              <a:t>  Real-time electron transfer between zinc/magnesium and copper(II) sulfate.</a:t>
            </a:r>
          </a:p>
          <a:p>
            <a:pPr>
              <a:spcAft>
                <a:spcPts val="600"/>
              </a:spcAft>
              <a:defRPr sz="1100">
                <a:solidFill>
                  <a:srgbClr val="0F172A"/>
                </a:solidFill>
              </a:defRPr>
            </a:pPr>
          </a:p>
          <a:p>
            <a:pPr>
              <a:spcAft>
                <a:spcPts val="600"/>
              </a:spcAft>
              <a:defRPr sz="1100">
                <a:solidFill>
                  <a:srgbClr val="0F172A"/>
                </a:solidFill>
              </a:defRPr>
            </a:pPr>
            <a:r>
              <a:t>🎥 Video: Titration Technique &amp; Avoiding Systematic Error (L7)</a:t>
            </a:r>
          </a:p>
          <a:p>
            <a:pPr>
              <a:spcAft>
                <a:spcPts val="600"/>
              </a:spcAft>
              <a:defRPr sz="1100">
                <a:solidFill>
                  <a:srgbClr val="0F172A"/>
                </a:solidFill>
              </a:defRPr>
            </a:pPr>
            <a:r>
              <a:t>  Eliminating air bubbles in burette tips, rinsing glassware, parallax error.</a:t>
            </a:r>
          </a:p>
          <a:p>
            <a:pPr>
              <a:spcAft>
                <a:spcPts val="600"/>
              </a:spcAft>
              <a:defRPr sz="1100">
                <a:solidFill>
                  <a:srgbClr val="0F172A"/>
                </a:solidFill>
              </a:defRPr>
            </a:pPr>
          </a:p>
          <a:p>
            <a:pPr>
              <a:spcAft>
                <a:spcPts val="600"/>
              </a:spcAft>
              <a:defRPr sz="1100">
                <a:solidFill>
                  <a:srgbClr val="0F172A"/>
                </a:solidFill>
              </a:defRPr>
            </a:pPr>
            <a:r>
              <a:t>🎥 Video: Gas Evolution Stoichiometry (L9)</a:t>
            </a:r>
          </a:p>
          <a:p>
            <a:pPr>
              <a:spcAft>
                <a:spcPts val="600"/>
              </a:spcAft>
              <a:defRPr sz="1100">
                <a:solidFill>
                  <a:srgbClr val="0F172A"/>
                </a:solidFill>
              </a:defRPr>
            </a:pPr>
            <a:r>
              <a:t>  Measuring mass loss of CO2 when calcium carbonate reacts with excess HCl.</a:t>
            </a:r>
          </a:p>
        </p:txBody>
      </p:sp>
      <p:sp>
        <p:nvSpPr>
          <p:cNvPr id="10" name="TextBox 9"/>
          <p:cNvSpPr txBox="1"/>
          <p:nvPr/>
        </p:nvSpPr>
        <p:spPr>
          <a:xfrm>
            <a:off x="548640" y="6492240"/>
            <a:ext cx="11094415" cy="274320"/>
          </a:xfrm>
          <a:prstGeom prst="rect">
            <a:avLst/>
          </a:prstGeom>
          <a:noFill/>
        </p:spPr>
        <p:txBody>
          <a:bodyPr wrap="square">
            <a:spAutoFit/>
          </a:bodyPr>
          <a:lstStyle/>
          <a:p>
            <a:pPr>
              <a:defRPr sz="900">
                <a:solidFill>
                  <a:srgbClr val="64748B"/>
                </a:solidFill>
              </a:defRPr>
            </a:pPr>
            <a:r>
              <a:t>Unit 1 · Chemical Models &amp; Energy in Reactions · Grade 10 MYP 5 Sciences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457200"/>
            <a:ext cx="2011680" cy="320040"/>
          </a:xfrm>
          <a:prstGeom prst="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defRPr>
            </a:pPr>
            <a:r>
              <a:t>CRITERION B FOCUS</a:t>
            </a:r>
          </a:p>
        </p:txBody>
      </p:sp>
      <p:sp>
        <p:nvSpPr>
          <p:cNvPr id="3" name="TextBox 2"/>
          <p:cNvSpPr txBox="1"/>
          <p:nvPr/>
        </p:nvSpPr>
        <p:spPr>
          <a:xfrm>
            <a:off x="548640" y="868680"/>
            <a:ext cx="11094415" cy="548640"/>
          </a:xfrm>
          <a:prstGeom prst="rect">
            <a:avLst/>
          </a:prstGeom>
          <a:noFill/>
        </p:spPr>
        <p:txBody>
          <a:bodyPr wrap="square">
            <a:spAutoFit/>
          </a:bodyPr>
          <a:lstStyle/>
          <a:p>
            <a:pPr>
              <a:defRPr sz="2200" b="1">
                <a:solidFill>
                  <a:srgbClr val="0F172A"/>
                </a:solidFill>
              </a:defRPr>
            </a:pPr>
            <a:r>
              <a:t>Formulating Variables &amp; Hypotheses (MYP 5 Level)</a:t>
            </a:r>
          </a:p>
        </p:txBody>
      </p:sp>
      <p:sp>
        <p:nvSpPr>
          <p:cNvPr id="4" name="Rounded Rectangle 3"/>
          <p:cNvSpPr/>
          <p:nvPr/>
        </p:nvSpPr>
        <p:spPr>
          <a:xfrm>
            <a:off x="548640" y="1645920"/>
            <a:ext cx="3474720" cy="3657600"/>
          </a:xfrm>
          <a:prstGeom prst="roundRect">
            <a:avLst/>
          </a:prstGeom>
          <a:solidFill>
            <a:srgbClr val="F8FAFC"/>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645920"/>
            <a:ext cx="3474720" cy="502920"/>
          </a:xfrm>
          <a:prstGeom prst="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l">
              <a:defRPr sz="1300" b="1">
                <a:solidFill>
                  <a:srgbClr val="FFFFFF"/>
                </a:solidFill>
              </a:defRPr>
            </a:pPr>
            <a:r>
              <a:t>Independent Variable (IV)</a:t>
            </a:r>
          </a:p>
        </p:txBody>
      </p:sp>
      <p:sp>
        <p:nvSpPr>
          <p:cNvPr id="6" name="TextBox 5"/>
          <p:cNvSpPr txBox="1"/>
          <p:nvPr/>
        </p:nvSpPr>
        <p:spPr>
          <a:xfrm>
            <a:off x="731520" y="2240280"/>
            <a:ext cx="3108960" cy="2971800"/>
          </a:xfrm>
          <a:prstGeom prst="rect">
            <a:avLst/>
          </a:prstGeom>
          <a:noFill/>
        </p:spPr>
        <p:txBody>
          <a:bodyPr wrap="square">
            <a:spAutoFit/>
          </a:bodyPr>
          <a:lstStyle/>
          <a:p>
            <a:pPr>
              <a:spcAft>
                <a:spcPts val="600"/>
              </a:spcAft>
              <a:defRPr sz="1100">
                <a:solidFill>
                  <a:srgbClr val="0F172A"/>
                </a:solidFill>
              </a:defRPr>
            </a:pPr>
            <a:r>
              <a:t>What you deliberately manipulate:</a:t>
            </a:r>
          </a:p>
          <a:p>
            <a:pPr>
              <a:spcAft>
                <a:spcPts val="600"/>
              </a:spcAft>
              <a:defRPr sz="1100">
                <a:solidFill>
                  <a:srgbClr val="0F172A"/>
                </a:solidFill>
              </a:defRPr>
            </a:pPr>
          </a:p>
          <a:p>
            <a:pPr>
              <a:spcAft>
                <a:spcPts val="600"/>
              </a:spcAft>
              <a:defRPr sz="1100">
                <a:solidFill>
                  <a:srgbClr val="0F172A"/>
                </a:solidFill>
              </a:defRPr>
            </a:pPr>
            <a:r>
              <a:t>• Must state a continuous quantitative range (at least 5 distinct values) or clear qualitative states.</a:t>
            </a:r>
          </a:p>
          <a:p>
            <a:pPr>
              <a:spcAft>
                <a:spcPts val="600"/>
              </a:spcAft>
              <a:defRPr sz="1100">
                <a:solidFill>
                  <a:srgbClr val="0F172A"/>
                </a:solidFill>
              </a:defRPr>
            </a:pPr>
            <a:r>
              <a:t>• Example: Concentration of HCl(aq):</a:t>
            </a:r>
          </a:p>
          <a:p>
            <a:pPr>
              <a:spcAft>
                <a:spcPts val="600"/>
              </a:spcAft>
              <a:defRPr sz="1100">
                <a:solidFill>
                  <a:srgbClr val="0F172A"/>
                </a:solidFill>
              </a:defRPr>
            </a:pPr>
            <a:r>
              <a:t>  [0.2, 0.4, 0.6, 0.8, 1.0 mol/dm³].</a:t>
            </a:r>
          </a:p>
          <a:p>
            <a:pPr>
              <a:spcAft>
                <a:spcPts val="600"/>
              </a:spcAft>
              <a:defRPr sz="1100">
                <a:solidFill>
                  <a:srgbClr val="0F172A"/>
                </a:solidFill>
              </a:defRPr>
            </a:pPr>
            <a:r>
              <a:t>• State exactly HOW it is manipulated (serial dilution using volumetric flasks).</a:t>
            </a:r>
          </a:p>
        </p:txBody>
      </p:sp>
      <p:sp>
        <p:nvSpPr>
          <p:cNvPr id="7" name="Rounded Rectangle 6"/>
          <p:cNvSpPr/>
          <p:nvPr/>
        </p:nvSpPr>
        <p:spPr>
          <a:xfrm>
            <a:off x="4297680" y="1645920"/>
            <a:ext cx="3474720" cy="3657600"/>
          </a:xfrm>
          <a:prstGeom prst="roundRect">
            <a:avLst/>
          </a:prstGeom>
          <a:solidFill>
            <a:srgbClr val="F8FAFC"/>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297680" y="1645920"/>
            <a:ext cx="3474720" cy="502920"/>
          </a:xfrm>
          <a:prstGeom prst="rect">
            <a:avLst/>
          </a:prstGeom>
          <a:solidFill>
            <a:srgbClr val="0D9488"/>
          </a:solidFill>
          <a:ln>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l">
              <a:defRPr sz="1300" b="1">
                <a:solidFill>
                  <a:srgbClr val="FFFFFF"/>
                </a:solidFill>
              </a:defRPr>
            </a:pPr>
            <a:r>
              <a:t>Dependent Variable (DV)</a:t>
            </a:r>
          </a:p>
        </p:txBody>
      </p:sp>
      <p:sp>
        <p:nvSpPr>
          <p:cNvPr id="9" name="TextBox 8"/>
          <p:cNvSpPr txBox="1"/>
          <p:nvPr/>
        </p:nvSpPr>
        <p:spPr>
          <a:xfrm>
            <a:off x="4480560" y="2240280"/>
            <a:ext cx="3108960" cy="2971800"/>
          </a:xfrm>
          <a:prstGeom prst="rect">
            <a:avLst/>
          </a:prstGeom>
          <a:noFill/>
        </p:spPr>
        <p:txBody>
          <a:bodyPr wrap="square">
            <a:spAutoFit/>
          </a:bodyPr>
          <a:lstStyle/>
          <a:p>
            <a:pPr>
              <a:spcAft>
                <a:spcPts val="600"/>
              </a:spcAft>
              <a:defRPr sz="1100">
                <a:solidFill>
                  <a:srgbClr val="0F172A"/>
                </a:solidFill>
              </a:defRPr>
            </a:pPr>
            <a:r>
              <a:t>What you quantitatively measure:</a:t>
            </a:r>
          </a:p>
          <a:p>
            <a:pPr>
              <a:spcAft>
                <a:spcPts val="600"/>
              </a:spcAft>
              <a:defRPr sz="1100">
                <a:solidFill>
                  <a:srgbClr val="0F172A"/>
                </a:solidFill>
              </a:defRPr>
            </a:pPr>
          </a:p>
          <a:p>
            <a:pPr>
              <a:spcAft>
                <a:spcPts val="600"/>
              </a:spcAft>
              <a:defRPr sz="1100">
                <a:solidFill>
                  <a:srgbClr val="0F172A"/>
                </a:solidFill>
              </a:defRPr>
            </a:pPr>
            <a:r>
              <a:t>• Must specify the exact physical parameter, instrument, and precision/resolution.</a:t>
            </a:r>
          </a:p>
          <a:p>
            <a:pPr>
              <a:spcAft>
                <a:spcPts val="600"/>
              </a:spcAft>
              <a:defRPr sz="1100">
                <a:solidFill>
                  <a:srgbClr val="0F172A"/>
                </a:solidFill>
              </a:defRPr>
            </a:pPr>
            <a:r>
              <a:t>• Example: Temperature change (ΔT = T_max - T_initial):</a:t>
            </a:r>
          </a:p>
          <a:p>
            <a:pPr>
              <a:spcAft>
                <a:spcPts val="600"/>
              </a:spcAft>
              <a:defRPr sz="1100">
                <a:solidFill>
                  <a:srgbClr val="0F172A"/>
                </a:solidFill>
              </a:defRPr>
            </a:pPr>
            <a:r>
              <a:t>  Measured using a digital temperature probe (±0.05 °C) logged at 1 Hz.</a:t>
            </a:r>
          </a:p>
          <a:p>
            <a:pPr>
              <a:spcAft>
                <a:spcPts val="600"/>
              </a:spcAft>
              <a:defRPr sz="1100">
                <a:solidFill>
                  <a:srgbClr val="0F172A"/>
                </a:solidFill>
              </a:defRPr>
            </a:pPr>
            <a:r>
              <a:t>• Total enthalpy calculated via q = mcΔT.</a:t>
            </a:r>
          </a:p>
        </p:txBody>
      </p:sp>
      <p:sp>
        <p:nvSpPr>
          <p:cNvPr id="10" name="Rounded Rectangle 9"/>
          <p:cNvSpPr/>
          <p:nvPr/>
        </p:nvSpPr>
        <p:spPr>
          <a:xfrm>
            <a:off x="8046720" y="1645920"/>
            <a:ext cx="3474720" cy="3657600"/>
          </a:xfrm>
          <a:prstGeom prst="roundRect">
            <a:avLst/>
          </a:prstGeom>
          <a:solidFill>
            <a:srgbClr val="F8FAFC"/>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046720" y="1645920"/>
            <a:ext cx="3474720" cy="502920"/>
          </a:xfrm>
          <a:prstGeom prst="rect">
            <a:avLst/>
          </a:prstGeom>
          <a:solidFill>
            <a:srgbClr val="8B5CF6"/>
          </a:solidFill>
          <a:ln>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l">
              <a:defRPr sz="1300" b="1">
                <a:solidFill>
                  <a:srgbClr val="FFFFFF"/>
                </a:solidFill>
              </a:defRPr>
            </a:pPr>
            <a:r>
              <a:t>Controlled Variables (CV)</a:t>
            </a:r>
          </a:p>
        </p:txBody>
      </p:sp>
      <p:sp>
        <p:nvSpPr>
          <p:cNvPr id="12" name="TextBox 11"/>
          <p:cNvSpPr txBox="1"/>
          <p:nvPr/>
        </p:nvSpPr>
        <p:spPr>
          <a:xfrm>
            <a:off x="8229600" y="2240280"/>
            <a:ext cx="3108960" cy="2971800"/>
          </a:xfrm>
          <a:prstGeom prst="rect">
            <a:avLst/>
          </a:prstGeom>
          <a:noFill/>
        </p:spPr>
        <p:txBody>
          <a:bodyPr wrap="square">
            <a:spAutoFit/>
          </a:bodyPr>
          <a:lstStyle/>
          <a:p>
            <a:pPr>
              <a:spcAft>
                <a:spcPts val="600"/>
              </a:spcAft>
              <a:defRPr sz="1100">
                <a:solidFill>
                  <a:srgbClr val="0F172A"/>
                </a:solidFill>
              </a:defRPr>
            </a:pPr>
            <a:r>
              <a:t>What must be held strictly constant:</a:t>
            </a:r>
          </a:p>
          <a:p>
            <a:pPr>
              <a:spcAft>
                <a:spcPts val="600"/>
              </a:spcAft>
              <a:defRPr sz="1100">
                <a:solidFill>
                  <a:srgbClr val="0F172A"/>
                </a:solidFill>
              </a:defRPr>
            </a:pPr>
          </a:p>
          <a:p>
            <a:pPr>
              <a:spcAft>
                <a:spcPts val="600"/>
              </a:spcAft>
              <a:defRPr sz="1100">
                <a:solidFill>
                  <a:srgbClr val="0F172A"/>
                </a:solidFill>
              </a:defRPr>
            </a:pPr>
            <a:r>
              <a:t>• At least 3 significant controlled variables.</a:t>
            </a:r>
          </a:p>
          <a:p>
            <a:pPr>
              <a:spcAft>
                <a:spcPts val="600"/>
              </a:spcAft>
              <a:defRPr sz="1100">
                <a:solidFill>
                  <a:srgbClr val="0F172A"/>
                </a:solidFill>
              </a:defRPr>
            </a:pPr>
            <a:r>
              <a:t>• For EACH variable:</a:t>
            </a:r>
          </a:p>
          <a:p>
            <a:pPr>
              <a:spcAft>
                <a:spcPts val="600"/>
              </a:spcAft>
              <a:defRPr sz="1100">
                <a:solidFill>
                  <a:srgbClr val="0F172A"/>
                </a:solidFill>
              </a:defRPr>
            </a:pPr>
            <a:r>
              <a:t>  1. State the variable (e.g. Volume of NaOH).</a:t>
            </a:r>
          </a:p>
          <a:p>
            <a:pPr>
              <a:spcAft>
                <a:spcPts val="600"/>
              </a:spcAft>
              <a:defRPr sz="1100">
                <a:solidFill>
                  <a:srgbClr val="0F172A"/>
                </a:solidFill>
              </a:defRPr>
            </a:pPr>
            <a:r>
              <a:t>  2. State HOW it is controlled (volumetric pipette).</a:t>
            </a:r>
          </a:p>
          <a:p>
            <a:pPr>
              <a:spcAft>
                <a:spcPts val="600"/>
              </a:spcAft>
              <a:defRPr sz="1100">
                <a:solidFill>
                  <a:srgbClr val="0F172A"/>
                </a:solidFill>
              </a:defRPr>
            </a:pPr>
            <a:r>
              <a:t>  3. Explain WHY uncontrolled variation affects DV validity (dilution changes thermal mass).</a:t>
            </a:r>
          </a:p>
        </p:txBody>
      </p:sp>
      <p:sp>
        <p:nvSpPr>
          <p:cNvPr id="13" name="Rectangle 12"/>
          <p:cNvSpPr/>
          <p:nvPr/>
        </p:nvSpPr>
        <p:spPr>
          <a:xfrm>
            <a:off x="548640" y="5486400"/>
            <a:ext cx="10972800" cy="822960"/>
          </a:xfrm>
          <a:prstGeom prst="rect">
            <a:avLst/>
          </a:prstGeom>
          <a:solidFill>
            <a:srgbClr val="FEF3C7"/>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92400E"/>
                </a:solidFill>
              </a:defRPr>
            </a:pPr>
            <a:r>
              <a:t>MYP 5 Hypothesis Standard: “If [change in IV], then [predicted change in DV], because [scientific explanation using bond energies, collision theory, and net ionic neutralization equations].”</a:t>
            </a:r>
          </a:p>
        </p:txBody>
      </p:sp>
      <p:sp>
        <p:nvSpPr>
          <p:cNvPr id="14" name="TextBox 13"/>
          <p:cNvSpPr txBox="1"/>
          <p:nvPr/>
        </p:nvSpPr>
        <p:spPr>
          <a:xfrm>
            <a:off x="548640" y="6492240"/>
            <a:ext cx="11094415" cy="274320"/>
          </a:xfrm>
          <a:prstGeom prst="rect">
            <a:avLst/>
          </a:prstGeom>
          <a:noFill/>
        </p:spPr>
        <p:txBody>
          <a:bodyPr wrap="square">
            <a:spAutoFit/>
          </a:bodyPr>
          <a:lstStyle/>
          <a:p>
            <a:pPr>
              <a:defRPr sz="900">
                <a:solidFill>
                  <a:srgbClr val="64748B"/>
                </a:solidFill>
              </a:defRPr>
            </a:pPr>
            <a:r>
              <a:t>Unit 1 · Chemical Models &amp; Energy in Reactions · Grade 10 MYP 5 Sciences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457200"/>
            <a:ext cx="2011680" cy="320040"/>
          </a:xfrm>
          <a:prstGeom prst="rect">
            <a:avLst/>
          </a:prstGeom>
          <a:solidFill>
            <a:srgbClr val="EF4444"/>
          </a:solidFill>
          <a:ln>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defRPr>
            </a:pPr>
            <a:r>
              <a:t>EXPERIMENT DEVELOPMENT</a:t>
            </a:r>
          </a:p>
        </p:txBody>
      </p:sp>
      <p:sp>
        <p:nvSpPr>
          <p:cNvPr id="3" name="TextBox 2"/>
          <p:cNvSpPr txBox="1"/>
          <p:nvPr/>
        </p:nvSpPr>
        <p:spPr>
          <a:xfrm>
            <a:off x="548640" y="868680"/>
            <a:ext cx="11094415" cy="548640"/>
          </a:xfrm>
          <a:prstGeom prst="rect">
            <a:avLst/>
          </a:prstGeom>
          <a:noFill/>
        </p:spPr>
        <p:txBody>
          <a:bodyPr wrap="square">
            <a:spAutoFit/>
          </a:bodyPr>
          <a:lstStyle/>
          <a:p>
            <a:pPr>
              <a:defRPr sz="2200" b="1">
                <a:solidFill>
                  <a:srgbClr val="0F172A"/>
                </a:solidFill>
              </a:defRPr>
            </a:pPr>
            <a:r>
              <a:t>Criterion B Summative: The Investigation Plan</a:t>
            </a:r>
          </a:p>
        </p:txBody>
      </p:sp>
      <p:sp>
        <p:nvSpPr>
          <p:cNvPr id="4" name="Rounded Rectangle 3"/>
          <p:cNvSpPr/>
          <p:nvPr/>
        </p:nvSpPr>
        <p:spPr>
          <a:xfrm>
            <a:off x="548640" y="1645920"/>
            <a:ext cx="10972800" cy="4572000"/>
          </a:xfrm>
          <a:prstGeom prst="roundRect">
            <a:avLst/>
          </a:prstGeom>
          <a:solidFill>
            <a:srgbClr val="F8FAFC"/>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783080"/>
            <a:ext cx="10607040" cy="4297680"/>
          </a:xfrm>
          <a:prstGeom prst="rect">
            <a:avLst/>
          </a:prstGeom>
          <a:noFill/>
        </p:spPr>
        <p:txBody>
          <a:bodyPr wrap="square">
            <a:spAutoFit/>
          </a:bodyPr>
          <a:lstStyle/>
          <a:p>
            <a:pPr>
              <a:defRPr sz="1400" b="1">
                <a:solidFill>
                  <a:srgbClr val="0F172A"/>
                </a:solidFill>
              </a:defRPr>
            </a:pPr>
            <a:r>
              <a:t>Summative Investigation: Calorimetric Determination of Neutralization Enthalpy</a:t>
            </a:r>
          </a:p>
          <a:p>
            <a:pPr>
              <a:spcAft>
                <a:spcPts val="600"/>
              </a:spcAft>
              <a:defRPr sz="1100">
                <a:solidFill>
                  <a:srgbClr val="0F172A"/>
                </a:solidFill>
              </a:defRPr>
            </a:pPr>
            <a:r>
              <a:t>🎯 Research Question:</a:t>
            </a:r>
          </a:p>
          <a:p>
            <a:pPr>
              <a:spcAft>
                <a:spcPts val="600"/>
              </a:spcAft>
              <a:defRPr sz="1100">
                <a:solidFill>
                  <a:srgbClr val="0F172A"/>
                </a:solidFill>
              </a:defRPr>
            </a:pPr>
            <a:r>
              <a:t>  “How does the concentration of hydrochloric acid (0.2 to 1.0 mol/dm³) affect the maximum temperature change (ΔT) and calculated molar enthalpy of neutralization (ΔH_neut) when reacted with excess 1.0 mol/dm³ sodium hydroxide in a coffee-cup calorimeter?”</a:t>
            </a:r>
          </a:p>
          <a:p>
            <a:pPr>
              <a:spcAft>
                <a:spcPts val="600"/>
              </a:spcAft>
              <a:defRPr sz="1100">
                <a:solidFill>
                  <a:srgbClr val="0F172A"/>
                </a:solidFill>
              </a:defRPr>
            </a:pPr>
          </a:p>
          <a:p>
            <a:pPr>
              <a:spcAft>
                <a:spcPts val="600"/>
              </a:spcAft>
              <a:defRPr sz="1100">
                <a:solidFill>
                  <a:srgbClr val="0F172A"/>
                </a:solidFill>
              </a:defRPr>
            </a:pPr>
            <a:r>
              <a:t>📋 Methodological Requirements for Full Marks (Criterion B Strands i–iv):</a:t>
            </a:r>
          </a:p>
          <a:p>
            <a:pPr>
              <a:spcAft>
                <a:spcPts val="600"/>
              </a:spcAft>
              <a:defRPr sz="1100">
                <a:solidFill>
                  <a:srgbClr val="0F172A"/>
                </a:solidFill>
              </a:defRPr>
            </a:pPr>
            <a:r>
              <a:t>  1. Formulate a focused problem/question with scientific justification.</a:t>
            </a:r>
          </a:p>
          <a:p>
            <a:pPr>
              <a:spcAft>
                <a:spcPts val="600"/>
              </a:spcAft>
              <a:defRPr sz="1100">
                <a:solidFill>
                  <a:srgbClr val="0F172A"/>
                </a:solidFill>
              </a:defRPr>
            </a:pPr>
            <a:r>
              <a:t>  2. State a testable hypothesis with quantitative predictions and net ionic chemical reasoning (H+(aq) + OH-(aq) → H2O(l)).</a:t>
            </a:r>
          </a:p>
          <a:p>
            <a:pPr>
              <a:spcAft>
                <a:spcPts val="600"/>
              </a:spcAft>
              <a:defRPr sz="1100">
                <a:solidFill>
                  <a:srgbClr val="0F172A"/>
                </a:solidFill>
              </a:defRPr>
            </a:pPr>
            <a:r>
              <a:t>  3. Tabulate all variables (IV range, DV resolution, and 4 CVs with control methods and failure impacts).</a:t>
            </a:r>
          </a:p>
          <a:p>
            <a:pPr>
              <a:spcAft>
                <a:spcPts val="600"/>
              </a:spcAft>
              <a:defRPr sz="1100">
                <a:solidFill>
                  <a:srgbClr val="0F172A"/>
                </a:solidFill>
              </a:defRPr>
            </a:pPr>
            <a:r>
              <a:t>  4. Design a clear, logical, numbered method including:</a:t>
            </a:r>
          </a:p>
          <a:p>
            <a:pPr>
              <a:spcAft>
                <a:spcPts val="600"/>
              </a:spcAft>
              <a:defRPr sz="1100">
                <a:solidFill>
                  <a:srgbClr val="0F172A"/>
                </a:solidFill>
              </a:defRPr>
            </a:pPr>
            <a:r>
              <a:t>     • Apparatus diagram with labeled components (calorimeter, magnetic stirrer, digital probe).</a:t>
            </a:r>
          </a:p>
          <a:p>
            <a:pPr>
              <a:spcAft>
                <a:spcPts val="600"/>
              </a:spcAft>
              <a:defRPr sz="1100">
                <a:solidFill>
                  <a:srgbClr val="0F172A"/>
                </a:solidFill>
              </a:defRPr>
            </a:pPr>
            <a:r>
              <a:t>     • Explicit safety, environmental, and ethical risk assessment (corrosive acids, caustic alkali, exothermic splash hazards).</a:t>
            </a:r>
          </a:p>
          <a:p>
            <a:pPr>
              <a:spcAft>
                <a:spcPts val="600"/>
              </a:spcAft>
              <a:defRPr sz="1100">
                <a:solidFill>
                  <a:srgbClr val="0F172A"/>
                </a:solidFill>
              </a:defRPr>
            </a:pPr>
            <a:r>
              <a:t>     • Minimum of 3 repeat trials per condition to ensure data reliability.</a:t>
            </a:r>
          </a:p>
        </p:txBody>
      </p:sp>
      <p:sp>
        <p:nvSpPr>
          <p:cNvPr id="6" name="TextBox 5"/>
          <p:cNvSpPr txBox="1"/>
          <p:nvPr/>
        </p:nvSpPr>
        <p:spPr>
          <a:xfrm>
            <a:off x="548640" y="6492240"/>
            <a:ext cx="11094415" cy="274320"/>
          </a:xfrm>
          <a:prstGeom prst="rect">
            <a:avLst/>
          </a:prstGeom>
          <a:noFill/>
        </p:spPr>
        <p:txBody>
          <a:bodyPr wrap="square">
            <a:spAutoFit/>
          </a:bodyPr>
          <a:lstStyle/>
          <a:p>
            <a:pPr>
              <a:defRPr sz="900">
                <a:solidFill>
                  <a:srgbClr val="64748B"/>
                </a:solidFill>
              </a:defRPr>
            </a:pPr>
            <a:r>
              <a:t>Unit 1 · Chemical Models &amp; Energy in Reactions · Grade 10 MYP 5 Sciences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457200"/>
            <a:ext cx="2011680" cy="320040"/>
          </a:xfrm>
          <a:prstGeom prst="rect">
            <a:avLst/>
          </a:prstGeom>
          <a:solidFill>
            <a:srgbClr val="10B981"/>
          </a:solidFill>
          <a:ln>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defRPr>
            </a:pPr>
            <a:r>
              <a:t>CRITERION C FOCUS</a:t>
            </a:r>
          </a:p>
        </p:txBody>
      </p:sp>
      <p:sp>
        <p:nvSpPr>
          <p:cNvPr id="3" name="TextBox 2"/>
          <p:cNvSpPr txBox="1"/>
          <p:nvPr/>
        </p:nvSpPr>
        <p:spPr>
          <a:xfrm>
            <a:off x="548640" y="868680"/>
            <a:ext cx="11094415" cy="548640"/>
          </a:xfrm>
          <a:prstGeom prst="rect">
            <a:avLst/>
          </a:prstGeom>
          <a:noFill/>
        </p:spPr>
        <p:txBody>
          <a:bodyPr wrap="square">
            <a:spAutoFit/>
          </a:bodyPr>
          <a:lstStyle/>
          <a:p>
            <a:pPr>
              <a:defRPr sz="2200" b="1">
                <a:solidFill>
                  <a:srgbClr val="0F172A"/>
                </a:solidFill>
              </a:defRPr>
            </a:pPr>
            <a:r>
              <a:t>Criterion C: Data Processing, Uncertainties &amp; Anomaly Screening</a:t>
            </a:r>
          </a:p>
        </p:txBody>
      </p:sp>
      <p:sp>
        <p:nvSpPr>
          <p:cNvPr id="4" name="Rounded Rectangle 3"/>
          <p:cNvSpPr/>
          <p:nvPr/>
        </p:nvSpPr>
        <p:spPr>
          <a:xfrm>
            <a:off x="548640" y="1645920"/>
            <a:ext cx="5303520" cy="4389120"/>
          </a:xfrm>
          <a:prstGeom prst="roundRect">
            <a:avLst/>
          </a:prstGeom>
          <a:solidFill>
            <a:srgbClr val="F8FAFC"/>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645920"/>
            <a:ext cx="5303520" cy="502920"/>
          </a:xfrm>
          <a:prstGeom prst="rect">
            <a:avLst/>
          </a:prstGeom>
          <a:solidFill>
            <a:srgbClr val="10B981"/>
          </a:solidFill>
          <a:ln>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l">
              <a:defRPr sz="1300" b="1">
                <a:solidFill>
                  <a:srgbClr val="FFFFFF"/>
                </a:solidFill>
              </a:defRPr>
            </a:pPr>
            <a:r>
              <a:t>Strand i &amp; ii: Processing &amp; Graphing</a:t>
            </a:r>
          </a:p>
        </p:txBody>
      </p:sp>
      <p:sp>
        <p:nvSpPr>
          <p:cNvPr id="6" name="TextBox 5"/>
          <p:cNvSpPr txBox="1"/>
          <p:nvPr/>
        </p:nvSpPr>
        <p:spPr>
          <a:xfrm>
            <a:off x="731520" y="2240280"/>
            <a:ext cx="4937760" cy="3703320"/>
          </a:xfrm>
          <a:prstGeom prst="rect">
            <a:avLst/>
          </a:prstGeom>
          <a:noFill/>
        </p:spPr>
        <p:txBody>
          <a:bodyPr wrap="square">
            <a:spAutoFit/>
          </a:bodyPr>
          <a:lstStyle/>
          <a:p>
            <a:pPr>
              <a:spcAft>
                <a:spcPts val="600"/>
              </a:spcAft>
              <a:defRPr sz="1100">
                <a:solidFill>
                  <a:srgbClr val="0F172A"/>
                </a:solidFill>
              </a:defRPr>
            </a:pPr>
            <a:r>
              <a:t>📊 Raw Data Presentation:</a:t>
            </a:r>
          </a:p>
          <a:p>
            <a:pPr>
              <a:spcAft>
                <a:spcPts val="600"/>
              </a:spcAft>
              <a:defRPr sz="1100">
                <a:solidFill>
                  <a:srgbClr val="0F172A"/>
                </a:solidFill>
              </a:defRPr>
            </a:pPr>
            <a:r>
              <a:t>  • Unambiguous column headers with SI units and equipment uncertainties (e.g., Temperature / °C ± 0.05).</a:t>
            </a:r>
          </a:p>
          <a:p>
            <a:pPr>
              <a:spcAft>
                <a:spcPts val="600"/>
              </a:spcAft>
              <a:defRPr sz="1100">
                <a:solidFill>
                  <a:srgbClr val="0F172A"/>
                </a:solidFill>
              </a:defRPr>
            </a:pPr>
            <a:r>
              <a:t>  • Consistent decimal places matching instrument precision.</a:t>
            </a:r>
          </a:p>
          <a:p>
            <a:pPr>
              <a:spcAft>
                <a:spcPts val="600"/>
              </a:spcAft>
              <a:defRPr sz="1100">
                <a:solidFill>
                  <a:srgbClr val="0F172A"/>
                </a:solidFill>
              </a:defRPr>
            </a:pPr>
          </a:p>
          <a:p>
            <a:pPr>
              <a:spcAft>
                <a:spcPts val="600"/>
              </a:spcAft>
              <a:defRPr sz="1100">
                <a:solidFill>
                  <a:srgbClr val="0F172A"/>
                </a:solidFill>
              </a:defRPr>
            </a:pPr>
            <a:r>
              <a:t>🔢 Processing Steps:</a:t>
            </a:r>
          </a:p>
          <a:p>
            <a:pPr>
              <a:spcAft>
                <a:spcPts val="600"/>
              </a:spcAft>
              <a:defRPr sz="1100">
                <a:solidFill>
                  <a:srgbClr val="0F172A"/>
                </a:solidFill>
              </a:defRPr>
            </a:pPr>
            <a:r>
              <a:t>  • Identify and justify the exclusion of anomalous trials.</a:t>
            </a:r>
          </a:p>
          <a:p>
            <a:pPr>
              <a:spcAft>
                <a:spcPts val="600"/>
              </a:spcAft>
              <a:defRPr sz="1100">
                <a:solidFill>
                  <a:srgbClr val="0F172A"/>
                </a:solidFill>
              </a:defRPr>
            </a:pPr>
            <a:r>
              <a:t>  • Calculate Mean Temperature Change: ΔT_mean = (Trial 1 + Trial 2 + Trial 3) / 3.</a:t>
            </a:r>
          </a:p>
          <a:p>
            <a:pPr>
              <a:spcAft>
                <a:spcPts val="600"/>
              </a:spcAft>
              <a:defRPr sz="1100">
                <a:solidFill>
                  <a:srgbClr val="0F172A"/>
                </a:solidFill>
              </a:defRPr>
            </a:pPr>
            <a:r>
              <a:t>  • Heat evolved: q = mcΔT (where m = total mass of solution in g, c = 4.18 J/g·°C).</a:t>
            </a:r>
          </a:p>
          <a:p>
            <a:pPr>
              <a:spcAft>
                <a:spcPts val="600"/>
              </a:spcAft>
              <a:defRPr sz="1100">
                <a:solidFill>
                  <a:srgbClr val="0F172A"/>
                </a:solidFill>
              </a:defRPr>
            </a:pPr>
            <a:r>
              <a:t>  • Molar enthalpy: ΔH = -q / n_limiting (kJ/mol).</a:t>
            </a:r>
          </a:p>
          <a:p>
            <a:pPr>
              <a:spcAft>
                <a:spcPts val="600"/>
              </a:spcAft>
              <a:defRPr sz="1100">
                <a:solidFill>
                  <a:srgbClr val="0F172A"/>
                </a:solidFill>
              </a:defRPr>
            </a:pPr>
          </a:p>
          <a:p>
            <a:pPr>
              <a:spcAft>
                <a:spcPts val="600"/>
              </a:spcAft>
              <a:defRPr sz="1100">
                <a:solidFill>
                  <a:srgbClr val="0F172A"/>
                </a:solidFill>
              </a:defRPr>
            </a:pPr>
            <a:r>
              <a:t>📈 Graphing Standards:</a:t>
            </a:r>
          </a:p>
          <a:p>
            <a:pPr>
              <a:spcAft>
                <a:spcPts val="600"/>
              </a:spcAft>
              <a:defRPr sz="1100">
                <a:solidFill>
                  <a:srgbClr val="0F172A"/>
                </a:solidFill>
              </a:defRPr>
            </a:pPr>
            <a:r>
              <a:t>  • Independent variable on x-axis, Dependent on y-axis.</a:t>
            </a:r>
          </a:p>
          <a:p>
            <a:pPr>
              <a:spcAft>
                <a:spcPts val="600"/>
              </a:spcAft>
              <a:defRPr sz="1100">
                <a:solidFill>
                  <a:srgbClr val="0F172A"/>
                </a:solidFill>
              </a:defRPr>
            </a:pPr>
            <a:r>
              <a:t>  • Correctly scaled axes covering ≥ 50% of grid, error bars where appropriate, linear line of best fit.</a:t>
            </a:r>
          </a:p>
        </p:txBody>
      </p:sp>
      <p:sp>
        <p:nvSpPr>
          <p:cNvPr id="7" name="Rounded Rectangle 6"/>
          <p:cNvSpPr/>
          <p:nvPr/>
        </p:nvSpPr>
        <p:spPr>
          <a:xfrm>
            <a:off x="6217920" y="1645920"/>
            <a:ext cx="5303520" cy="4389120"/>
          </a:xfrm>
          <a:prstGeom prst="roundRect">
            <a:avLst/>
          </a:prstGeom>
          <a:solidFill>
            <a:srgbClr val="F8FAFC"/>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217920" y="1645920"/>
            <a:ext cx="5303520" cy="502920"/>
          </a:xfrm>
          <a:prstGeom prst="rect">
            <a:avLst/>
          </a:prstGeom>
          <a:solidFill>
            <a:srgbClr val="0D9488"/>
          </a:solidFill>
          <a:ln>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l">
              <a:defRPr sz="1300" b="1">
                <a:solidFill>
                  <a:srgbClr val="FFFFFF"/>
                </a:solidFill>
              </a:defRPr>
            </a:pPr>
            <a:r>
              <a:t>Strand iii, iv &amp; v: Discussing &amp; Evaluating</a:t>
            </a:r>
          </a:p>
        </p:txBody>
      </p:sp>
      <p:sp>
        <p:nvSpPr>
          <p:cNvPr id="9" name="TextBox 8"/>
          <p:cNvSpPr txBox="1"/>
          <p:nvPr/>
        </p:nvSpPr>
        <p:spPr>
          <a:xfrm>
            <a:off x="6400800" y="2240280"/>
            <a:ext cx="4937760" cy="3703320"/>
          </a:xfrm>
          <a:prstGeom prst="rect">
            <a:avLst/>
          </a:prstGeom>
          <a:noFill/>
        </p:spPr>
        <p:txBody>
          <a:bodyPr wrap="square">
            <a:spAutoFit/>
          </a:bodyPr>
          <a:lstStyle/>
          <a:p>
            <a:pPr>
              <a:spcAft>
                <a:spcPts val="600"/>
              </a:spcAft>
              <a:defRPr sz="1100">
                <a:solidFill>
                  <a:srgbClr val="0F172A"/>
                </a:solidFill>
              </a:defRPr>
            </a:pPr>
            <a:r>
              <a:t>🔍 Strand iii: Hypothesis Validity:</a:t>
            </a:r>
          </a:p>
          <a:p>
            <a:pPr>
              <a:spcAft>
                <a:spcPts val="600"/>
              </a:spcAft>
              <a:defRPr sz="1100">
                <a:solidFill>
                  <a:srgbClr val="0F172A"/>
                </a:solidFill>
              </a:defRPr>
            </a:pPr>
            <a:r>
              <a:t>  • Compare calculated ΔH_neut against the theoretical literature value (-57.1 kJ/mol).</a:t>
            </a:r>
          </a:p>
          <a:p>
            <a:pPr>
              <a:spcAft>
                <a:spcPts val="600"/>
              </a:spcAft>
              <a:defRPr sz="1100">
                <a:solidFill>
                  <a:srgbClr val="0F172A"/>
                </a:solidFill>
              </a:defRPr>
            </a:pPr>
            <a:r>
              <a:t>  • Explicitly calculate Percentage Error: % Error = |(Experimental - Theoretical) / Theoretical| × 100%.</a:t>
            </a:r>
          </a:p>
          <a:p>
            <a:pPr>
              <a:spcAft>
                <a:spcPts val="600"/>
              </a:spcAft>
              <a:defRPr sz="1100">
                <a:solidFill>
                  <a:srgbClr val="0F172A"/>
                </a:solidFill>
              </a:defRPr>
            </a:pPr>
          </a:p>
          <a:p>
            <a:pPr>
              <a:spcAft>
                <a:spcPts val="600"/>
              </a:spcAft>
              <a:defRPr sz="1100">
                <a:solidFill>
                  <a:srgbClr val="0F172A"/>
                </a:solidFill>
              </a:defRPr>
            </a:pPr>
            <a:r>
              <a:t>⚠️ Strand iv: Method Validity (Error Analysis):</a:t>
            </a:r>
          </a:p>
          <a:p>
            <a:pPr>
              <a:spcAft>
                <a:spcPts val="600"/>
              </a:spcAft>
              <a:defRPr sz="1100">
                <a:solidFill>
                  <a:srgbClr val="0F172A"/>
                </a:solidFill>
              </a:defRPr>
            </a:pPr>
            <a:r>
              <a:t>  • Distinguish between Systematic Errors (heat loss to surroundings, thermal absorption by plastic cup, heat capacity assumption) and Random Errors (parallax, fluctuating initial room temp).</a:t>
            </a:r>
          </a:p>
          <a:p>
            <a:pPr>
              <a:spcAft>
                <a:spcPts val="600"/>
              </a:spcAft>
              <a:defRPr sz="1100">
                <a:solidFill>
                  <a:srgbClr val="0F172A"/>
                </a:solidFill>
              </a:defRPr>
            </a:pPr>
          </a:p>
          <a:p>
            <a:pPr>
              <a:spcAft>
                <a:spcPts val="600"/>
              </a:spcAft>
              <a:defRPr sz="1100">
                <a:solidFill>
                  <a:srgbClr val="0F172A"/>
                </a:solidFill>
              </a:defRPr>
            </a:pPr>
            <a:r>
              <a:t>🛠️ Strand v: Specific &amp; Realistic Improvements:</a:t>
            </a:r>
          </a:p>
          <a:p>
            <a:pPr>
              <a:spcAft>
                <a:spcPts val="600"/>
              </a:spcAft>
              <a:defRPr sz="1100">
                <a:solidFill>
                  <a:srgbClr val="0F172A"/>
                </a:solidFill>
              </a:defRPr>
            </a:pPr>
            <a:r>
              <a:t>  • Do NOT say “be more careful”. Suggest concrete procedural refinements (e.g. use a double-walled vacuum calorimeter, extrapolating cooling curve, automated burettes).</a:t>
            </a:r>
          </a:p>
        </p:txBody>
      </p:sp>
      <p:sp>
        <p:nvSpPr>
          <p:cNvPr id="10" name="TextBox 9"/>
          <p:cNvSpPr txBox="1"/>
          <p:nvPr/>
        </p:nvSpPr>
        <p:spPr>
          <a:xfrm>
            <a:off x="548640" y="6492240"/>
            <a:ext cx="11094415" cy="274320"/>
          </a:xfrm>
          <a:prstGeom prst="rect">
            <a:avLst/>
          </a:prstGeom>
          <a:noFill/>
        </p:spPr>
        <p:txBody>
          <a:bodyPr wrap="square">
            <a:spAutoFit/>
          </a:bodyPr>
          <a:lstStyle/>
          <a:p>
            <a:pPr>
              <a:defRPr sz="900">
                <a:solidFill>
                  <a:srgbClr val="64748B"/>
                </a:solidFill>
              </a:defRPr>
            </a:pPr>
            <a:r>
              <a:t>Unit 1 · Chemical Models &amp; Energy in Reactions · Grade 10 MYP 5 Sciences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457200"/>
            <a:ext cx="2011680" cy="320040"/>
          </a:xfrm>
          <a:prstGeom prst="rect">
            <a:avLst/>
          </a:prstGeom>
          <a:solidFill>
            <a:srgbClr val="EF4444"/>
          </a:solidFill>
          <a:ln>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defRPr>
            </a:pPr>
            <a:r>
              <a:t>INVESTIGATION</a:t>
            </a:r>
          </a:p>
        </p:txBody>
      </p:sp>
      <p:sp>
        <p:nvSpPr>
          <p:cNvPr id="3" name="TextBox 2"/>
          <p:cNvSpPr txBox="1"/>
          <p:nvPr/>
        </p:nvSpPr>
        <p:spPr>
          <a:xfrm>
            <a:off x="548640" y="868680"/>
            <a:ext cx="11094415" cy="548640"/>
          </a:xfrm>
          <a:prstGeom prst="rect">
            <a:avLst/>
          </a:prstGeom>
          <a:noFill/>
        </p:spPr>
        <p:txBody>
          <a:bodyPr wrap="square">
            <a:spAutoFit/>
          </a:bodyPr>
          <a:lstStyle/>
          <a:p>
            <a:pPr>
              <a:defRPr sz="2200" b="1">
                <a:solidFill>
                  <a:srgbClr val="0F172A"/>
                </a:solidFill>
              </a:defRPr>
            </a:pPr>
            <a:r>
              <a:t>Criterion C Exemplar: Raw Data Table &amp; Anomaly Screening</a:t>
            </a:r>
          </a:p>
        </p:txBody>
      </p:sp>
      <p:graphicFrame>
        <p:nvGraphicFramePr>
          <p:cNvPr id="4" name="Table 3"/>
          <p:cNvGraphicFramePr>
            <a:graphicFrameLocks noGrp="1"/>
          </p:cNvGraphicFramePr>
          <p:nvPr/>
        </p:nvGraphicFramePr>
        <p:xfrm>
          <a:off x="548640" y="1645920"/>
          <a:ext cx="10972800" cy="2926080"/>
        </p:xfrm>
        <a:graphic>
          <a:graphicData uri="http://schemas.openxmlformats.org/drawingml/2006/table">
            <a:tbl>
              <a:tblPr firstRow="1" bandRow="1">
                <a:tableStyleId>{5C22544A-7EE6-4342-B048-85BDC9FD1C3A}</a:tableStyleId>
              </a:tblPr>
              <a:tblGrid>
                <a:gridCol w="1828800"/>
                <a:gridCol w="1828800"/>
                <a:gridCol w="1828800"/>
                <a:gridCol w="1828800"/>
                <a:gridCol w="1828800"/>
                <a:gridCol w="1828800"/>
              </a:tblGrid>
              <a:tr h="418011">
                <a:tc>
                  <a:txBody>
                    <a:bodyPr/>
                    <a:lstStyle/>
                    <a:p>
                      <a:pPr algn="ctr">
                        <a:defRPr sz="1100" b="1">
                          <a:solidFill>
                            <a:srgbClr val="FFFFFF"/>
                          </a:solidFill>
                        </a:defRPr>
                      </a:pPr>
                      <a:r>
                        <a:t>[HCl] / mol dm⁻³ (±0.02)</a:t>
                      </a:r>
                    </a:p>
                  </a:txBody>
                  <a:tcPr>
                    <a:solidFill>
                      <a:srgbClr val="0F172A"/>
                    </a:solidFill>
                  </a:tcPr>
                </a:tc>
                <a:tc>
                  <a:txBody>
                    <a:bodyPr/>
                    <a:lstStyle/>
                    <a:p>
                      <a:pPr algn="ctr">
                        <a:defRPr sz="1100" b="1">
                          <a:solidFill>
                            <a:srgbClr val="FFFFFF"/>
                          </a:solidFill>
                        </a:defRPr>
                      </a:pPr>
                      <a:r>
                        <a:t>T_initial / °C (±0.05)</a:t>
                      </a:r>
                    </a:p>
                  </a:txBody>
                  <a:tcPr>
                    <a:solidFill>
                      <a:srgbClr val="0F172A"/>
                    </a:solidFill>
                  </a:tcPr>
                </a:tc>
                <a:tc>
                  <a:txBody>
                    <a:bodyPr/>
                    <a:lstStyle/>
                    <a:p>
                      <a:pPr algn="ctr">
                        <a:defRPr sz="1100" b="1">
                          <a:solidFill>
                            <a:srgbClr val="FFFFFF"/>
                          </a:solidFill>
                        </a:defRPr>
                      </a:pPr>
                      <a:r>
                        <a:t>Trial 1: ΔT / °C</a:t>
                      </a:r>
                    </a:p>
                  </a:txBody>
                  <a:tcPr>
                    <a:solidFill>
                      <a:srgbClr val="0F172A"/>
                    </a:solidFill>
                  </a:tcPr>
                </a:tc>
                <a:tc>
                  <a:txBody>
                    <a:bodyPr/>
                    <a:lstStyle/>
                    <a:p>
                      <a:pPr algn="ctr">
                        <a:defRPr sz="1100" b="1">
                          <a:solidFill>
                            <a:srgbClr val="FFFFFF"/>
                          </a:solidFill>
                        </a:defRPr>
                      </a:pPr>
                      <a:r>
                        <a:t>Trial 2: ΔT / °C</a:t>
                      </a:r>
                    </a:p>
                  </a:txBody>
                  <a:tcPr>
                    <a:solidFill>
                      <a:srgbClr val="0F172A"/>
                    </a:solidFill>
                  </a:tcPr>
                </a:tc>
                <a:tc>
                  <a:txBody>
                    <a:bodyPr/>
                    <a:lstStyle/>
                    <a:p>
                      <a:pPr algn="ctr">
                        <a:defRPr sz="1100" b="1">
                          <a:solidFill>
                            <a:srgbClr val="FFFFFF"/>
                          </a:solidFill>
                        </a:defRPr>
                      </a:pPr>
                      <a:r>
                        <a:t>Trial 3: ΔT / °C</a:t>
                      </a:r>
                    </a:p>
                  </a:txBody>
                  <a:tcPr>
                    <a:solidFill>
                      <a:srgbClr val="0F172A"/>
                    </a:solidFill>
                  </a:tcPr>
                </a:tc>
                <a:tc>
                  <a:txBody>
                    <a:bodyPr/>
                    <a:lstStyle/>
                    <a:p>
                      <a:pPr algn="ctr">
                        <a:defRPr sz="1100" b="1">
                          <a:solidFill>
                            <a:srgbClr val="FFFFFF"/>
                          </a:solidFill>
                        </a:defRPr>
                      </a:pPr>
                      <a:r>
                        <a:t>Mean ΔT / °C (±0.1)</a:t>
                      </a:r>
                    </a:p>
                  </a:txBody>
                  <a:tcPr>
                    <a:solidFill>
                      <a:srgbClr val="0F172A"/>
                    </a:solidFill>
                  </a:tcPr>
                </a:tc>
              </a:tr>
              <a:tr h="418011">
                <a:tc>
                  <a:txBody>
                    <a:bodyPr/>
                    <a:lstStyle/>
                    <a:p>
                      <a:pPr algn="ctr">
                        <a:defRPr sz="1100"/>
                      </a:pPr>
                      <a:r>
                        <a:t>0.20</a:t>
                      </a:r>
                    </a:p>
                  </a:txBody>
                  <a:tcPr>
                    <a:solidFill>
                      <a:srgbClr val="FFFFFF"/>
                    </a:solidFill>
                  </a:tcPr>
                </a:tc>
                <a:tc>
                  <a:txBody>
                    <a:bodyPr/>
                    <a:lstStyle/>
                    <a:p>
                      <a:pPr algn="ctr">
                        <a:defRPr sz="1100"/>
                      </a:pPr>
                      <a:r>
                        <a:t>21.50</a:t>
                      </a:r>
                    </a:p>
                  </a:txBody>
                  <a:tcPr>
                    <a:solidFill>
                      <a:srgbClr val="FFFFFF"/>
                    </a:solidFill>
                  </a:tcPr>
                </a:tc>
                <a:tc>
                  <a:txBody>
                    <a:bodyPr/>
                    <a:lstStyle/>
                    <a:p>
                      <a:pPr algn="ctr">
                        <a:defRPr sz="1100"/>
                      </a:pPr>
                      <a:r>
                        <a:t>1.30</a:t>
                      </a:r>
                    </a:p>
                  </a:txBody>
                  <a:tcPr>
                    <a:solidFill>
                      <a:srgbClr val="FFFFFF"/>
                    </a:solidFill>
                  </a:tcPr>
                </a:tc>
                <a:tc>
                  <a:txBody>
                    <a:bodyPr/>
                    <a:lstStyle/>
                    <a:p>
                      <a:pPr algn="ctr">
                        <a:defRPr sz="1100"/>
                      </a:pPr>
                      <a:r>
                        <a:t>1.35</a:t>
                      </a:r>
                    </a:p>
                  </a:txBody>
                  <a:tcPr>
                    <a:solidFill>
                      <a:srgbClr val="FFFFFF"/>
                    </a:solidFill>
                  </a:tcPr>
                </a:tc>
                <a:tc>
                  <a:txBody>
                    <a:bodyPr/>
                    <a:lstStyle/>
                    <a:p>
                      <a:pPr algn="ctr">
                        <a:defRPr sz="1100"/>
                      </a:pPr>
                      <a:r>
                        <a:t>1.25</a:t>
                      </a:r>
                    </a:p>
                  </a:txBody>
                  <a:tcPr>
                    <a:solidFill>
                      <a:srgbClr val="FFFFFF"/>
                    </a:solidFill>
                  </a:tcPr>
                </a:tc>
                <a:tc>
                  <a:txBody>
                    <a:bodyPr/>
                    <a:lstStyle/>
                    <a:p>
                      <a:pPr algn="ctr">
                        <a:defRPr sz="1100"/>
                      </a:pPr>
                      <a:r>
                        <a:t>1.30</a:t>
                      </a:r>
                    </a:p>
                  </a:txBody>
                  <a:tcPr>
                    <a:solidFill>
                      <a:srgbClr val="FFFFFF"/>
                    </a:solidFill>
                  </a:tcPr>
                </a:tc>
              </a:tr>
              <a:tr h="418011">
                <a:tc>
                  <a:txBody>
                    <a:bodyPr/>
                    <a:lstStyle/>
                    <a:p>
                      <a:pPr algn="ctr">
                        <a:defRPr sz="1100"/>
                      </a:pPr>
                      <a:r>
                        <a:t>0.40</a:t>
                      </a:r>
                    </a:p>
                  </a:txBody>
                  <a:tcPr>
                    <a:solidFill>
                      <a:srgbClr val="FFFFFF"/>
                    </a:solidFill>
                  </a:tcPr>
                </a:tc>
                <a:tc>
                  <a:txBody>
                    <a:bodyPr/>
                    <a:lstStyle/>
                    <a:p>
                      <a:pPr algn="ctr">
                        <a:defRPr sz="1100"/>
                      </a:pPr>
                      <a:r>
                        <a:t>21.50</a:t>
                      </a:r>
                    </a:p>
                  </a:txBody>
                  <a:tcPr>
                    <a:solidFill>
                      <a:srgbClr val="FFFFFF"/>
                    </a:solidFill>
                  </a:tcPr>
                </a:tc>
                <a:tc>
                  <a:txBody>
                    <a:bodyPr/>
                    <a:lstStyle/>
                    <a:p>
                      <a:pPr algn="ctr">
                        <a:defRPr sz="1100"/>
                      </a:pPr>
                      <a:r>
                        <a:t>2.65</a:t>
                      </a:r>
                    </a:p>
                  </a:txBody>
                  <a:tcPr>
                    <a:solidFill>
                      <a:srgbClr val="FFFFFF"/>
                    </a:solidFill>
                  </a:tcPr>
                </a:tc>
                <a:tc>
                  <a:txBody>
                    <a:bodyPr/>
                    <a:lstStyle/>
                    <a:p>
                      <a:pPr algn="ctr">
                        <a:defRPr sz="1100"/>
                      </a:pPr>
                      <a:r>
                        <a:t>2.70</a:t>
                      </a:r>
                    </a:p>
                  </a:txBody>
                  <a:tcPr>
                    <a:solidFill>
                      <a:srgbClr val="FFFFFF"/>
                    </a:solidFill>
                  </a:tcPr>
                </a:tc>
                <a:tc>
                  <a:txBody>
                    <a:bodyPr/>
                    <a:lstStyle/>
                    <a:p>
                      <a:pPr algn="ctr">
                        <a:defRPr sz="1100"/>
                      </a:pPr>
                      <a:r>
                        <a:t>2.60</a:t>
                      </a:r>
                    </a:p>
                  </a:txBody>
                  <a:tcPr>
                    <a:solidFill>
                      <a:srgbClr val="FFFFFF"/>
                    </a:solidFill>
                  </a:tcPr>
                </a:tc>
                <a:tc>
                  <a:txBody>
                    <a:bodyPr/>
                    <a:lstStyle/>
                    <a:p>
                      <a:pPr algn="ctr">
                        <a:defRPr sz="1100"/>
                      </a:pPr>
                      <a:r>
                        <a:t>2.65</a:t>
                      </a:r>
                    </a:p>
                  </a:txBody>
                  <a:tcPr>
                    <a:solidFill>
                      <a:srgbClr val="FFFFFF"/>
                    </a:solidFill>
                  </a:tcPr>
                </a:tc>
              </a:tr>
              <a:tr h="418011">
                <a:tc>
                  <a:txBody>
                    <a:bodyPr/>
                    <a:lstStyle/>
                    <a:p>
                      <a:pPr algn="ctr">
                        <a:defRPr sz="1100"/>
                      </a:pPr>
                      <a:r>
                        <a:t>0.60</a:t>
                      </a:r>
                    </a:p>
                  </a:txBody>
                  <a:tcPr>
                    <a:solidFill>
                      <a:srgbClr val="FFFFFF"/>
                    </a:solidFill>
                  </a:tcPr>
                </a:tc>
                <a:tc>
                  <a:txBody>
                    <a:bodyPr/>
                    <a:lstStyle/>
                    <a:p>
                      <a:pPr algn="ctr">
                        <a:defRPr sz="1100"/>
                      </a:pPr>
                      <a:r>
                        <a:t>21.55</a:t>
                      </a:r>
                    </a:p>
                  </a:txBody>
                  <a:tcPr>
                    <a:solidFill>
                      <a:srgbClr val="FFFFFF"/>
                    </a:solidFill>
                  </a:tcPr>
                </a:tc>
                <a:tc>
                  <a:txBody>
                    <a:bodyPr/>
                    <a:lstStyle/>
                    <a:p>
                      <a:pPr algn="ctr">
                        <a:defRPr sz="1100"/>
                      </a:pPr>
                      <a:r>
                        <a:t>3.95</a:t>
                      </a:r>
                    </a:p>
                  </a:txBody>
                  <a:tcPr>
                    <a:solidFill>
                      <a:srgbClr val="FFFFFF"/>
                    </a:solidFill>
                  </a:tcPr>
                </a:tc>
                <a:tc>
                  <a:txBody>
                    <a:bodyPr/>
                    <a:lstStyle/>
                    <a:p>
                      <a:pPr algn="ctr">
                        <a:defRPr sz="1100"/>
                      </a:pPr>
                      <a:r>
                        <a:t>4.00</a:t>
                      </a:r>
                    </a:p>
                  </a:txBody>
                  <a:tcPr>
                    <a:solidFill>
                      <a:srgbClr val="FFFFFF"/>
                    </a:solidFill>
                  </a:tcPr>
                </a:tc>
                <a:tc>
                  <a:txBody>
                    <a:bodyPr/>
                    <a:lstStyle/>
                    <a:p>
                      <a:pPr algn="ctr">
                        <a:defRPr sz="1100"/>
                      </a:pPr>
                      <a:r>
                        <a:t>3.90</a:t>
                      </a:r>
                    </a:p>
                  </a:txBody>
                  <a:tcPr>
                    <a:solidFill>
                      <a:srgbClr val="FFFFFF"/>
                    </a:solidFill>
                  </a:tcPr>
                </a:tc>
                <a:tc>
                  <a:txBody>
                    <a:bodyPr/>
                    <a:lstStyle/>
                    <a:p>
                      <a:pPr algn="ctr">
                        <a:defRPr sz="1100"/>
                      </a:pPr>
                      <a:r>
                        <a:t>3.95</a:t>
                      </a:r>
                    </a:p>
                  </a:txBody>
                  <a:tcPr>
                    <a:solidFill>
                      <a:srgbClr val="FFFFFF"/>
                    </a:solidFill>
                  </a:tcPr>
                </a:tc>
              </a:tr>
              <a:tr h="418011">
                <a:tc>
                  <a:txBody>
                    <a:bodyPr/>
                    <a:lstStyle/>
                    <a:p>
                      <a:pPr algn="ctr">
                        <a:defRPr sz="1100"/>
                      </a:pPr>
                      <a:r>
                        <a:t>0.80</a:t>
                      </a:r>
                    </a:p>
                  </a:txBody>
                  <a:tcPr>
                    <a:solidFill>
                      <a:srgbClr val="FFFFFF"/>
                    </a:solidFill>
                  </a:tcPr>
                </a:tc>
                <a:tc>
                  <a:txBody>
                    <a:bodyPr/>
                    <a:lstStyle/>
                    <a:p>
                      <a:pPr algn="ctr">
                        <a:defRPr sz="1100"/>
                      </a:pPr>
                      <a:r>
                        <a:t>21.50</a:t>
                      </a:r>
                    </a:p>
                  </a:txBody>
                  <a:tcPr>
                    <a:solidFill>
                      <a:srgbClr val="FFFFFF"/>
                    </a:solidFill>
                  </a:tcPr>
                </a:tc>
                <a:tc>
                  <a:txBody>
                    <a:bodyPr/>
                    <a:lstStyle/>
                    <a:p>
                      <a:pPr algn="ctr">
                        <a:defRPr sz="1100"/>
                      </a:pPr>
                      <a:r>
                        <a:t>5.25</a:t>
                      </a:r>
                    </a:p>
                  </a:txBody>
                  <a:tcPr>
                    <a:solidFill>
                      <a:srgbClr val="FFFFFF"/>
                    </a:solidFill>
                  </a:tcPr>
                </a:tc>
                <a:tc>
                  <a:txBody>
                    <a:bodyPr/>
                    <a:lstStyle/>
                    <a:p>
                      <a:pPr algn="ctr">
                        <a:defRPr sz="1100"/>
                      </a:pPr>
                      <a:r>
                        <a:t>1.80*</a:t>
                      </a:r>
                    </a:p>
                  </a:txBody>
                  <a:tcPr>
                    <a:solidFill>
                      <a:srgbClr val="FEE2E2"/>
                    </a:solidFill>
                  </a:tcPr>
                </a:tc>
                <a:tc>
                  <a:txBody>
                    <a:bodyPr/>
                    <a:lstStyle/>
                    <a:p>
                      <a:pPr algn="ctr">
                        <a:defRPr sz="1100"/>
                      </a:pPr>
                      <a:r>
                        <a:t>5.35</a:t>
                      </a:r>
                    </a:p>
                  </a:txBody>
                  <a:tcPr>
                    <a:solidFill>
                      <a:srgbClr val="FFFFFF"/>
                    </a:solidFill>
                  </a:tcPr>
                </a:tc>
                <a:tc>
                  <a:txBody>
                    <a:bodyPr/>
                    <a:lstStyle/>
                    <a:p>
                      <a:pPr algn="ctr">
                        <a:defRPr sz="1100"/>
                      </a:pPr>
                      <a:r>
                        <a:t>5.30*</a:t>
                      </a:r>
                    </a:p>
                  </a:txBody>
                  <a:tcPr>
                    <a:solidFill>
                      <a:srgbClr val="FEE2E2"/>
                    </a:solidFill>
                  </a:tcPr>
                </a:tc>
              </a:tr>
              <a:tr h="418011">
                <a:tc>
                  <a:txBody>
                    <a:bodyPr/>
                    <a:lstStyle/>
                    <a:p>
                      <a:pPr algn="ctr">
                        <a:defRPr sz="1100"/>
                      </a:pPr>
                      <a:r>
                        <a:t>1.00</a:t>
                      </a:r>
                    </a:p>
                  </a:txBody>
                  <a:tcPr>
                    <a:solidFill>
                      <a:srgbClr val="FFFFFF"/>
                    </a:solidFill>
                  </a:tcPr>
                </a:tc>
                <a:tc>
                  <a:txBody>
                    <a:bodyPr/>
                    <a:lstStyle/>
                    <a:p>
                      <a:pPr algn="ctr">
                        <a:defRPr sz="1100"/>
                      </a:pPr>
                      <a:r>
                        <a:t>21.60</a:t>
                      </a:r>
                    </a:p>
                  </a:txBody>
                  <a:tcPr>
                    <a:solidFill>
                      <a:srgbClr val="FFFFFF"/>
                    </a:solidFill>
                  </a:tcPr>
                </a:tc>
                <a:tc>
                  <a:txBody>
                    <a:bodyPr/>
                    <a:lstStyle/>
                    <a:p>
                      <a:pPr algn="ctr">
                        <a:defRPr sz="1100"/>
                      </a:pPr>
                      <a:r>
                        <a:t>6.60</a:t>
                      </a:r>
                    </a:p>
                  </a:txBody>
                  <a:tcPr>
                    <a:solidFill>
                      <a:srgbClr val="FFFFFF"/>
                    </a:solidFill>
                  </a:tcPr>
                </a:tc>
                <a:tc>
                  <a:txBody>
                    <a:bodyPr/>
                    <a:lstStyle/>
                    <a:p>
                      <a:pPr algn="ctr">
                        <a:defRPr sz="1100"/>
                      </a:pPr>
                      <a:r>
                        <a:t>6.55</a:t>
                      </a:r>
                    </a:p>
                  </a:txBody>
                  <a:tcPr>
                    <a:solidFill>
                      <a:srgbClr val="FFFFFF"/>
                    </a:solidFill>
                  </a:tcPr>
                </a:tc>
                <a:tc>
                  <a:txBody>
                    <a:bodyPr/>
                    <a:lstStyle/>
                    <a:p>
                      <a:pPr algn="ctr">
                        <a:defRPr sz="1100"/>
                      </a:pPr>
                      <a:r>
                        <a:t>6.65</a:t>
                      </a:r>
                    </a:p>
                  </a:txBody>
                  <a:tcPr>
                    <a:solidFill>
                      <a:srgbClr val="FFFFFF"/>
                    </a:solidFill>
                  </a:tcPr>
                </a:tc>
                <a:tc>
                  <a:txBody>
                    <a:bodyPr/>
                    <a:lstStyle/>
                    <a:p>
                      <a:pPr algn="ctr">
                        <a:defRPr sz="1100"/>
                      </a:pPr>
                      <a:r>
                        <a:t>6.60</a:t>
                      </a:r>
                    </a:p>
                  </a:txBody>
                  <a:tcPr>
                    <a:solidFill>
                      <a:srgbClr val="FFFFFF"/>
                    </a:solidFill>
                  </a:tcPr>
                </a:tc>
              </a:tr>
              <a:tr h="418014">
                <a:tc>
                  <a:txBody>
                    <a:bodyPr/>
                    <a:lstStyle/>
                    <a:p/>
                  </a:txBody>
                  <a:tcPr/>
                </a:tc>
                <a:tc>
                  <a:txBody>
                    <a:bodyPr/>
                    <a:lstStyle/>
                    <a:p/>
                  </a:txBody>
                  <a:tcPr/>
                </a:tc>
                <a:tc>
                  <a:txBody>
                    <a:bodyPr/>
                    <a:lstStyle/>
                    <a:p/>
                  </a:txBody>
                  <a:tcPr/>
                </a:tc>
                <a:tc>
                  <a:txBody>
                    <a:bodyPr/>
                    <a:lstStyle/>
                    <a:p/>
                  </a:txBody>
                  <a:tcPr/>
                </a:tc>
                <a:tc>
                  <a:txBody>
                    <a:bodyPr/>
                    <a:lstStyle/>
                    <a:p/>
                  </a:txBody>
                  <a:tcPr/>
                </a:tc>
                <a:tc>
                  <a:txBody>
                    <a:bodyPr/>
                    <a:lstStyle/>
                    <a:p/>
                  </a:txBody>
                  <a:tcPr/>
                </a:tc>
              </a:tr>
            </a:tbl>
          </a:graphicData>
        </a:graphic>
      </p:graphicFrame>
      <p:sp>
        <p:nvSpPr>
          <p:cNvPr id="5" name="Rounded Rectangle 4"/>
          <p:cNvSpPr/>
          <p:nvPr/>
        </p:nvSpPr>
        <p:spPr>
          <a:xfrm>
            <a:off x="548640" y="4846320"/>
            <a:ext cx="10972800" cy="1371600"/>
          </a:xfrm>
          <a:prstGeom prst="roundRect">
            <a:avLst/>
          </a:prstGeom>
          <a:solidFill>
            <a:srgbClr val="FEF2F2"/>
          </a:solidFill>
          <a:ln>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EF4444"/>
                </a:solidFill>
              </a:defRPr>
            </a:pPr>
            <a:r>
              <a:t>⚠️ Anomaly Justification (Criterion C Strand i):</a:t>
            </a:r>
          </a:p>
          <a:p>
            <a:pPr>
              <a:defRPr sz="1000">
                <a:solidFill>
                  <a:srgbClr val="0F172A"/>
                </a:solidFill>
              </a:defRPr>
            </a:pPr>
            <a:r>
              <a:t>At 0.80 mol/dm³ HCl, Trial 2 recorded ΔT = 1.80 °C, which deviates severely from Trials 1 (5.25 °C) and 3 (5.35 °C). This was likely caused by delayed addition of NaOH or failure to close the calorimeter lid before temperature peaked. The value is identified as an anomaly and excluded from the mean: (5.25 + 5.35) ÷ 2 = 5.30 °C.</a:t>
            </a:r>
          </a:p>
        </p:txBody>
      </p:sp>
      <p:sp>
        <p:nvSpPr>
          <p:cNvPr id="6" name="TextBox 5"/>
          <p:cNvSpPr txBox="1"/>
          <p:nvPr/>
        </p:nvSpPr>
        <p:spPr>
          <a:xfrm>
            <a:off x="548640" y="6492240"/>
            <a:ext cx="11094415" cy="274320"/>
          </a:xfrm>
          <a:prstGeom prst="rect">
            <a:avLst/>
          </a:prstGeom>
          <a:noFill/>
        </p:spPr>
        <p:txBody>
          <a:bodyPr wrap="square">
            <a:spAutoFit/>
          </a:bodyPr>
          <a:lstStyle/>
          <a:p>
            <a:pPr>
              <a:defRPr sz="900">
                <a:solidFill>
                  <a:srgbClr val="64748B"/>
                </a:solidFill>
              </a:defRPr>
            </a:pPr>
            <a:r>
              <a:t>Unit 1 · Chemical Models &amp; Energy in Reactions · Grade 10 MYP 5 Sciences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457200"/>
            <a:ext cx="2011680" cy="320040"/>
          </a:xfrm>
          <a:prstGeom prst="rect">
            <a:avLst/>
          </a:prstGeom>
          <a:solidFill>
            <a:srgbClr val="8B5CF6"/>
          </a:solidFill>
          <a:ln>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defRPr>
            </a:pPr>
            <a:r>
              <a:t>EXPERIMENT EVALUATION</a:t>
            </a:r>
          </a:p>
        </p:txBody>
      </p:sp>
      <p:sp>
        <p:nvSpPr>
          <p:cNvPr id="3" name="TextBox 2"/>
          <p:cNvSpPr txBox="1"/>
          <p:nvPr/>
        </p:nvSpPr>
        <p:spPr>
          <a:xfrm>
            <a:off x="548640" y="868680"/>
            <a:ext cx="11094415" cy="548640"/>
          </a:xfrm>
          <a:prstGeom prst="rect">
            <a:avLst/>
          </a:prstGeom>
          <a:noFill/>
        </p:spPr>
        <p:txBody>
          <a:bodyPr wrap="square">
            <a:spAutoFit/>
          </a:bodyPr>
          <a:lstStyle/>
          <a:p>
            <a:pPr>
              <a:defRPr sz="2200" b="1">
                <a:solidFill>
                  <a:srgbClr val="0F172A"/>
                </a:solidFill>
              </a:defRPr>
            </a:pPr>
            <a:r>
              <a:t>Evaluating the Neutralization Method (Criterion C iv &amp; v)</a:t>
            </a:r>
          </a:p>
        </p:txBody>
      </p:sp>
      <p:sp>
        <p:nvSpPr>
          <p:cNvPr id="4" name="Rounded Rectangle 3"/>
          <p:cNvSpPr/>
          <p:nvPr/>
        </p:nvSpPr>
        <p:spPr>
          <a:xfrm>
            <a:off x="548640" y="1645920"/>
            <a:ext cx="3474720" cy="4389120"/>
          </a:xfrm>
          <a:prstGeom prst="roundRect">
            <a:avLst/>
          </a:prstGeom>
          <a:solidFill>
            <a:srgbClr val="F8FAFC"/>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645920"/>
            <a:ext cx="3474720" cy="502920"/>
          </a:xfrm>
          <a:prstGeom prst="rect">
            <a:avLst/>
          </a:prstGeom>
          <a:solidFill>
            <a:srgbClr val="EF4444"/>
          </a:solidFill>
          <a:ln>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l">
              <a:defRPr sz="1300" b="1">
                <a:solidFill>
                  <a:srgbClr val="FFFFFF"/>
                </a:solidFill>
              </a:defRPr>
            </a:pPr>
            <a:r>
              <a:t>🔴 Red Light: Major Errors</a:t>
            </a:r>
          </a:p>
        </p:txBody>
      </p:sp>
      <p:sp>
        <p:nvSpPr>
          <p:cNvPr id="6" name="TextBox 5"/>
          <p:cNvSpPr txBox="1"/>
          <p:nvPr/>
        </p:nvSpPr>
        <p:spPr>
          <a:xfrm>
            <a:off x="731520" y="2240280"/>
            <a:ext cx="3108960" cy="3703320"/>
          </a:xfrm>
          <a:prstGeom prst="rect">
            <a:avLst/>
          </a:prstGeom>
          <a:noFill/>
        </p:spPr>
        <p:txBody>
          <a:bodyPr wrap="square">
            <a:spAutoFit/>
          </a:bodyPr>
          <a:lstStyle/>
          <a:p>
            <a:pPr>
              <a:spcAft>
                <a:spcPts val="600"/>
              </a:spcAft>
              <a:defRPr sz="1100">
                <a:solidFill>
                  <a:srgbClr val="0F172A"/>
                </a:solidFill>
              </a:defRPr>
            </a:pPr>
            <a:r>
              <a:t>Systematic Heat Loss to Air:</a:t>
            </a:r>
          </a:p>
          <a:p>
            <a:pPr>
              <a:spcAft>
                <a:spcPts val="600"/>
              </a:spcAft>
              <a:defRPr sz="1100">
                <a:solidFill>
                  <a:srgbClr val="0F172A"/>
                </a:solidFill>
              </a:defRPr>
            </a:pPr>
            <a:r>
              <a:t>• Polystyrene cup has an open probe hole; warm air escaped before peak T recorded.</a:t>
            </a:r>
          </a:p>
          <a:p>
            <a:pPr>
              <a:spcAft>
                <a:spcPts val="600"/>
              </a:spcAft>
              <a:defRPr sz="1100">
                <a:solidFill>
                  <a:srgbClr val="0F172A"/>
                </a:solidFill>
              </a:defRPr>
            </a:pPr>
            <a:r>
              <a:t>• Impact: ΔT measured was lower than true value → calculated ΔH was significantly less exothermic than -57.1 kJ/mol.</a:t>
            </a:r>
          </a:p>
          <a:p>
            <a:pPr>
              <a:spcAft>
                <a:spcPts val="600"/>
              </a:spcAft>
              <a:defRPr sz="1100">
                <a:solidFill>
                  <a:srgbClr val="0F172A"/>
                </a:solidFill>
              </a:defRPr>
            </a:pPr>
          </a:p>
          <a:p>
            <a:pPr>
              <a:spcAft>
                <a:spcPts val="600"/>
              </a:spcAft>
              <a:defRPr sz="1100">
                <a:solidFill>
                  <a:srgbClr val="0F172A"/>
                </a:solidFill>
              </a:defRPr>
            </a:pPr>
            <a:r>
              <a:t>Heat Capacity Assumption:</a:t>
            </a:r>
          </a:p>
          <a:p>
            <a:pPr>
              <a:spcAft>
                <a:spcPts val="600"/>
              </a:spcAft>
              <a:defRPr sz="1100">
                <a:solidFill>
                  <a:srgbClr val="0F172A"/>
                </a:solidFill>
              </a:defRPr>
            </a:pPr>
            <a:r>
              <a:t>• Assumed solution specific heat capacity c = 4.18 J/g·°C and density = 1.0 g/cm³ like pure water.</a:t>
            </a:r>
          </a:p>
          <a:p>
            <a:pPr>
              <a:spcAft>
                <a:spcPts val="600"/>
              </a:spcAft>
              <a:defRPr sz="1100">
                <a:solidFill>
                  <a:srgbClr val="0F172A"/>
                </a:solidFill>
              </a:defRPr>
            </a:pPr>
            <a:r>
              <a:t>• Dissolved NaCl ions actually lower specific heat capacity.</a:t>
            </a:r>
          </a:p>
        </p:txBody>
      </p:sp>
      <p:sp>
        <p:nvSpPr>
          <p:cNvPr id="7" name="Rounded Rectangle 6"/>
          <p:cNvSpPr/>
          <p:nvPr/>
        </p:nvSpPr>
        <p:spPr>
          <a:xfrm>
            <a:off x="4297680" y="1645920"/>
            <a:ext cx="3474720" cy="4389120"/>
          </a:xfrm>
          <a:prstGeom prst="roundRect">
            <a:avLst/>
          </a:prstGeom>
          <a:solidFill>
            <a:srgbClr val="F8FAFC"/>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297680" y="1645920"/>
            <a:ext cx="3474720" cy="502920"/>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l">
              <a:defRPr sz="1300" b="1">
                <a:solidFill>
                  <a:srgbClr val="FFFFFF"/>
                </a:solidFill>
              </a:defRPr>
            </a:pPr>
            <a:r>
              <a:t>🟡 Yellow Light: Limitations</a:t>
            </a:r>
          </a:p>
        </p:txBody>
      </p:sp>
      <p:sp>
        <p:nvSpPr>
          <p:cNvPr id="9" name="TextBox 8"/>
          <p:cNvSpPr txBox="1"/>
          <p:nvPr/>
        </p:nvSpPr>
        <p:spPr>
          <a:xfrm>
            <a:off x="4480560" y="2240280"/>
            <a:ext cx="3108960" cy="3703320"/>
          </a:xfrm>
          <a:prstGeom prst="rect">
            <a:avLst/>
          </a:prstGeom>
          <a:noFill/>
        </p:spPr>
        <p:txBody>
          <a:bodyPr wrap="square">
            <a:spAutoFit/>
          </a:bodyPr>
          <a:lstStyle/>
          <a:p>
            <a:pPr>
              <a:spcAft>
                <a:spcPts val="600"/>
              </a:spcAft>
              <a:defRPr sz="1100">
                <a:solidFill>
                  <a:srgbClr val="0F172A"/>
                </a:solidFill>
              </a:defRPr>
            </a:pPr>
            <a:r>
              <a:t>Thermal Inertia of Probe:</a:t>
            </a:r>
          </a:p>
          <a:p>
            <a:pPr>
              <a:spcAft>
                <a:spcPts val="600"/>
              </a:spcAft>
              <a:defRPr sz="1100">
                <a:solidFill>
                  <a:srgbClr val="0F172A"/>
                </a:solidFill>
              </a:defRPr>
            </a:pPr>
            <a:r>
              <a:t>• Temperature probe took 4–6 seconds to equilibrate; maximum temperature may have cooled slightly while probe registered.</a:t>
            </a:r>
          </a:p>
          <a:p>
            <a:pPr>
              <a:spcAft>
                <a:spcPts val="600"/>
              </a:spcAft>
              <a:defRPr sz="1100">
                <a:solidFill>
                  <a:srgbClr val="0F172A"/>
                </a:solidFill>
              </a:defRPr>
            </a:pPr>
          </a:p>
          <a:p>
            <a:pPr>
              <a:spcAft>
                <a:spcPts val="600"/>
              </a:spcAft>
              <a:defRPr sz="1100">
                <a:solidFill>
                  <a:srgbClr val="0F172A"/>
                </a:solidFill>
              </a:defRPr>
            </a:pPr>
            <a:r>
              <a:t>Volumetric Inaccuracies:</a:t>
            </a:r>
          </a:p>
          <a:p>
            <a:pPr>
              <a:spcAft>
                <a:spcPts val="600"/>
              </a:spcAft>
              <a:defRPr sz="1100">
                <a:solidFill>
                  <a:srgbClr val="0F172A"/>
                </a:solidFill>
              </a:defRPr>
            </a:pPr>
            <a:r>
              <a:t>• Graduated measuring cylinders (±0.5 cm³) were used instead of volumetric pipettes.</a:t>
            </a:r>
          </a:p>
          <a:p>
            <a:pPr>
              <a:spcAft>
                <a:spcPts val="600"/>
              </a:spcAft>
              <a:defRPr sz="1100">
                <a:solidFill>
                  <a:srgbClr val="0F172A"/>
                </a:solidFill>
              </a:defRPr>
            </a:pPr>
            <a:r>
              <a:t>• Resulted in ±2.0% volume uncertainty in total reacting solution.</a:t>
            </a:r>
          </a:p>
        </p:txBody>
      </p:sp>
      <p:sp>
        <p:nvSpPr>
          <p:cNvPr id="10" name="Rounded Rectangle 9"/>
          <p:cNvSpPr/>
          <p:nvPr/>
        </p:nvSpPr>
        <p:spPr>
          <a:xfrm>
            <a:off x="8046720" y="1645920"/>
            <a:ext cx="3474720" cy="4389120"/>
          </a:xfrm>
          <a:prstGeom prst="roundRect">
            <a:avLst/>
          </a:prstGeom>
          <a:solidFill>
            <a:srgbClr val="F8FAFC"/>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046720" y="1645920"/>
            <a:ext cx="3474720" cy="502920"/>
          </a:xfrm>
          <a:prstGeom prst="rect">
            <a:avLst/>
          </a:prstGeom>
          <a:solidFill>
            <a:srgbClr val="10B981"/>
          </a:solidFill>
          <a:ln>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l">
              <a:defRPr sz="1300" b="1">
                <a:solidFill>
                  <a:srgbClr val="FFFFFF"/>
                </a:solidFill>
              </a:defRPr>
            </a:pPr>
            <a:r>
              <a:t>🟢 Green Light: Improvements</a:t>
            </a:r>
          </a:p>
        </p:txBody>
      </p:sp>
      <p:sp>
        <p:nvSpPr>
          <p:cNvPr id="12" name="TextBox 11"/>
          <p:cNvSpPr txBox="1"/>
          <p:nvPr/>
        </p:nvSpPr>
        <p:spPr>
          <a:xfrm>
            <a:off x="8229600" y="2240280"/>
            <a:ext cx="3108960" cy="3703320"/>
          </a:xfrm>
          <a:prstGeom prst="rect">
            <a:avLst/>
          </a:prstGeom>
          <a:noFill/>
        </p:spPr>
        <p:txBody>
          <a:bodyPr wrap="square">
            <a:spAutoFit/>
          </a:bodyPr>
          <a:lstStyle/>
          <a:p>
            <a:pPr>
              <a:spcAft>
                <a:spcPts val="600"/>
              </a:spcAft>
              <a:defRPr sz="1100">
                <a:solidFill>
                  <a:srgbClr val="0F172A"/>
                </a:solidFill>
              </a:defRPr>
            </a:pPr>
            <a:r>
              <a:t>Cooling Curve Extrapolation:</a:t>
            </a:r>
          </a:p>
          <a:p>
            <a:pPr>
              <a:spcAft>
                <a:spcPts val="600"/>
              </a:spcAft>
              <a:defRPr sz="1100">
                <a:solidFill>
                  <a:srgbClr val="0F172A"/>
                </a:solidFill>
              </a:defRPr>
            </a:pPr>
            <a:r>
              <a:t>• Measure temperature every 15s for 3 min before mixing, mix, then record cooling curve for 5 min to extrapolate true T_max at t = 0.</a:t>
            </a:r>
          </a:p>
          <a:p>
            <a:pPr>
              <a:spcAft>
                <a:spcPts val="600"/>
              </a:spcAft>
              <a:defRPr sz="1100">
                <a:solidFill>
                  <a:srgbClr val="0F172A"/>
                </a:solidFill>
              </a:defRPr>
            </a:pPr>
          </a:p>
          <a:p>
            <a:pPr>
              <a:spcAft>
                <a:spcPts val="600"/>
              </a:spcAft>
              <a:defRPr sz="1100">
                <a:solidFill>
                  <a:srgbClr val="0F172A"/>
                </a:solidFill>
              </a:defRPr>
            </a:pPr>
            <a:r>
              <a:t>Calorimeter Refinement:</a:t>
            </a:r>
          </a:p>
          <a:p>
            <a:pPr>
              <a:spcAft>
                <a:spcPts val="600"/>
              </a:spcAft>
              <a:defRPr sz="1100">
                <a:solidFill>
                  <a:srgbClr val="0F172A"/>
                </a:solidFill>
              </a:defRPr>
            </a:pPr>
            <a:r>
              <a:t>• Use a nested double-cup calorimeter with vacuum insulation and sealed rubber bung.</a:t>
            </a:r>
          </a:p>
          <a:p>
            <a:pPr>
              <a:spcAft>
                <a:spcPts val="600"/>
              </a:spcAft>
              <a:defRPr sz="1100">
                <a:solidFill>
                  <a:srgbClr val="0F172A"/>
                </a:solidFill>
              </a:defRPr>
            </a:pPr>
          </a:p>
          <a:p>
            <a:pPr>
              <a:spcAft>
                <a:spcPts val="600"/>
              </a:spcAft>
              <a:defRPr sz="1100">
                <a:solidFill>
                  <a:srgbClr val="0F172A"/>
                </a:solidFill>
              </a:defRPr>
            </a:pPr>
            <a:r>
              <a:t>Precision Glassware:</a:t>
            </a:r>
          </a:p>
          <a:p>
            <a:pPr>
              <a:spcAft>
                <a:spcPts val="600"/>
              </a:spcAft>
              <a:defRPr sz="1100">
                <a:solidFill>
                  <a:srgbClr val="0F172A"/>
                </a:solidFill>
              </a:defRPr>
            </a:pPr>
            <a:r>
              <a:t>• Use 25.0 cm³ Class A volumetric pipettes (±0.03 cm³) to eliminate volume discrepancies.</a:t>
            </a:r>
          </a:p>
        </p:txBody>
      </p:sp>
      <p:sp>
        <p:nvSpPr>
          <p:cNvPr id="13" name="TextBox 12"/>
          <p:cNvSpPr txBox="1"/>
          <p:nvPr/>
        </p:nvSpPr>
        <p:spPr>
          <a:xfrm>
            <a:off x="548640" y="6492240"/>
            <a:ext cx="11094415" cy="274320"/>
          </a:xfrm>
          <a:prstGeom prst="rect">
            <a:avLst/>
          </a:prstGeom>
          <a:noFill/>
        </p:spPr>
        <p:txBody>
          <a:bodyPr wrap="square">
            <a:spAutoFit/>
          </a:bodyPr>
          <a:lstStyle/>
          <a:p>
            <a:pPr>
              <a:defRPr sz="900">
                <a:solidFill>
                  <a:srgbClr val="64748B"/>
                </a:solidFill>
              </a:defRPr>
            </a:pPr>
            <a:r>
              <a:t>Unit 1 · Chemical Models &amp; Energy in Reactions · Grade 10 MYP 5 Sciences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457200"/>
            <a:ext cx="2011680" cy="320040"/>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defRPr>
            </a:pPr>
            <a:r>
              <a:t>CHECK FOR UNDERSTANDING</a:t>
            </a:r>
          </a:p>
        </p:txBody>
      </p:sp>
      <p:sp>
        <p:nvSpPr>
          <p:cNvPr id="3" name="TextBox 2"/>
          <p:cNvSpPr txBox="1"/>
          <p:nvPr/>
        </p:nvSpPr>
        <p:spPr>
          <a:xfrm>
            <a:off x="548640" y="868680"/>
            <a:ext cx="11094415" cy="548640"/>
          </a:xfrm>
          <a:prstGeom prst="rect">
            <a:avLst/>
          </a:prstGeom>
          <a:noFill/>
        </p:spPr>
        <p:txBody>
          <a:bodyPr wrap="square">
            <a:spAutoFit/>
          </a:bodyPr>
          <a:lstStyle/>
          <a:p>
            <a:pPr>
              <a:defRPr sz="2200" b="1">
                <a:solidFill>
                  <a:srgbClr val="0F172A"/>
                </a:solidFill>
              </a:defRPr>
            </a:pPr>
            <a:r>
              <a:t>Hinge Question: Neutralization Thermochemistry</a:t>
            </a:r>
          </a:p>
        </p:txBody>
      </p:sp>
      <p:sp>
        <p:nvSpPr>
          <p:cNvPr id="4" name="TextBox 3"/>
          <p:cNvSpPr txBox="1"/>
          <p:nvPr/>
        </p:nvSpPr>
        <p:spPr>
          <a:xfrm>
            <a:off x="548640" y="1371600"/>
            <a:ext cx="11094415" cy="365760"/>
          </a:xfrm>
          <a:prstGeom prst="rect">
            <a:avLst/>
          </a:prstGeom>
          <a:noFill/>
        </p:spPr>
        <p:txBody>
          <a:bodyPr wrap="square">
            <a:spAutoFit/>
          </a:bodyPr>
          <a:lstStyle/>
          <a:p>
            <a:pPr>
              <a:defRPr sz="1200" i="1">
                <a:solidFill>
                  <a:srgbClr val="64748B"/>
                </a:solidFill>
              </a:defRPr>
            </a:pPr>
            <a:r>
              <a:t>Show me: 1–4 fingers on 3-2-1</a:t>
            </a:r>
          </a:p>
        </p:txBody>
      </p:sp>
      <p:sp>
        <p:nvSpPr>
          <p:cNvPr id="5" name="TextBox 4"/>
          <p:cNvSpPr txBox="1"/>
          <p:nvPr/>
        </p:nvSpPr>
        <p:spPr>
          <a:xfrm>
            <a:off x="548640" y="1645920"/>
            <a:ext cx="10972800" cy="731520"/>
          </a:xfrm>
          <a:prstGeom prst="rect">
            <a:avLst/>
          </a:prstGeom>
          <a:noFill/>
        </p:spPr>
        <p:txBody>
          <a:bodyPr wrap="none">
            <a:spAutoFit/>
          </a:bodyPr>
          <a:lstStyle/>
          <a:p>
            <a:pPr>
              <a:defRPr sz="1400" b="1">
                <a:solidFill>
                  <a:srgbClr val="0F172A"/>
                </a:solidFill>
              </a:defRPr>
            </a:pPr>
            <a:r>
              <a:t>When 25 cm³ of 1.0 mol/dm³ HCl is neutralized by 25 cm³ of 1.0 mol/dm³ NaOH, ΔT is 6.5 °C. If you instead mix 50 cm³ of 1.0 mol/dm³ HCl with 50 cm³ of 1.0 mol/dm³ NaOH, what will ΔT be?</a:t>
            </a:r>
          </a:p>
        </p:txBody>
      </p:sp>
      <p:sp>
        <p:nvSpPr>
          <p:cNvPr id="6" name="Rounded Rectangle 5"/>
          <p:cNvSpPr/>
          <p:nvPr/>
        </p:nvSpPr>
        <p:spPr>
          <a:xfrm>
            <a:off x="548640" y="2560320"/>
            <a:ext cx="5303520" cy="1097280"/>
          </a:xfrm>
          <a:prstGeom prst="roundRect">
            <a:avLst/>
          </a:prstGeom>
          <a:solidFill>
            <a:srgbClr val="F8FAFC"/>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31520" y="2880360"/>
            <a:ext cx="457200" cy="457200"/>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a:solidFill>
                  <a:srgbClr val="FFFFFF"/>
                </a:solidFill>
              </a:defRPr>
            </a:pPr>
            <a:r>
              <a:t>1</a:t>
            </a:r>
          </a:p>
        </p:txBody>
      </p:sp>
      <p:sp>
        <p:nvSpPr>
          <p:cNvPr id="8" name="TextBox 7"/>
          <p:cNvSpPr txBox="1"/>
          <p:nvPr/>
        </p:nvSpPr>
        <p:spPr>
          <a:xfrm>
            <a:off x="1280160" y="2743200"/>
            <a:ext cx="4389120" cy="731520"/>
          </a:xfrm>
          <a:prstGeom prst="rect">
            <a:avLst/>
          </a:prstGeom>
          <a:noFill/>
        </p:spPr>
        <p:txBody>
          <a:bodyPr wrap="square">
            <a:spAutoFit/>
          </a:bodyPr>
          <a:lstStyle/>
          <a:p>
            <a:pPr>
              <a:defRPr sz="1200">
                <a:solidFill>
                  <a:srgbClr val="0F172A"/>
                </a:solidFill>
              </a:defRPr>
            </a:pPr>
            <a:r>
              <a:t>ΔT = 3.25 °C (half, because volume doubled)</a:t>
            </a:r>
          </a:p>
        </p:txBody>
      </p:sp>
      <p:sp>
        <p:nvSpPr>
          <p:cNvPr id="9" name="Rounded Rectangle 8"/>
          <p:cNvSpPr/>
          <p:nvPr/>
        </p:nvSpPr>
        <p:spPr>
          <a:xfrm>
            <a:off x="6126479" y="2560320"/>
            <a:ext cx="5303520" cy="1097280"/>
          </a:xfrm>
          <a:prstGeom prst="roundRect">
            <a:avLst/>
          </a:prstGeom>
          <a:solidFill>
            <a:srgbClr val="F0FDF4"/>
          </a:solidFill>
          <a:ln w="317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309359" y="2880360"/>
            <a:ext cx="457200" cy="457200"/>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a:solidFill>
                  <a:srgbClr val="FFFFFF"/>
                </a:solidFill>
              </a:defRPr>
            </a:pPr>
            <a:r>
              <a:t>2</a:t>
            </a:r>
          </a:p>
        </p:txBody>
      </p:sp>
      <p:sp>
        <p:nvSpPr>
          <p:cNvPr id="11" name="TextBox 10"/>
          <p:cNvSpPr txBox="1"/>
          <p:nvPr/>
        </p:nvSpPr>
        <p:spPr>
          <a:xfrm>
            <a:off x="6857999" y="2743200"/>
            <a:ext cx="4389120" cy="731520"/>
          </a:xfrm>
          <a:prstGeom prst="rect">
            <a:avLst/>
          </a:prstGeom>
          <a:noFill/>
        </p:spPr>
        <p:txBody>
          <a:bodyPr wrap="square">
            <a:spAutoFit/>
          </a:bodyPr>
          <a:lstStyle/>
          <a:p>
            <a:pPr>
              <a:defRPr sz="1200">
                <a:solidFill>
                  <a:srgbClr val="0F172A"/>
                </a:solidFill>
              </a:defRPr>
            </a:pPr>
            <a:r>
              <a:t>ΔT = 6.5 °C (unchanged, because twice the heat heats twice the mass)</a:t>
            </a:r>
          </a:p>
        </p:txBody>
      </p:sp>
      <p:sp>
        <p:nvSpPr>
          <p:cNvPr id="12" name="Rounded Rectangle 11"/>
          <p:cNvSpPr/>
          <p:nvPr/>
        </p:nvSpPr>
        <p:spPr>
          <a:xfrm>
            <a:off x="548640" y="3931920"/>
            <a:ext cx="5303520" cy="1097280"/>
          </a:xfrm>
          <a:prstGeom prst="roundRect">
            <a:avLst/>
          </a:prstGeom>
          <a:solidFill>
            <a:srgbClr val="F8FAFC"/>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731520" y="4251960"/>
            <a:ext cx="457200" cy="457200"/>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a:solidFill>
                  <a:srgbClr val="FFFFFF"/>
                </a:solidFill>
              </a:defRPr>
            </a:pPr>
            <a:r>
              <a:t>3</a:t>
            </a:r>
          </a:p>
        </p:txBody>
      </p:sp>
      <p:sp>
        <p:nvSpPr>
          <p:cNvPr id="14" name="TextBox 13"/>
          <p:cNvSpPr txBox="1"/>
          <p:nvPr/>
        </p:nvSpPr>
        <p:spPr>
          <a:xfrm>
            <a:off x="1280160" y="4114800"/>
            <a:ext cx="4389120" cy="731520"/>
          </a:xfrm>
          <a:prstGeom prst="rect">
            <a:avLst/>
          </a:prstGeom>
          <a:noFill/>
        </p:spPr>
        <p:txBody>
          <a:bodyPr wrap="square">
            <a:spAutoFit/>
          </a:bodyPr>
          <a:lstStyle/>
          <a:p>
            <a:pPr>
              <a:defRPr sz="1200">
                <a:solidFill>
                  <a:srgbClr val="0F172A"/>
                </a:solidFill>
              </a:defRPr>
            </a:pPr>
            <a:r>
              <a:t>ΔT = 13.0 °C (double, because twice the moles reacted)</a:t>
            </a:r>
          </a:p>
        </p:txBody>
      </p:sp>
      <p:sp>
        <p:nvSpPr>
          <p:cNvPr id="15" name="Rounded Rectangle 14"/>
          <p:cNvSpPr/>
          <p:nvPr/>
        </p:nvSpPr>
        <p:spPr>
          <a:xfrm>
            <a:off x="6126479" y="3931920"/>
            <a:ext cx="5303520" cy="1097280"/>
          </a:xfrm>
          <a:prstGeom prst="roundRect">
            <a:avLst/>
          </a:prstGeom>
          <a:solidFill>
            <a:srgbClr val="F8FAFC"/>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309359" y="4251960"/>
            <a:ext cx="457200" cy="457200"/>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a:solidFill>
                  <a:srgbClr val="FFFFFF"/>
                </a:solidFill>
              </a:defRPr>
            </a:pPr>
            <a:r>
              <a:t>4</a:t>
            </a:r>
          </a:p>
        </p:txBody>
      </p:sp>
      <p:sp>
        <p:nvSpPr>
          <p:cNvPr id="17" name="TextBox 16"/>
          <p:cNvSpPr txBox="1"/>
          <p:nvPr/>
        </p:nvSpPr>
        <p:spPr>
          <a:xfrm>
            <a:off x="6857999" y="4114800"/>
            <a:ext cx="4389120" cy="731520"/>
          </a:xfrm>
          <a:prstGeom prst="rect">
            <a:avLst/>
          </a:prstGeom>
          <a:noFill/>
        </p:spPr>
        <p:txBody>
          <a:bodyPr wrap="square">
            <a:spAutoFit/>
          </a:bodyPr>
          <a:lstStyle/>
          <a:p>
            <a:pPr>
              <a:defRPr sz="1200">
                <a:solidFill>
                  <a:srgbClr val="0F172A"/>
                </a:solidFill>
              </a:defRPr>
            </a:pPr>
            <a:r>
              <a:t>ΔT = 0 °C (neutral solution absorbs heat)</a:t>
            </a:r>
          </a:p>
        </p:txBody>
      </p:sp>
      <p:sp>
        <p:nvSpPr>
          <p:cNvPr id="18" name="Rectangle 17"/>
          <p:cNvSpPr/>
          <p:nvPr/>
        </p:nvSpPr>
        <p:spPr>
          <a:xfrm>
            <a:off x="548640" y="5303520"/>
            <a:ext cx="10972800" cy="914400"/>
          </a:xfrm>
          <a:prstGeom prst="rect">
            <a:avLst/>
          </a:prstGeom>
          <a:solidFill>
            <a:srgbClr val="DCFCE7"/>
          </a:solidFill>
          <a:ln>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200">
                <a:solidFill>
                  <a:srgbClr val="166534"/>
                </a:solidFill>
              </a:defRPr>
            </a:pPr>
            <a:r>
              <a:t>✔ Correct Answer: 2 (ΔT = 6.5 °C).</a:t>
            </a:r>
          </a:p>
          <a:p>
            <a:pPr>
              <a:defRPr sz="1000">
                <a:solidFill>
                  <a:srgbClr val="0F172A"/>
                </a:solidFill>
              </a:defRPr>
            </a:pPr>
            <a:r>
              <a:t>Scientific Reasoning: Twice as many moles react, releasing 2× the heat energy (q). However, the total solution mass (m) is also doubled (100 g vs 50 g). Since ΔT = q / (m·c), the factor of 2 cancels out, resulting in the exact same temperature rise.</a:t>
            </a:r>
          </a:p>
        </p:txBody>
      </p:sp>
      <p:sp>
        <p:nvSpPr>
          <p:cNvPr id="19" name="TextBox 18"/>
          <p:cNvSpPr txBox="1"/>
          <p:nvPr/>
        </p:nvSpPr>
        <p:spPr>
          <a:xfrm>
            <a:off x="548640" y="6492240"/>
            <a:ext cx="11094415" cy="274320"/>
          </a:xfrm>
          <a:prstGeom prst="rect">
            <a:avLst/>
          </a:prstGeom>
          <a:noFill/>
        </p:spPr>
        <p:txBody>
          <a:bodyPr wrap="square">
            <a:spAutoFit/>
          </a:bodyPr>
          <a:lstStyle/>
          <a:p>
            <a:pPr>
              <a:defRPr sz="900">
                <a:solidFill>
                  <a:srgbClr val="64748B"/>
                </a:solidFill>
              </a:defRPr>
            </a:pPr>
            <a:r>
              <a:t>Unit 1 · Chemical Models &amp; Energy in Reactions · Grade 10 MYP 5 Sciences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457200"/>
            <a:ext cx="2011680" cy="320040"/>
          </a:xfrm>
          <a:prstGeom prst="rect">
            <a:avLst/>
          </a:prstGeom>
          <a:solidFill>
            <a:srgbClr val="EF4444"/>
          </a:solidFill>
          <a:ln>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defRPr>
            </a:pPr>
            <a:r>
              <a:t>EXIT TICKET</a:t>
            </a:r>
          </a:p>
        </p:txBody>
      </p:sp>
      <p:sp>
        <p:nvSpPr>
          <p:cNvPr id="3" name="TextBox 2"/>
          <p:cNvSpPr txBox="1"/>
          <p:nvPr/>
        </p:nvSpPr>
        <p:spPr>
          <a:xfrm>
            <a:off x="548640" y="868680"/>
            <a:ext cx="11094415" cy="548640"/>
          </a:xfrm>
          <a:prstGeom prst="rect">
            <a:avLst/>
          </a:prstGeom>
          <a:noFill/>
        </p:spPr>
        <p:txBody>
          <a:bodyPr wrap="square">
            <a:spAutoFit/>
          </a:bodyPr>
          <a:lstStyle/>
          <a:p>
            <a:pPr>
              <a:defRPr sz="2200" b="1">
                <a:solidFill>
                  <a:srgbClr val="0F172A"/>
                </a:solidFill>
              </a:defRPr>
            </a:pPr>
            <a:r>
              <a:t>Criterion B &amp; C Self-Assessment (Traffic Lights)</a:t>
            </a:r>
          </a:p>
        </p:txBody>
      </p:sp>
      <p:sp>
        <p:nvSpPr>
          <p:cNvPr id="4" name="Rectangle 3"/>
          <p:cNvSpPr/>
          <p:nvPr/>
        </p:nvSpPr>
        <p:spPr>
          <a:xfrm>
            <a:off x="548640" y="1645920"/>
            <a:ext cx="2286000" cy="68580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t>Criterion B (i &amp; ii)</a:t>
            </a:r>
          </a:p>
        </p:txBody>
      </p:sp>
      <p:sp>
        <p:nvSpPr>
          <p:cNvPr id="5" name="Rectangle 4"/>
          <p:cNvSpPr/>
          <p:nvPr/>
        </p:nvSpPr>
        <p:spPr>
          <a:xfrm>
            <a:off x="2926080" y="1645920"/>
            <a:ext cx="6858000" cy="685800"/>
          </a:xfrm>
          <a:prstGeom prst="rect">
            <a:avLst/>
          </a:prstGeom>
          <a:solidFill>
            <a:srgbClr val="F8FAFC"/>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50">
                <a:solidFill>
                  <a:srgbClr val="0F172A"/>
                </a:solidFill>
              </a:defRPr>
            </a:pPr>
            <a:r>
              <a:t>I have stated a focused research question and formulated a testable hypothesis with net ionic bond energy justification.</a:t>
            </a:r>
          </a:p>
        </p:txBody>
      </p:sp>
      <p:sp>
        <p:nvSpPr>
          <p:cNvPr id="6" name="Oval 5"/>
          <p:cNvSpPr/>
          <p:nvPr/>
        </p:nvSpPr>
        <p:spPr>
          <a:xfrm>
            <a:off x="9966960" y="1755648"/>
            <a:ext cx="457200" cy="457200"/>
          </a:xfrm>
          <a:prstGeom prst="ellipse">
            <a:avLst/>
          </a:prstGeom>
          <a:noFill/>
          <a:ln w="3175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0561320" y="1755648"/>
            <a:ext cx="457200" cy="457200"/>
          </a:xfrm>
          <a:prstGeom prst="ellipse">
            <a:avLst/>
          </a:prstGeom>
          <a:noFill/>
          <a:ln w="317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1155680" y="1755648"/>
            <a:ext cx="457200" cy="457200"/>
          </a:xfrm>
          <a:prstGeom prst="ellipse">
            <a:avLst/>
          </a:prstGeom>
          <a:noFill/>
          <a:ln w="317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514600"/>
            <a:ext cx="2286000" cy="68580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t>Criterion B (iii &amp; iv)</a:t>
            </a:r>
          </a:p>
        </p:txBody>
      </p:sp>
      <p:sp>
        <p:nvSpPr>
          <p:cNvPr id="10" name="Rectangle 9"/>
          <p:cNvSpPr/>
          <p:nvPr/>
        </p:nvSpPr>
        <p:spPr>
          <a:xfrm>
            <a:off x="2926080" y="2514600"/>
            <a:ext cx="6858000" cy="685800"/>
          </a:xfrm>
          <a:prstGeom prst="rect">
            <a:avLst/>
          </a:prstGeom>
          <a:solidFill>
            <a:srgbClr val="F8FAFC"/>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50">
                <a:solidFill>
                  <a:srgbClr val="0F172A"/>
                </a:solidFill>
              </a:defRPr>
            </a:pPr>
            <a:r>
              <a:t>I have fully described all variables (5 IV values, DV precision, 3 controlled variables) and a safe, numbered method.</a:t>
            </a:r>
          </a:p>
        </p:txBody>
      </p:sp>
      <p:sp>
        <p:nvSpPr>
          <p:cNvPr id="11" name="Oval 10"/>
          <p:cNvSpPr/>
          <p:nvPr/>
        </p:nvSpPr>
        <p:spPr>
          <a:xfrm>
            <a:off x="9966960" y="2624328"/>
            <a:ext cx="457200" cy="457200"/>
          </a:xfrm>
          <a:prstGeom prst="ellipse">
            <a:avLst/>
          </a:prstGeom>
          <a:noFill/>
          <a:ln w="3175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561320" y="2624328"/>
            <a:ext cx="457200" cy="457200"/>
          </a:xfrm>
          <a:prstGeom prst="ellipse">
            <a:avLst/>
          </a:prstGeom>
          <a:noFill/>
          <a:ln w="317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1155680" y="2624328"/>
            <a:ext cx="457200" cy="457200"/>
          </a:xfrm>
          <a:prstGeom prst="ellipse">
            <a:avLst/>
          </a:prstGeom>
          <a:noFill/>
          <a:ln w="317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48640" y="3383280"/>
            <a:ext cx="2286000" cy="68580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t>Criterion C (i &amp; ii)</a:t>
            </a:r>
          </a:p>
        </p:txBody>
      </p:sp>
      <p:sp>
        <p:nvSpPr>
          <p:cNvPr id="15" name="Rectangle 14"/>
          <p:cNvSpPr/>
          <p:nvPr/>
        </p:nvSpPr>
        <p:spPr>
          <a:xfrm>
            <a:off x="2926080" y="3383280"/>
            <a:ext cx="6858000" cy="685800"/>
          </a:xfrm>
          <a:prstGeom prst="rect">
            <a:avLst/>
          </a:prstGeom>
          <a:solidFill>
            <a:srgbClr val="F8FAFC"/>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50">
                <a:solidFill>
                  <a:srgbClr val="0F172A"/>
                </a:solidFill>
              </a:defRPr>
            </a:pPr>
            <a:r>
              <a:t>I have recorded raw data with correct SI units/uncertainties, removed anomalies, and plotted an appropriately scaled graph.</a:t>
            </a:r>
          </a:p>
        </p:txBody>
      </p:sp>
      <p:sp>
        <p:nvSpPr>
          <p:cNvPr id="16" name="Oval 15"/>
          <p:cNvSpPr/>
          <p:nvPr/>
        </p:nvSpPr>
        <p:spPr>
          <a:xfrm>
            <a:off x="9966960" y="3493008"/>
            <a:ext cx="457200" cy="457200"/>
          </a:xfrm>
          <a:prstGeom prst="ellipse">
            <a:avLst/>
          </a:prstGeom>
          <a:noFill/>
          <a:ln w="3175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0561320" y="3493008"/>
            <a:ext cx="457200" cy="457200"/>
          </a:xfrm>
          <a:prstGeom prst="ellipse">
            <a:avLst/>
          </a:prstGeom>
          <a:noFill/>
          <a:ln w="317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1155680" y="3493008"/>
            <a:ext cx="457200" cy="457200"/>
          </a:xfrm>
          <a:prstGeom prst="ellipse">
            <a:avLst/>
          </a:prstGeom>
          <a:noFill/>
          <a:ln w="317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8640" y="4251959"/>
            <a:ext cx="2286000" cy="68580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t>Criterion C (iii)</a:t>
            </a:r>
          </a:p>
        </p:txBody>
      </p:sp>
      <p:sp>
        <p:nvSpPr>
          <p:cNvPr id="20" name="Rectangle 19"/>
          <p:cNvSpPr/>
          <p:nvPr/>
        </p:nvSpPr>
        <p:spPr>
          <a:xfrm>
            <a:off x="2926080" y="4251959"/>
            <a:ext cx="6858000" cy="685800"/>
          </a:xfrm>
          <a:prstGeom prst="rect">
            <a:avLst/>
          </a:prstGeom>
          <a:solidFill>
            <a:srgbClr val="F8FAFC"/>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50">
                <a:solidFill>
                  <a:srgbClr val="0F172A"/>
                </a:solidFill>
              </a:defRPr>
            </a:pPr>
            <a:r>
              <a:t>I have interpreted experimental trends and calculated percentage error against the literature value (-57.1 kJ/mol).</a:t>
            </a:r>
          </a:p>
        </p:txBody>
      </p:sp>
      <p:sp>
        <p:nvSpPr>
          <p:cNvPr id="21" name="Oval 20"/>
          <p:cNvSpPr/>
          <p:nvPr/>
        </p:nvSpPr>
        <p:spPr>
          <a:xfrm>
            <a:off x="9966960" y="4361687"/>
            <a:ext cx="457200" cy="457200"/>
          </a:xfrm>
          <a:prstGeom prst="ellipse">
            <a:avLst/>
          </a:prstGeom>
          <a:noFill/>
          <a:ln w="3175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561320" y="4361687"/>
            <a:ext cx="457200" cy="457200"/>
          </a:xfrm>
          <a:prstGeom prst="ellipse">
            <a:avLst/>
          </a:prstGeom>
          <a:noFill/>
          <a:ln w="317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11155680" y="4361687"/>
            <a:ext cx="457200" cy="457200"/>
          </a:xfrm>
          <a:prstGeom prst="ellipse">
            <a:avLst/>
          </a:prstGeom>
          <a:noFill/>
          <a:ln w="317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48640" y="5120640"/>
            <a:ext cx="2286000" cy="68580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t>Criterion C (iv &amp; v)</a:t>
            </a:r>
          </a:p>
        </p:txBody>
      </p:sp>
      <p:sp>
        <p:nvSpPr>
          <p:cNvPr id="25" name="Rectangle 24"/>
          <p:cNvSpPr/>
          <p:nvPr/>
        </p:nvSpPr>
        <p:spPr>
          <a:xfrm>
            <a:off x="2926080" y="5120640"/>
            <a:ext cx="6858000" cy="685800"/>
          </a:xfrm>
          <a:prstGeom prst="rect">
            <a:avLst/>
          </a:prstGeom>
          <a:solidFill>
            <a:srgbClr val="F8FAFC"/>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50">
                <a:solidFill>
                  <a:srgbClr val="0F172A"/>
                </a:solidFill>
              </a:defRPr>
            </a:pPr>
            <a:r>
              <a:t>I have critically evaluated systematic vs random errors and suggested specific, realistic procedural improvements.</a:t>
            </a:r>
          </a:p>
        </p:txBody>
      </p:sp>
      <p:sp>
        <p:nvSpPr>
          <p:cNvPr id="26" name="Oval 25"/>
          <p:cNvSpPr/>
          <p:nvPr/>
        </p:nvSpPr>
        <p:spPr>
          <a:xfrm>
            <a:off x="9966960" y="5230368"/>
            <a:ext cx="457200" cy="457200"/>
          </a:xfrm>
          <a:prstGeom prst="ellipse">
            <a:avLst/>
          </a:prstGeom>
          <a:noFill/>
          <a:ln w="3175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10561320" y="5230368"/>
            <a:ext cx="457200" cy="457200"/>
          </a:xfrm>
          <a:prstGeom prst="ellipse">
            <a:avLst/>
          </a:prstGeom>
          <a:noFill/>
          <a:ln w="317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11155680" y="5230368"/>
            <a:ext cx="457200" cy="457200"/>
          </a:xfrm>
          <a:prstGeom prst="ellipse">
            <a:avLst/>
          </a:prstGeom>
          <a:noFill/>
          <a:ln w="317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48640" y="6492240"/>
            <a:ext cx="11094415" cy="274320"/>
          </a:xfrm>
          <a:prstGeom prst="rect">
            <a:avLst/>
          </a:prstGeom>
          <a:noFill/>
        </p:spPr>
        <p:txBody>
          <a:bodyPr wrap="square">
            <a:spAutoFit/>
          </a:bodyPr>
          <a:lstStyle/>
          <a:p>
            <a:pPr>
              <a:defRPr sz="900">
                <a:solidFill>
                  <a:srgbClr val="64748B"/>
                </a:solidFill>
              </a:defRPr>
            </a:pPr>
            <a:r>
              <a:t>Unit 1 · Chemical Models &amp; Energy in Reactions · Grade 10 MYP 5 Sciences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